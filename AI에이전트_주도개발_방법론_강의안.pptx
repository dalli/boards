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[오프닝 · 약 1분]
안녕하세요, 반갑습니다. 오늘 2시간 동안 함께할 주제는 'AI 에이전트 주도 개발 방법론'입니다.
요즘 우리 모두 AI에게 코드를 맡깁니다. 빠르죠. 그런데 한 가지 질문을 드리고 싶어요. "AI가 만든 코드, 정말 다 됐다고 어떻게 확신하시나요?" 보통은 '돌려보니 되더라'입니다. 오늘은 바로 그 '확신'을 설계하는 방법을 다룹니다.
제가 실제로 게시판 시스템 하나를 이 방법론으로 끝까지 개발했고, 그 프로젝트를 사례로 풀어드리겠습니다. 세 가지 축 — 거버넌스 문서(AGENTS.md), 다중모델 교차검증, 그리고 Phase 게이트입니다.
진행은 강의 75분, 실습 27분, 질의응답 18분으로 섞어서 갑니다. 편하게 중간중간 질문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[아젠다 · 약 1분]
오늘 흐름을 먼저 보여드립니다. 크게 세 덩어리예요. Part 1은 거버넌스와 '완료의 정의', Part 2는 계획과 교차검증, Part 3는 Phase 워크플로우입니다.
오른쪽 색깔을 봐주세요. 파란색은 강의, 초록색은 실습, 주황색은 질의응답입니다. 실습은 두 번 있는데, 제가 먼저 시연하고 여러분이 직접 짧게 해보는 방식입니다. 부담 갖지 마세요.
개발자분들은 명령·코드 부분에서, 기획·PM 분들은 프로세스와 의사결정 게이트 부분에서 각자 가져갈 게 있을 겁니다. 그럼 시작하겠습니다.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[학습 목표 · 약 1.5분]
오늘 끝나고 나면 이 네 가지를 가져가시면 됩니다.
첫째, '기계검증' 거버넌스. '잘 됐다'는 말 대신 복붙해서 돌릴 수 있는 명령과 그 출력으로 완료를 증명하는 사고방식입니다.
둘째, 역할 분리와 교차검증. 계획하는 사람, 검토하는 사람, 구현하는 사람, 테스트하는 사람을 나누는 이유를 이해합니다.
셋째, Phase 닫힌 게이트. 큰 작업을 작게 쪼개서 게이트를 하나씩 통과시키는 방식입니다.
넷째, 인간 게이트 설계. AI가 절대 혼자 판단하면 안 되는 지점을 어디에 둘지 감을 잡습니다.
이 네 가지를 머리에 담아두고 들으시면 흐름이 잘 잡힙니다.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[전환 · Part 0 도입 · 약 20초]
먼저 '왜 이런 방법론이 필요한가'부터 짚고 넘어가겠습니다. 결론부터 말하면, 문제는 AI의 실력이 아니라 '신뢰'입니다. 다음 장에서 구체적으로 보시죠.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[문제의식 · 약 2.5분]
AI 코딩의 진짜 문제는 속도가 아니라 신뢰입니다. "확인했어요"라는 한마디가 사실은 아무것도 보장하지 않거든요. 네 가지 함정으로 나눠봤습니다.
첫째 주관적 완료 — '되는 것 같다'는 검증이 아닙니다. 다음 사람이 똑같이 재현할 수 없어요.
둘째 자기 승인 — 만든 사람이 스스로 'OK' 하면, 자기 눈에 안 보이는 결함은 조용히 통과합니다.
셋째 범위 이탈 — 시키지 않은 파일까지 건드려서 엉뚱한 데서 사이드이펙트가 터집니다.
넷째 무한 루프 — 같은 실패를 반복하면서도 멈출 줄 모르고 시간을 태웁니다.
이 방법론의 답은 한 문장입니다. 모든 규칙을 '약속'이 아니라 '기계가 검증 가능한 명령'으로 바꾼다. 이 한 줄이 오늘의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[사례 소개 · 약 1.5분]
오늘 내내 예로 들 프로젝트입니다. 일반 사용자와 관리자가 분리된 게시판이고, 공지·일반·이미지 보드마다 권한과 동작이 다르게 분기됩니다.
스택은 왼쪽처럼 백엔드 FastAPI에 PostgreSQL, 파일은 MinIO, 프론트는 React입니다. 스택 자체는 오늘 중요하지 않아요. 중요한 건 오른쪽 숫자입니다. Phase 7개, ADR 6개, 수락기준 9개, 아키텍처 산출물 6개. 작아 보이는 게시판 하나에도 이만큼의 '검증 장치'가 붙었다는 점을 기억해 주세요.
이 모든 걸 거버넌스 → 계획 → 설계 → Phase별 개발 순서로 통과시켰습니다.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원리 · 약 2분]
이 장이 오늘 전체를 관통하는 원리입니다. 왼쪽과 오른쪽을 비교해 주세요.
왼쪽은 우리가 평소에 쓰는 말들이에요. '테스트 잘 돌아갑니다', '커버리지 충분합니다', '범위 안에서만 고쳤어요'. 다 좋은 말인데, 검증이 안 됩니다. 말하는 사람만 알아요.
오른쪽은 같은 내용을 명령으로 바꾼 겁니다. 커버리지 80% 미달이면 종료 코드가 0이 아니게 떨어지고, 스코프 위반이면 diff에 경로가 찍힙니다. 즉 통과/실패를 사람이 아니라 '종료 코드와 콘솔 출력'이 판정합니다.
오늘 나오는 모든 규칙은 결국 이 변환입니다. 주관적 약속을 기계가 판정할 수 있는 명령으로 바꾸는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[전환 · Part 1 도입 · 약 20초]
이제 그 원리를 담는 그릇, AGENTS.md라는 거버넌스 문서를 보겠습니다. 어떤 프로젝트에도 붙일 수 있는 범용 규칙 문서입니다.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[AGENTS.md 구조 · 약 2분]
AGENTS.md는 특정 언어나 프레임워크에 묶이지 않습니다. 핵심 아이디어는 '선언'이에요. 각 프로젝트가 자기 환경 — git 저장소인지, 작업 범위가 어디까지인지, 테스트 명령이 무엇인지 — 를 문서에 적어두면, 에이전트는 멋대로 가정하지 않고 그 선언을 참조합니다.
문서는 여섯 덩어리로 되어 있습니다. 0번 전제와 선언, 1번 역할, 3번 완료의 정의, 4번 이스케이프, 5번 스코핑과 소유권, 6번 Phase 워크플로우. 오늘 이 중 1번, 3번, 4번, 6번을 차례로 깊게 봅니다.
한 가지만 강조하면 — 이건 '읽어보면 좋은 가이드'가 아니라 에이전트가 작업 전에 반드시 따라야 하는 계약입니다.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[역할 분리 · 약 2.5분]
왜 역할을 나눌까요? 견제와 균형 때문입니다.
Primary Planner는 요구사항을 분석해서 계획 초안을 짭니다. 그리고 모든 리뷰를 '취합'하는 유일한 주체예요.
Cross-Reviewer는 그 계획을 보안·아키텍처·엣지케이스 관점에서 비판합니다. 중요한 건 '독립 세션'이라는 점 — 서로의 결과를 못 봐요.
Implementor는 승인된 계획대로 구현하되 할당된 범위 밖은 손대지 않습니다.
Tester는 병합 전에 린트·테스트·보안을 기계적으로 검증하고, 증거를 콘솔 출력으로 냅니다.
맨 아래 문장이 핵심입니다. 만든 주체가 스스로 승인하지 못하게 한다. 자기검토는 무효예요. 이 독립성이 품질을 만듭니다. 기획·PM 관점에서는 이게 'RACI를 명확히 한다'와 같은 얘기입니다.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[완료의 정의 · 약 2분]
'완료의 정의'는 단계마다 닫힌 게이트로 되어 있습니다. 앞 단계가 기계적으로 확인되지 않으면 다음으로 못 넘어가요.
3.1 계획 완료 — 교차검증과 이의처리, 그리고 인간 승인까지 끝나야 비로소 구현을 시작합니다.
3.2 구현 완료 — 수락기준을 코드·테스트와 1:1로 매핑한 추적표, 임시코드 0건, 스코프 위반 0건을 diff 명령으로 증명합니다.
3.3 테스트 완료 — 테스트 실패 0, 린트·타입 0, 신규 로직 커버리지 80% 이상을 종료 코드로 게이트합니다.
3.4 아키텍처 산출물 — 시스템·시퀀스·데이터·스키마·보안·배포 문서를 mermaid로 갖춥니다.
'리포트로 보여준다'가 아니라 '실패하면 빌드가 멈춘다'가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[기계검증 예시 · 약 2.5분]
추상적으로 들릴 수 있으니 실제 명령을 하나 보여드립니다. '스코프 준수'를 사람 눈이 아니라 명령으로 판정하는 코드예요.
왼쪽을 보면, staged된 변경의 파일 경로를 뽑아서, 내 작업 범위(backend/)로 시작하지 않는 경로가 있으면 출력합니다. 출력이 비어 있으면 PASS, 경로가 찍히면 FAIL이에요. 판정이 명확하죠.
오른쪽 '왜 이렇게까지'가 중요합니다. rename은 양쪽 경로를 다 검사해서, 파일을 몰래 옮겨 삭제를 숨기는 사각지대까지 막습니다. 그리고 git 저장소가 아니면 추측하지 않고 4번 이스케이프로 빠집니다.
포인트는 '꼼꼼함'이 아니라 '재현 가능성'입니다. 누가 돌려도 같은 결과가 나오니까요. 개발자분들은 이 패턴을 그대로 가져다 쓰셔도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[이스케이프 밸브 · 약 2분]
좋은 자동화는 '멈출 줄 아는' 자동화입니다. AGENTS.md는 다음 상황에서 추측하지 말고 즉시 멈추고 인간에게 물으라고 규정합니다.
같은 에러가 3번 반복되면 무한루프로 보고 중단, 시크릿·DB 마이그레이션·CI 설정 같은 민감한 변경, 권한·암호화처럼 모호한 요구, 환경이 안 갖춰졌을 때, 그리고 보호 파일을 건드려야 할 때입니다.
맨 아래가 핵심 안전장치예요. 에이전트나 검토 대상 산출물의 작성자는 인간 승인자를 대체할 수 없습니다. 그리고 승인자가 24시간 안에 응답이 없으면 임의로 진행하지 않고 BLOCKED로 기록합니다. '교착되더라도 안전하게 멈춘다'가 원칙입니다.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1 진행]
이제 직접 해봅니다. 주제는 '우리 팀의 주관적 완료 기준 하나를 기계검증 명령으로 바꾸기'입니다.
진행은 이렇게 합니다. 먼저 제가 오른쪽 예시처럼 1개를 짧게 시연하겠습니다. '임시 코드 없어요'를 git diff와 grep으로, '커버리지 충분'을 cov-fail-under로 바꾸는 식이죠.
그다음 여러분이 개별로 작성합니다. 왼쪽 5단계를 따라가세요 — 문장 고르기, 명령으로 다시 쓰기, 통과 조건 정의, 실패 시 분기, 마지막으로 옆 사람과 교환해서 '이 명령이 정말 판정 가능한가' 서로 검증합니다.
PM·기획 분들은 명령 대신 '검증 가능한 수락기준' 문장으로 바꾸셔도 됩니다. 자, 시작해 볼까요.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[중간 Q&amp;A]
여기까지가 전반부입니다. 잠깐 호흡을 고르고 질문을 받겠습니다. 질문이 바로 안 나오면 아래 세 가지를 제가 먼저 던지고, 다음과 같이 답해 줍니다.
Q1. 우리 스택엔 어떤 명령을 선언하지?
→ AGENTS.md의 실행·테스트·린트·커버리지 네 칸을 우리 스택의 실제 명령으로 바인딩하면 됩니다. 예를 들어 Node면 npm test·npm run lint, Python이면 pytest·ruff처럼요. 핵심은 '추측 금지' — 선언된 명령이 없으면 지어내지 말고 이스케이프합니다. 그리고 커버리지는 반드시 미달 시 0이 아닌 종료 코드로 떨어지게 박아둬야 게이트가 됩니다.
Q2. 자기검토 무효를 어떻게 강제하나?
→ 검토 기록에 reviewer_id·model_id·session_id·검토한 문서의 해시를 남기고, 작성자와 같은 주체/세션의 검토는 무효로 규정합니다. 사람으로 치면 'PR 작성자는 자기 PR을 스스로 approve 못 한다'는 규칙과 같아요. 도구가 안 받쳐주면 최소한 '구현자 ≠ 리뷰어'를 사람이라도 분리하는 것부터 시작하면 됩니다.
Q3. 인간 승인은 어디까지 필요한가?
→ 전부가 아니라 '되돌리기 어렵거나 위험한 지점'에 집중합니다. 계획 최종 승인, blocking·보안 지적의 판정, 시크릿·DB 마이그레이션·CI 같은 보호 파일 변경, 그리고 회고의 Human Check Items. 일상적인 구현·테스트 통과는 기계 게이트에 맡기고, 사람은 판단이 필요한 곳에만 개입하는 게 핵심입니다.
실습하면서 막힌 부분이 있으면 그것도 좋습니다. 편하게 말씀해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[전환 · Part 2 도입 · 약 20초]
후반부 시작합니다. Part 2는 계획 단계예요. 코드를 한 줄도 쓰기 전에, 계획 자체를 어떻게 검증하는지 보겠습니다. 사실 결함은 코드보다 계획에서 더 싸게 잡힙니다.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[계획 완료 절차 · 약 2분]
계획 완료는 4단계 게이트입니다.
1단계, Planner가 요구사항·수락기준·아키텍처·Phase 분해를 담은 초안을 씁니다.
2단계, 독립된 모델이나 세션의 Cross-Reviewer가 그 초안만 받아 비판적으로 검토합니다.
3단계, Planner가 지적을 Accepted / Rejected / Escalated로 분류해 통합합니다. 거절한 건 반드시 근거를 남겨요. 보안 지적이 슬그머니 사라지는 걸 막는 장치입니다.
4단계, 저장된 계획을 인간이 검토하고 승인합니다.
맨 아래 문장이 철칙입니다. blocking이나 보안 지적은 인간이 판정하기 전까지 절대 구현으로 넘어갈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[교차검증 3장치 · 약 2분]
교차검증이 형식적으로 흐르지 않도록, 세 가지 장치가 받칩니다.
독립성 — 리뷰어는 Planner와 다른 모델·세션이고, 초안만 입력받습니다. 다른 리뷰어 결과를 못 봐서 group-think가 안 생겨요.
감사 가능성 — 누가(reviewer_id), 어떤 모델로, 어떤 세션에서, 어떤 버전의 문서를(SHA-256 해시) 언제 검토했는지 다 기록합니다. 같은 주체의 자기검토는 무효 처리됩니다.
신선도 바인딩 — 이게 재밌는데요, 리뷰는 그 시점 문서 해시에 묶입니다. 문서가 바뀌면 기존 리뷰가 자동으로 무효화돼요. 옛날 리뷰를 재활용 못 합니다.
그리고 정보는 한 방향으로만 흐릅니다. 리뷰 결과는 오직 Planner에게만 모여요.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[아키텍처 산출물 · 약 1.5분]
계획 단계에서 코드 전에 만들어야 하는 문서들입니다. 모두 docs/ 폴더에 두고, 다이어그램은 mermaid로 그립니다.
시스템 구조, 핵심 플로우의 시퀀스, 데이터가 어느 저장소에 사는지, DB 스키마, 보안 모델, 배포 토폴로지. 여기에 더해 주요 결정마다 ADR을 남깁니다. 결정의 맥락·선택·대안·결과를 적는 짧은 문서죠.
핵심은 — 이 산출물들의 '존재 여부'조차 스크립트로 점검한다는 겁니다. 문서가 없으면 게이트가 실패해요. '나중에 정리하지 뭐'가 통하지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plan.md · 약 2분]
실제로 이 게시판의 계획서가 어떻게 굴러갔는지 보여드립니다. 한 번에 끝난 게 아니에요.
v1 초안을 codex로 교차검증했더니 23건이 나왔습니다. 그중 blocking이 5건. v2에서 그걸 다 반영하고 다시 돌렸더니, 또 새 blocking 1건 포함 7건이 추가로 잡혔어요. v3에서 문서 간 모순을 맞추고 재검증, v4에서 잔여 모순까지 해소한 뒤에야 인간 최종 승인이 났습니다.
포인트 두 가지. 첫째, 검증을 한 번 더 돌릴 때마다 새로운 결함이 보입니다. 둘째, 아까 말한 '신선도 바인딩' 때문에 문서를 고칠 때마다 리뷰가 강제로 다시 돌았어요. 귀찮아 보이지만, 이게 계획 단계에서 결함을 싸게 잡는 비결입니다.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[전환 · Part 3 도입 · 약 20초]
마지막 Part 3입니다. 승인된 계획을 이제 어떻게 구현하느냐 — 큰 작업을 한 번에 하지 않고, 검증 가능한 작은 단위인 Phase로 쪼개서 굴립니다.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닫힌 게이트 · 약 2분]
각 Phase는 여섯 단계를 순서대로 통과해야 끝납니다. 구현 → 테스트 → codex 리뷰 → 수정 → 회고 → dev 통합.
중요한 건 '닫힌' 게이트라는 점이에요. 하나라도 막히면 다음으로 못 갑니다. 예를 들어 테스트가 깨지면 리뷰로 못 넘어가고, 리뷰 지적이 남아 있으면 dev에 못 올라가요.
그리고 이 게이트들도 전부 스크립트로 점검합니다. 테스트·커버리지가 통과했는지, 리뷰와 처리 기록 파일이 있는지, 회고 문서가 있는지, 심지어 지금 브랜치가 dev가 맞는지까지요. 실패하면 0이 아닌 종료 코드로 멈춥니다. PM 관점에서는 이게 '단계별 Definition of Done을 자동으로 강제하는 칸반'이라고 보시면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[codex 리뷰 루프 · 약 2분]
리뷰 단계를 좀 더 자세히 봅니다. '다 고쳤어요'라는 자기신고는 검증이 안 되니까, 감사 추적을 남깁니다.
리뷰를 실행하면 지적을 ID·severity·파일/라인·요약으로 review 파일에 기록합니다. 각 지적의 처리 상태를 resolution 파일에 Fixed / Rejected / Escalated로 적고요. 그다음 codex를 다시 돌려서 미해결 blocking이 0이라는 걸 출력 증거로 첨부합니다.
오른쪽 종료 조건이 핵심입니다. Rejected나 Escalated 항목은 인간이 판정하기 전엔 Phase를 못 끝냅니다. 미해결 지적이 하나라도 남으면 끝나지 않아요. 그리고 리뷰는 구현한 모델과 '다른' 모델이 합니다. 만든 사람이 자기 코드를 통과시키지 못하게 하는 거죠.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사례: Phase 4 · 약 2.5분 · 강의의 하이라이트]
이 장이 오늘의 클라이맥스입니다. 실제 Phase 4 — 첨부파일 기능에서 무슨 일이 있었는지 숫자로 보여드려요.
테스트 96개 통과, 커버리지 92.84%. 숫자만 보면 '완벽하네, 끝'이죠. 그런데 codex가 6건을 잡았습니다.
아래를 보세요. 업로드 크기 제한을 파일을 메모리에 다 읽은 '후에' 검사하고 있었어요. 큰 파일이 오면 메모리가 터질 수 있는 버그입니다. 또 S3 업로드 실패를 400으로 내보내서 설계와 안 맞았고요. 이건 테스트도 통과하고 커버리지도 높았던 코드예요. 자기검토였다면 그냥 넘어갔을 결함을, 독립 리뷰가 잡은 겁니다.
이게 왜 역할을 분리하고 교차검증을 하느냐에 대한 가장 강력한 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[회고 &amp; Human Check Items · 약 2분]
각 Phase 끝에는 회고를 남깁니다. 한 일, 잘된 점, 어려웠던 점, 리뷰 처리 결과, 검증 증거를 적죠.
가장 중요한 건 맨 아래 'Human Check Items'입니다. 에이전트가 자기 마음대로 판단하면 안 되는 것들을 인간에게 올리는 칸이에요. 오른쪽 Phase 4 예시를 보면 — orphan 정리 잡은 언제 구현할지, 업로드 상한값은 운영에서 얼마가 적정한지, 통합테스트는 언제 도입할지. 다 사람이 결정할 일입니다.
그리고 이 섹션은 비워둘 수 없어요. 확인할 게 없다고 판단해도 '없음'과 그 근거를 적어야 합니다. '생각 안 하고 넘어가는 것'과 '없다고 확인한 것'을 구분하기 위해서입니다.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2 진행]
두 번째 실습입니다. 주제는 '우리 팀의 Phase 종료 게이트 체크리스트 만들기'예요. 좀 더 프로세스적인 실습이라 PM·기획 분들도 편하게 하실 수 있습니다.
왼쪽 4단계를 따라가세요. 먼저 내 프로젝트의 작업 한 덩어리를 Phase로 정의하고, 6단계 중 우리한테 빠진 단계를 표시합니다. 각 단계의 '통과 증거'를 한 줄씩 적고, 마지막으로 Human Check Items에 올릴 항목을 하나 고릅니다.
결과물은 오른쪽처럼 한 장짜리 체크리스트입니다. 거창할 필요 없어요. 다음 스프린트에 바로 써먹을 초안이면 충분합니다. 작성이 끝나면 두세 분 공유받겠습니다.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[적용 체크리스트 · 약 2분]
이제 정리합니다. 우리 팀에 가져가려면 이 다섯 가지를 점검하세요.
거버넌스 문서부터 만든다. 역할·완료의 정의·이스케이프를 한 문서에 선언합니다.
주관적 기준을 명령으로 환원한다.
만든 주체와 다른 검증자를 둔다.
작게 쪼개서 게이트로 통과시킨다.
보안·범위·트레이드오프는 인간 승인 지점을 분명히 둔다.
그리고 왼쪽 아래 — 가장 현실적인 조언입니다. 한 번에 다 하려 하지 마세요. 주관적 기준 하나를 명령으로 바꾸는 것, 거기서부터 시작하면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&amp; 종합 Q&amp;A]
오늘 핵심을 한 줄로 요약하면 — '신뢰는 선언하는 게 아니라 설계하는 것'입니다. 기계검증 거버넌스, 다중모델 교차검증, Phase 닫힌 게이트. 이 세 가지로 AI 협업 개발의 신뢰를 만들 수 있습니다.
남은 시간 동안 질문 받겠습니다. 우리 조직에 어떻게 적용할지, 도구는 무엇을 쓰는지, 어디서부터 시작할지 — 무엇이든 좋습니다.
오늘 함께해 주셔서 감사합니다. 자료와 실습 템플릿 필요하시면 메일로 요청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869680" y="1371600"/>
            <a:ext cx="2743200" cy="4114800"/>
          </a:xfrm>
          <a:prstGeom prst="roundRect">
            <a:avLst>
              <a:gd name="adj" fmla="val 6000"/>
            </a:avLst>
          </a:prstGeom>
          <a:solidFill>
            <a:srgbClr val="2A3A7C"/>
          </a:solidFill>
          <a:ln/>
        </p:spPr>
      </p:sp>
      <p:sp>
        <p:nvSpPr>
          <p:cNvPr id="3" name="Shape 1"/>
          <p:cNvSpPr/>
          <p:nvPr/>
        </p:nvSpPr>
        <p:spPr>
          <a:xfrm>
            <a:off x="9144000" y="1828800"/>
            <a:ext cx="676656" cy="676656"/>
          </a:xfrm>
          <a:prstGeom prst="ellipse">
            <a:avLst/>
          </a:prstGeom>
          <a:solidFill>
            <a:srgbClr val="1E2761"/>
          </a:solidFill>
          <a:ln/>
        </p:spPr>
      </p:sp>
      <p:pic>
        <p:nvPicPr>
          <p:cNvPr id="4" name="Image 0" descr="preencoded.png">    </p:cNvPr>
          <p:cNvPicPr>
            <a:picLocks noChangeAspect="1"/>
          </p:cNvPicPr>
          <p:nvPr/>
        </p:nvPicPr>
        <p:blipFill>
          <a:blip r:embed="rId1"/>
          <a:stretch>
            <a:fillRect/>
          </a:stretch>
        </p:blipFill>
        <p:spPr>
          <a:xfrm>
            <a:off x="9262872" y="1947672"/>
            <a:ext cx="438912" cy="438912"/>
          </a:xfrm>
          <a:prstGeom prst="rect">
            <a:avLst/>
          </a:prstGeom>
        </p:spPr>
      </p:pic>
      <p:sp>
        <p:nvSpPr>
          <p:cNvPr id="5" name="Text 2"/>
          <p:cNvSpPr/>
          <p:nvPr/>
        </p:nvSpPr>
        <p:spPr>
          <a:xfrm>
            <a:off x="9921240" y="1828800"/>
            <a:ext cx="1600200" cy="676656"/>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에이전트 역할</a:t>
            </a:r>
            <a:endParaRPr lang="en-US" sz="1250" dirty="0"/>
          </a:p>
        </p:txBody>
      </p:sp>
      <p:sp>
        <p:nvSpPr>
          <p:cNvPr id="6" name="Shape 3"/>
          <p:cNvSpPr/>
          <p:nvPr/>
        </p:nvSpPr>
        <p:spPr>
          <a:xfrm>
            <a:off x="9144000" y="2971800"/>
            <a:ext cx="676656" cy="676656"/>
          </a:xfrm>
          <a:prstGeom prst="ellipse">
            <a:avLst/>
          </a:prstGeom>
          <a:solidFill>
            <a:srgbClr val="1E2761"/>
          </a:solidFill>
          <a:ln/>
        </p:spPr>
      </p:sp>
      <p:pic>
        <p:nvPicPr>
          <p:cNvPr id="7" name="Image 1" descr="preencoded.png">    </p:cNvPr>
          <p:cNvPicPr>
            <a:picLocks noChangeAspect="1"/>
          </p:cNvPicPr>
          <p:nvPr/>
        </p:nvPicPr>
        <p:blipFill>
          <a:blip r:embed="rId2"/>
          <a:stretch>
            <a:fillRect/>
          </a:stretch>
        </p:blipFill>
        <p:spPr>
          <a:xfrm>
            <a:off x="9262872" y="3090672"/>
            <a:ext cx="438912" cy="438912"/>
          </a:xfrm>
          <a:prstGeom prst="rect">
            <a:avLst/>
          </a:prstGeom>
        </p:spPr>
      </p:pic>
      <p:sp>
        <p:nvSpPr>
          <p:cNvPr id="8" name="Text 4"/>
          <p:cNvSpPr/>
          <p:nvPr/>
        </p:nvSpPr>
        <p:spPr>
          <a:xfrm>
            <a:off x="9921240" y="2971800"/>
            <a:ext cx="1600200" cy="676656"/>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기계검증 거버넌스</a:t>
            </a:r>
            <a:endParaRPr lang="en-US" sz="1250" dirty="0"/>
          </a:p>
        </p:txBody>
      </p:sp>
      <p:sp>
        <p:nvSpPr>
          <p:cNvPr id="9" name="Shape 5"/>
          <p:cNvSpPr/>
          <p:nvPr/>
        </p:nvSpPr>
        <p:spPr>
          <a:xfrm>
            <a:off x="9144000" y="4114800"/>
            <a:ext cx="676656" cy="676656"/>
          </a:xfrm>
          <a:prstGeom prst="ellipse">
            <a:avLst/>
          </a:prstGeom>
          <a:solidFill>
            <a:srgbClr val="1E2761"/>
          </a:solidFill>
          <a:ln/>
        </p:spPr>
      </p:sp>
      <p:pic>
        <p:nvPicPr>
          <p:cNvPr id="10" name="Image 2" descr="preencoded.png">    </p:cNvPr>
          <p:cNvPicPr>
            <a:picLocks noChangeAspect="1"/>
          </p:cNvPicPr>
          <p:nvPr/>
        </p:nvPicPr>
        <p:blipFill>
          <a:blip r:embed="rId3"/>
          <a:stretch>
            <a:fillRect/>
          </a:stretch>
        </p:blipFill>
        <p:spPr>
          <a:xfrm>
            <a:off x="9262872" y="4233672"/>
            <a:ext cx="438912" cy="438912"/>
          </a:xfrm>
          <a:prstGeom prst="rect">
            <a:avLst/>
          </a:prstGeom>
        </p:spPr>
      </p:pic>
      <p:sp>
        <p:nvSpPr>
          <p:cNvPr id="11" name="Text 6"/>
          <p:cNvSpPr/>
          <p:nvPr/>
        </p:nvSpPr>
        <p:spPr>
          <a:xfrm>
            <a:off x="9921240" y="4114800"/>
            <a:ext cx="1600200" cy="676656"/>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교차검증 · 게이트</a:t>
            </a:r>
            <a:endParaRPr lang="en-US" sz="1250" dirty="0"/>
          </a:p>
        </p:txBody>
      </p:sp>
      <p:sp>
        <p:nvSpPr>
          <p:cNvPr id="12" name="Text 7"/>
          <p:cNvSpPr/>
          <p:nvPr/>
        </p:nvSpPr>
        <p:spPr>
          <a:xfrm>
            <a:off x="640080" y="1554480"/>
            <a:ext cx="8229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AI 에이전트 주도 개발 방법론</a:t>
            </a:r>
            <a:endParaRPr lang="en-US" sz="4000" dirty="0"/>
          </a:p>
        </p:txBody>
      </p:sp>
      <p:sp>
        <p:nvSpPr>
          <p:cNvPr id="13" name="Text 8"/>
          <p:cNvSpPr/>
          <p:nvPr/>
        </p:nvSpPr>
        <p:spPr>
          <a:xfrm>
            <a:off x="658368" y="2606040"/>
            <a:ext cx="7955280" cy="1097280"/>
          </a:xfrm>
          <a:prstGeom prst="rect">
            <a:avLst/>
          </a:prstGeom>
          <a:noFill/>
          <a:ln/>
        </p:spPr>
        <p:txBody>
          <a:bodyPr wrap="square" lIns="0" tIns="0" rIns="0" bIns="0" rtlCol="0" anchor="ctr"/>
          <a:lstStyle/>
          <a:p>
            <a:pPr indent="0" marL="0">
              <a:lnSpc>
                <a:spcPct val="115000"/>
              </a:lnSpc>
              <a:buNone/>
            </a:pPr>
            <a:r>
              <a:rPr lang="en-US" sz="1900" dirty="0">
                <a:solidFill>
                  <a:srgbClr val="CADCFC"/>
                </a:solidFill>
                <a:latin typeface="Calibri" pitchFamily="34" charset="0"/>
                <a:ea typeface="Calibri" pitchFamily="34" charset="-122"/>
                <a:cs typeface="Calibri" pitchFamily="34" charset="-120"/>
              </a:rPr>
              <a:t>AGENTS.md · 다중모델 교차검증 · Phase 게이트로</a:t>
            </a:r>
            <a:endParaRPr lang="en-US" sz="1900" dirty="0"/>
          </a:p>
          <a:p>
            <a:pPr indent="0" marL="0">
              <a:lnSpc>
                <a:spcPct val="115000"/>
              </a:lnSpc>
              <a:buNone/>
            </a:pPr>
            <a:r>
              <a:rPr lang="en-US" sz="1900" dirty="0">
                <a:solidFill>
                  <a:srgbClr val="CADCFC"/>
                </a:solidFill>
                <a:latin typeface="Calibri" pitchFamily="34" charset="0"/>
                <a:ea typeface="Calibri" pitchFamily="34" charset="-122"/>
                <a:cs typeface="Calibri" pitchFamily="34" charset="-120"/>
              </a:rPr>
              <a:t>신뢰할 수 있는 AI 협업 개발 완성하기</a:t>
            </a:r>
            <a:endParaRPr lang="en-US" sz="1900" dirty="0"/>
          </a:p>
        </p:txBody>
      </p:sp>
      <p:sp>
        <p:nvSpPr>
          <p:cNvPr id="14" name="Shape 9"/>
          <p:cNvSpPr/>
          <p:nvPr/>
        </p:nvSpPr>
        <p:spPr>
          <a:xfrm>
            <a:off x="685800" y="3977640"/>
            <a:ext cx="2926080" cy="0"/>
          </a:xfrm>
          <a:prstGeom prst="line">
            <a:avLst/>
          </a:prstGeom>
          <a:noFill/>
          <a:ln w="31750">
            <a:solidFill>
              <a:srgbClr val="02C39A"/>
            </a:solidFill>
            <a:prstDash val="solid"/>
          </a:ln>
        </p:spPr>
      </p:sp>
      <p:sp>
        <p:nvSpPr>
          <p:cNvPr id="15" name="Text 10"/>
          <p:cNvSpPr/>
          <p:nvPr/>
        </p:nvSpPr>
        <p:spPr>
          <a:xfrm>
            <a:off x="658368" y="4160520"/>
            <a:ext cx="7772400" cy="45720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게시판 시스템 개발 프로젝트를 사례로</a:t>
            </a:r>
            <a:endParaRPr lang="en-US" sz="1500" dirty="0"/>
          </a:p>
        </p:txBody>
      </p:sp>
      <p:sp>
        <p:nvSpPr>
          <p:cNvPr id="16" name="Text 11"/>
          <p:cNvSpPr/>
          <p:nvPr/>
        </p:nvSpPr>
        <p:spPr>
          <a:xfrm>
            <a:off x="658368" y="5029200"/>
            <a:ext cx="822960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2시간 워크숍</a:t>
            </a:r>
            <a:pPr indent="0" marL="0">
              <a:buNone/>
            </a:pPr>
            <a:r>
              <a:rPr lang="en-US" sz="1500" dirty="0">
                <a:solidFill>
                  <a:srgbClr val="CADCFC"/>
                </a:solidFill>
                <a:latin typeface="Calibri" pitchFamily="34" charset="0"/>
                <a:ea typeface="Calibri" pitchFamily="34" charset="-122"/>
                <a:cs typeface="Calibri" pitchFamily="34" charset="-120"/>
              </a:rPr>
              <a:t>   |   강의 · 실습 · 질의응답</a:t>
            </a:r>
            <a:endParaRPr lang="en-US" sz="1500" dirty="0"/>
          </a:p>
        </p:txBody>
      </p:sp>
      <p:sp>
        <p:nvSpPr>
          <p:cNvPr id="17" name="Text 12"/>
          <p:cNvSpPr/>
          <p:nvPr/>
        </p:nvSpPr>
        <p:spPr>
          <a:xfrm>
            <a:off x="658368" y="5852160"/>
            <a:ext cx="8229600" cy="365760"/>
          </a:xfrm>
          <a:prstGeom prst="rect">
            <a:avLst/>
          </a:prstGeom>
          <a:noFill/>
          <a:ln/>
        </p:spPr>
        <p:txBody>
          <a:bodyPr wrap="square" lIns="0" tIns="0" rIns="0" bIns="0" rtlCol="0" anchor="ctr"/>
          <a:lstStyle/>
          <a:p>
            <a:pPr indent="0" marL="0">
              <a:buNone/>
            </a:pPr>
            <a:r>
              <a:rPr lang="en-US" sz="1200" dirty="0">
                <a:solidFill>
                  <a:srgbClr val="9FB0D6"/>
                </a:solidFill>
                <a:latin typeface="Calibri" pitchFamily="34" charset="0"/>
                <a:ea typeface="Calibri" pitchFamily="34" charset="-122"/>
                <a:cs typeface="Calibri" pitchFamily="34" charset="-120"/>
              </a:rPr>
              <a:t>강사: 차상국  ·  skcha67@dataspeak.co.kr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AGENDA</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2시간 진행 구성 — 강의 · 실습 · 질의응답</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Shape 4"/>
          <p:cNvSpPr/>
          <p:nvPr/>
        </p:nvSpPr>
        <p:spPr>
          <a:xfrm>
            <a:off x="548640" y="1691640"/>
            <a:ext cx="11064240" cy="566928"/>
          </a:xfrm>
          <a:prstGeom prst="roundRect">
            <a:avLst>
              <a:gd name="adj" fmla="val 9677"/>
            </a:avLst>
          </a:prstGeom>
          <a:solidFill>
            <a:srgbClr val="EEF3FC"/>
          </a:solidFill>
          <a:ln/>
        </p:spPr>
      </p:sp>
      <p:sp>
        <p:nvSpPr>
          <p:cNvPr id="7" name="Shape 5"/>
          <p:cNvSpPr/>
          <p:nvPr/>
        </p:nvSpPr>
        <p:spPr>
          <a:xfrm>
            <a:off x="749808" y="1819656"/>
            <a:ext cx="310896" cy="310896"/>
          </a:xfrm>
          <a:prstGeom prst="ellipse">
            <a:avLst/>
          </a:prstGeom>
          <a:solidFill>
            <a:srgbClr val="1E2761"/>
          </a:solidFill>
          <a:ln/>
        </p:spPr>
      </p:sp>
      <p:sp>
        <p:nvSpPr>
          <p:cNvPr id="8" name="Text 6"/>
          <p:cNvSpPr/>
          <p:nvPr/>
        </p:nvSpPr>
        <p:spPr>
          <a:xfrm>
            <a:off x="749808" y="18196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691640"/>
            <a:ext cx="8778240" cy="566928"/>
          </a:xfrm>
          <a:prstGeom prst="rect">
            <a:avLst/>
          </a:prstGeom>
          <a:noFill/>
          <a:ln/>
        </p:spPr>
        <p:txBody>
          <a:bodyPr wrap="square" lIns="0" tIns="0" rIns="0" bIns="0" rtlCol="0" anchor="ctr"/>
          <a:lstStyle/>
          <a:p>
            <a:pPr indent="0" marL="0">
              <a:buNone/>
            </a:pPr>
            <a:r>
              <a:rPr lang="en-US" sz="1450" dirty="0">
                <a:solidFill>
                  <a:srgbClr val="1A1F36"/>
                </a:solidFill>
                <a:latin typeface="Calibri" pitchFamily="34" charset="0"/>
                <a:ea typeface="Calibri" pitchFamily="34" charset="-122"/>
                <a:cs typeface="Calibri" pitchFamily="34" charset="-120"/>
              </a:rPr>
              <a:t>오프닝 &amp; 왜 이 방법론인가</a:t>
            </a:r>
            <a:endParaRPr lang="en-US" sz="1450" dirty="0"/>
          </a:p>
        </p:txBody>
      </p:sp>
      <p:sp>
        <p:nvSpPr>
          <p:cNvPr id="10" name="Shape 8"/>
          <p:cNvSpPr/>
          <p:nvPr/>
        </p:nvSpPr>
        <p:spPr>
          <a:xfrm>
            <a:off x="10469880" y="1819656"/>
            <a:ext cx="960120" cy="310896"/>
          </a:xfrm>
          <a:prstGeom prst="roundRect">
            <a:avLst>
              <a:gd name="adj" fmla="val 50000"/>
            </a:avLst>
          </a:prstGeom>
          <a:solidFill>
            <a:srgbClr val="2A3A7C"/>
          </a:solidFill>
          <a:ln/>
        </p:spPr>
      </p:sp>
      <p:sp>
        <p:nvSpPr>
          <p:cNvPr id="11" name="Text 9"/>
          <p:cNvSpPr/>
          <p:nvPr/>
        </p:nvSpPr>
        <p:spPr>
          <a:xfrm>
            <a:off x="10469880" y="1819656"/>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강의</a:t>
            </a:r>
            <a:endParaRPr lang="en-US" sz="1100" dirty="0"/>
          </a:p>
        </p:txBody>
      </p:sp>
      <p:sp>
        <p:nvSpPr>
          <p:cNvPr id="12" name="Shape 10"/>
          <p:cNvSpPr/>
          <p:nvPr/>
        </p:nvSpPr>
        <p:spPr>
          <a:xfrm>
            <a:off x="548640" y="2340864"/>
            <a:ext cx="11064240" cy="566928"/>
          </a:xfrm>
          <a:prstGeom prst="roundRect">
            <a:avLst>
              <a:gd name="adj" fmla="val 9677"/>
            </a:avLst>
          </a:prstGeom>
          <a:solidFill>
            <a:srgbClr val="EEF3FC"/>
          </a:solidFill>
          <a:ln/>
        </p:spPr>
      </p:sp>
      <p:sp>
        <p:nvSpPr>
          <p:cNvPr id="13" name="Shape 11"/>
          <p:cNvSpPr/>
          <p:nvPr/>
        </p:nvSpPr>
        <p:spPr>
          <a:xfrm>
            <a:off x="749808" y="2468880"/>
            <a:ext cx="310896" cy="310896"/>
          </a:xfrm>
          <a:prstGeom prst="ellipse">
            <a:avLst/>
          </a:prstGeom>
          <a:solidFill>
            <a:srgbClr val="1E2761"/>
          </a:solidFill>
          <a:ln/>
        </p:spPr>
      </p:sp>
      <p:sp>
        <p:nvSpPr>
          <p:cNvPr id="14" name="Text 12"/>
          <p:cNvSpPr/>
          <p:nvPr/>
        </p:nvSpPr>
        <p:spPr>
          <a:xfrm>
            <a:off x="749808" y="24688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280160" y="2340864"/>
            <a:ext cx="8778240" cy="566928"/>
          </a:xfrm>
          <a:prstGeom prst="rect">
            <a:avLst/>
          </a:prstGeom>
          <a:noFill/>
          <a:ln/>
        </p:spPr>
        <p:txBody>
          <a:bodyPr wrap="square" lIns="0" tIns="0" rIns="0" bIns="0" rtlCol="0" anchor="ctr"/>
          <a:lstStyle/>
          <a:p>
            <a:pPr indent="0" marL="0">
              <a:buNone/>
            </a:pPr>
            <a:r>
              <a:rPr lang="en-US" sz="1450" dirty="0">
                <a:solidFill>
                  <a:srgbClr val="1A1F36"/>
                </a:solidFill>
                <a:latin typeface="Calibri" pitchFamily="34" charset="0"/>
                <a:ea typeface="Calibri" pitchFamily="34" charset="-122"/>
                <a:cs typeface="Calibri" pitchFamily="34" charset="-120"/>
              </a:rPr>
              <a:t>Part 1. AGENTS.md 거버넌스 &amp; 완료의 정의</a:t>
            </a:r>
            <a:endParaRPr lang="en-US" sz="1450" dirty="0"/>
          </a:p>
        </p:txBody>
      </p:sp>
      <p:sp>
        <p:nvSpPr>
          <p:cNvPr id="16" name="Shape 14"/>
          <p:cNvSpPr/>
          <p:nvPr/>
        </p:nvSpPr>
        <p:spPr>
          <a:xfrm>
            <a:off x="10469880" y="2468880"/>
            <a:ext cx="960120" cy="310896"/>
          </a:xfrm>
          <a:prstGeom prst="roundRect">
            <a:avLst>
              <a:gd name="adj" fmla="val 50000"/>
            </a:avLst>
          </a:prstGeom>
          <a:solidFill>
            <a:srgbClr val="2A3A7C"/>
          </a:solidFill>
          <a:ln/>
        </p:spPr>
      </p:sp>
      <p:sp>
        <p:nvSpPr>
          <p:cNvPr id="17" name="Text 15"/>
          <p:cNvSpPr/>
          <p:nvPr/>
        </p:nvSpPr>
        <p:spPr>
          <a:xfrm>
            <a:off x="10469880" y="2468880"/>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강의</a:t>
            </a:r>
            <a:endParaRPr lang="en-US" sz="1100" dirty="0"/>
          </a:p>
        </p:txBody>
      </p:sp>
      <p:sp>
        <p:nvSpPr>
          <p:cNvPr id="18" name="Shape 16"/>
          <p:cNvSpPr/>
          <p:nvPr/>
        </p:nvSpPr>
        <p:spPr>
          <a:xfrm>
            <a:off x="548640" y="2990088"/>
            <a:ext cx="11064240" cy="566928"/>
          </a:xfrm>
          <a:prstGeom prst="roundRect">
            <a:avLst>
              <a:gd name="adj" fmla="val 9677"/>
            </a:avLst>
          </a:prstGeom>
          <a:solidFill>
            <a:srgbClr val="EEF3FC"/>
          </a:solidFill>
          <a:ln/>
        </p:spPr>
      </p:sp>
      <p:sp>
        <p:nvSpPr>
          <p:cNvPr id="19" name="Shape 17"/>
          <p:cNvSpPr/>
          <p:nvPr/>
        </p:nvSpPr>
        <p:spPr>
          <a:xfrm>
            <a:off x="749808" y="3118104"/>
            <a:ext cx="310896" cy="310896"/>
          </a:xfrm>
          <a:prstGeom prst="ellipse">
            <a:avLst/>
          </a:prstGeom>
          <a:solidFill>
            <a:srgbClr val="1E2761"/>
          </a:solidFill>
          <a:ln/>
        </p:spPr>
      </p:sp>
      <p:sp>
        <p:nvSpPr>
          <p:cNvPr id="20" name="Text 18"/>
          <p:cNvSpPr/>
          <p:nvPr/>
        </p:nvSpPr>
        <p:spPr>
          <a:xfrm>
            <a:off x="749808" y="311810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280160" y="2990088"/>
            <a:ext cx="8778240" cy="566928"/>
          </a:xfrm>
          <a:prstGeom prst="rect">
            <a:avLst/>
          </a:prstGeom>
          <a:noFill/>
          <a:ln/>
        </p:spPr>
        <p:txBody>
          <a:bodyPr wrap="square" lIns="0" tIns="0" rIns="0" bIns="0" rtlCol="0" anchor="ctr"/>
          <a:lstStyle/>
          <a:p>
            <a:pPr indent="0" marL="0">
              <a:buNone/>
            </a:pPr>
            <a:r>
              <a:rPr lang="en-US" sz="1450" dirty="0">
                <a:solidFill>
                  <a:srgbClr val="1A1F36"/>
                </a:solidFill>
                <a:latin typeface="Calibri" pitchFamily="34" charset="0"/>
                <a:ea typeface="Calibri" pitchFamily="34" charset="-122"/>
                <a:cs typeface="Calibri" pitchFamily="34" charset="-120"/>
              </a:rPr>
              <a:t>미니실습 1. 우리 규칙을 '기계검증 명령'으로</a:t>
            </a:r>
            <a:endParaRPr lang="en-US" sz="1450" dirty="0"/>
          </a:p>
        </p:txBody>
      </p:sp>
      <p:sp>
        <p:nvSpPr>
          <p:cNvPr id="22" name="Shape 20"/>
          <p:cNvSpPr/>
          <p:nvPr/>
        </p:nvSpPr>
        <p:spPr>
          <a:xfrm>
            <a:off x="10469880" y="3118104"/>
            <a:ext cx="960120" cy="310896"/>
          </a:xfrm>
          <a:prstGeom prst="roundRect">
            <a:avLst>
              <a:gd name="adj" fmla="val 50000"/>
            </a:avLst>
          </a:prstGeom>
          <a:solidFill>
            <a:srgbClr val="02C39A"/>
          </a:solidFill>
          <a:ln/>
        </p:spPr>
      </p:sp>
      <p:sp>
        <p:nvSpPr>
          <p:cNvPr id="23" name="Text 21"/>
          <p:cNvSpPr/>
          <p:nvPr/>
        </p:nvSpPr>
        <p:spPr>
          <a:xfrm>
            <a:off x="10469880" y="3118104"/>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실습</a:t>
            </a:r>
            <a:endParaRPr lang="en-US" sz="1100" dirty="0"/>
          </a:p>
        </p:txBody>
      </p:sp>
      <p:sp>
        <p:nvSpPr>
          <p:cNvPr id="24" name="Shape 22"/>
          <p:cNvSpPr/>
          <p:nvPr/>
        </p:nvSpPr>
        <p:spPr>
          <a:xfrm>
            <a:off x="548640" y="3639312"/>
            <a:ext cx="11064240" cy="566928"/>
          </a:xfrm>
          <a:prstGeom prst="roundRect">
            <a:avLst>
              <a:gd name="adj" fmla="val 9677"/>
            </a:avLst>
          </a:prstGeom>
          <a:solidFill>
            <a:srgbClr val="EEF3FC"/>
          </a:solidFill>
          <a:ln/>
        </p:spPr>
      </p:sp>
      <p:sp>
        <p:nvSpPr>
          <p:cNvPr id="25" name="Shape 23"/>
          <p:cNvSpPr/>
          <p:nvPr/>
        </p:nvSpPr>
        <p:spPr>
          <a:xfrm>
            <a:off x="749808" y="3767328"/>
            <a:ext cx="310896" cy="310896"/>
          </a:xfrm>
          <a:prstGeom prst="ellipse">
            <a:avLst/>
          </a:prstGeom>
          <a:solidFill>
            <a:srgbClr val="1E2761"/>
          </a:solidFill>
          <a:ln/>
        </p:spPr>
      </p:sp>
      <p:sp>
        <p:nvSpPr>
          <p:cNvPr id="26" name="Text 24"/>
          <p:cNvSpPr/>
          <p:nvPr/>
        </p:nvSpPr>
        <p:spPr>
          <a:xfrm>
            <a:off x="749808" y="37673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280160" y="3639312"/>
            <a:ext cx="8778240" cy="566928"/>
          </a:xfrm>
          <a:prstGeom prst="rect">
            <a:avLst/>
          </a:prstGeom>
          <a:noFill/>
          <a:ln/>
        </p:spPr>
        <p:txBody>
          <a:bodyPr wrap="square" lIns="0" tIns="0" rIns="0" bIns="0" rtlCol="0" anchor="ctr"/>
          <a:lstStyle/>
          <a:p>
            <a:pPr indent="0" marL="0">
              <a:buNone/>
            </a:pPr>
            <a:r>
              <a:rPr lang="en-US" sz="1450" dirty="0">
                <a:solidFill>
                  <a:srgbClr val="1A1F36"/>
                </a:solidFill>
                <a:latin typeface="Calibri" pitchFamily="34" charset="0"/>
                <a:ea typeface="Calibri" pitchFamily="34" charset="-122"/>
                <a:cs typeface="Calibri" pitchFamily="34" charset="-120"/>
              </a:rPr>
              <a:t>중간 질의응답</a:t>
            </a:r>
            <a:endParaRPr lang="en-US" sz="1450" dirty="0"/>
          </a:p>
        </p:txBody>
      </p:sp>
      <p:sp>
        <p:nvSpPr>
          <p:cNvPr id="28" name="Shape 26"/>
          <p:cNvSpPr/>
          <p:nvPr/>
        </p:nvSpPr>
        <p:spPr>
          <a:xfrm>
            <a:off x="10469880" y="3767328"/>
            <a:ext cx="960120" cy="310896"/>
          </a:xfrm>
          <a:prstGeom prst="roundRect">
            <a:avLst>
              <a:gd name="adj" fmla="val 50000"/>
            </a:avLst>
          </a:prstGeom>
          <a:solidFill>
            <a:srgbClr val="E8A13A"/>
          </a:solidFill>
          <a:ln/>
        </p:spPr>
      </p:sp>
      <p:sp>
        <p:nvSpPr>
          <p:cNvPr id="29" name="Text 27"/>
          <p:cNvSpPr/>
          <p:nvPr/>
        </p:nvSpPr>
        <p:spPr>
          <a:xfrm>
            <a:off x="10469880" y="3767328"/>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Q&amp;A</a:t>
            </a:r>
            <a:endParaRPr lang="en-US" sz="1100" dirty="0"/>
          </a:p>
        </p:txBody>
      </p:sp>
      <p:sp>
        <p:nvSpPr>
          <p:cNvPr id="30" name="Shape 28"/>
          <p:cNvSpPr/>
          <p:nvPr/>
        </p:nvSpPr>
        <p:spPr>
          <a:xfrm>
            <a:off x="548640" y="4288536"/>
            <a:ext cx="11064240" cy="566928"/>
          </a:xfrm>
          <a:prstGeom prst="roundRect">
            <a:avLst>
              <a:gd name="adj" fmla="val 9677"/>
            </a:avLst>
          </a:prstGeom>
          <a:solidFill>
            <a:srgbClr val="EEF3FC"/>
          </a:solidFill>
          <a:ln/>
        </p:spPr>
      </p:sp>
      <p:sp>
        <p:nvSpPr>
          <p:cNvPr id="31" name="Shape 29"/>
          <p:cNvSpPr/>
          <p:nvPr/>
        </p:nvSpPr>
        <p:spPr>
          <a:xfrm>
            <a:off x="749808" y="4416552"/>
            <a:ext cx="310896" cy="310896"/>
          </a:xfrm>
          <a:prstGeom prst="ellipse">
            <a:avLst/>
          </a:prstGeom>
          <a:solidFill>
            <a:srgbClr val="1E2761"/>
          </a:solidFill>
          <a:ln/>
        </p:spPr>
      </p:sp>
      <p:sp>
        <p:nvSpPr>
          <p:cNvPr id="32" name="Text 30"/>
          <p:cNvSpPr/>
          <p:nvPr/>
        </p:nvSpPr>
        <p:spPr>
          <a:xfrm>
            <a:off x="749808" y="44165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1280160" y="4288536"/>
            <a:ext cx="8778240" cy="566928"/>
          </a:xfrm>
          <a:prstGeom prst="rect">
            <a:avLst/>
          </a:prstGeom>
          <a:noFill/>
          <a:ln/>
        </p:spPr>
        <p:txBody>
          <a:bodyPr wrap="square" lIns="0" tIns="0" rIns="0" bIns="0" rtlCol="0" anchor="ctr"/>
          <a:lstStyle/>
          <a:p>
            <a:pPr indent="0" marL="0">
              <a:buNone/>
            </a:pPr>
            <a:r>
              <a:rPr lang="en-US" sz="1450" dirty="0">
                <a:solidFill>
                  <a:srgbClr val="1A1F36"/>
                </a:solidFill>
                <a:latin typeface="Calibri" pitchFamily="34" charset="0"/>
                <a:ea typeface="Calibri" pitchFamily="34" charset="-122"/>
                <a:cs typeface="Calibri" pitchFamily="34" charset="-120"/>
              </a:rPr>
              <a:t>Part 2. 계획 &amp; 다중모델 교차검증</a:t>
            </a:r>
            <a:endParaRPr lang="en-US" sz="1450" dirty="0"/>
          </a:p>
        </p:txBody>
      </p:sp>
      <p:sp>
        <p:nvSpPr>
          <p:cNvPr id="34" name="Shape 32"/>
          <p:cNvSpPr/>
          <p:nvPr/>
        </p:nvSpPr>
        <p:spPr>
          <a:xfrm>
            <a:off x="10469880" y="4416552"/>
            <a:ext cx="960120" cy="310896"/>
          </a:xfrm>
          <a:prstGeom prst="roundRect">
            <a:avLst>
              <a:gd name="adj" fmla="val 50000"/>
            </a:avLst>
          </a:prstGeom>
          <a:solidFill>
            <a:srgbClr val="2A3A7C"/>
          </a:solidFill>
          <a:ln/>
        </p:spPr>
      </p:sp>
      <p:sp>
        <p:nvSpPr>
          <p:cNvPr id="35" name="Text 33"/>
          <p:cNvSpPr/>
          <p:nvPr/>
        </p:nvSpPr>
        <p:spPr>
          <a:xfrm>
            <a:off x="10469880" y="4416552"/>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강의</a:t>
            </a:r>
            <a:endParaRPr lang="en-US" sz="1100" dirty="0"/>
          </a:p>
        </p:txBody>
      </p:sp>
      <p:sp>
        <p:nvSpPr>
          <p:cNvPr id="36" name="Shape 34"/>
          <p:cNvSpPr/>
          <p:nvPr/>
        </p:nvSpPr>
        <p:spPr>
          <a:xfrm>
            <a:off x="548640" y="4937760"/>
            <a:ext cx="11064240" cy="566928"/>
          </a:xfrm>
          <a:prstGeom prst="roundRect">
            <a:avLst>
              <a:gd name="adj" fmla="val 9677"/>
            </a:avLst>
          </a:prstGeom>
          <a:solidFill>
            <a:srgbClr val="EEF3FC"/>
          </a:solidFill>
          <a:ln/>
        </p:spPr>
      </p:sp>
      <p:sp>
        <p:nvSpPr>
          <p:cNvPr id="37" name="Shape 35"/>
          <p:cNvSpPr/>
          <p:nvPr/>
        </p:nvSpPr>
        <p:spPr>
          <a:xfrm>
            <a:off x="749808" y="5065776"/>
            <a:ext cx="310896" cy="310896"/>
          </a:xfrm>
          <a:prstGeom prst="ellipse">
            <a:avLst/>
          </a:prstGeom>
          <a:solidFill>
            <a:srgbClr val="1E2761"/>
          </a:solidFill>
          <a:ln/>
        </p:spPr>
      </p:sp>
      <p:sp>
        <p:nvSpPr>
          <p:cNvPr id="38" name="Text 36"/>
          <p:cNvSpPr/>
          <p:nvPr/>
        </p:nvSpPr>
        <p:spPr>
          <a:xfrm>
            <a:off x="749808" y="50657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9" name="Text 37"/>
          <p:cNvSpPr/>
          <p:nvPr/>
        </p:nvSpPr>
        <p:spPr>
          <a:xfrm>
            <a:off x="1280160" y="4937760"/>
            <a:ext cx="8778240" cy="566928"/>
          </a:xfrm>
          <a:prstGeom prst="rect">
            <a:avLst/>
          </a:prstGeom>
          <a:noFill/>
          <a:ln/>
        </p:spPr>
        <p:txBody>
          <a:bodyPr wrap="square" lIns="0" tIns="0" rIns="0" bIns="0" rtlCol="0" anchor="ctr"/>
          <a:lstStyle/>
          <a:p>
            <a:pPr indent="0" marL="0">
              <a:buNone/>
            </a:pPr>
            <a:r>
              <a:rPr lang="en-US" sz="1450" dirty="0">
                <a:solidFill>
                  <a:srgbClr val="1A1F36"/>
                </a:solidFill>
                <a:latin typeface="Calibri" pitchFamily="34" charset="0"/>
                <a:ea typeface="Calibri" pitchFamily="34" charset="-122"/>
                <a:cs typeface="Calibri" pitchFamily="34" charset="-120"/>
              </a:rPr>
              <a:t>Part 3. Phase 워크플로우 &amp; codex 리뷰 루프</a:t>
            </a:r>
            <a:endParaRPr lang="en-US" sz="1450" dirty="0"/>
          </a:p>
        </p:txBody>
      </p:sp>
      <p:sp>
        <p:nvSpPr>
          <p:cNvPr id="40" name="Shape 38"/>
          <p:cNvSpPr/>
          <p:nvPr/>
        </p:nvSpPr>
        <p:spPr>
          <a:xfrm>
            <a:off x="10469880" y="5065776"/>
            <a:ext cx="960120" cy="310896"/>
          </a:xfrm>
          <a:prstGeom prst="roundRect">
            <a:avLst>
              <a:gd name="adj" fmla="val 50000"/>
            </a:avLst>
          </a:prstGeom>
          <a:solidFill>
            <a:srgbClr val="2A3A7C"/>
          </a:solidFill>
          <a:ln/>
        </p:spPr>
      </p:sp>
      <p:sp>
        <p:nvSpPr>
          <p:cNvPr id="41" name="Text 39"/>
          <p:cNvSpPr/>
          <p:nvPr/>
        </p:nvSpPr>
        <p:spPr>
          <a:xfrm>
            <a:off x="10469880" y="5065776"/>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강의</a:t>
            </a:r>
            <a:endParaRPr lang="en-US" sz="1100" dirty="0"/>
          </a:p>
        </p:txBody>
      </p:sp>
      <p:sp>
        <p:nvSpPr>
          <p:cNvPr id="42" name="Shape 40"/>
          <p:cNvSpPr/>
          <p:nvPr/>
        </p:nvSpPr>
        <p:spPr>
          <a:xfrm>
            <a:off x="548640" y="5586984"/>
            <a:ext cx="11064240" cy="566928"/>
          </a:xfrm>
          <a:prstGeom prst="roundRect">
            <a:avLst>
              <a:gd name="adj" fmla="val 9677"/>
            </a:avLst>
          </a:prstGeom>
          <a:solidFill>
            <a:srgbClr val="EEF3FC"/>
          </a:solidFill>
          <a:ln/>
        </p:spPr>
      </p:sp>
      <p:sp>
        <p:nvSpPr>
          <p:cNvPr id="43" name="Shape 41"/>
          <p:cNvSpPr/>
          <p:nvPr/>
        </p:nvSpPr>
        <p:spPr>
          <a:xfrm>
            <a:off x="749808" y="5715000"/>
            <a:ext cx="310896" cy="310896"/>
          </a:xfrm>
          <a:prstGeom prst="ellipse">
            <a:avLst/>
          </a:prstGeom>
          <a:solidFill>
            <a:srgbClr val="1E2761"/>
          </a:solidFill>
          <a:ln/>
        </p:spPr>
      </p:sp>
      <p:sp>
        <p:nvSpPr>
          <p:cNvPr id="44" name="Text 42"/>
          <p:cNvSpPr/>
          <p:nvPr/>
        </p:nvSpPr>
        <p:spPr>
          <a:xfrm>
            <a:off x="749808" y="57150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5" name="Text 43"/>
          <p:cNvSpPr/>
          <p:nvPr/>
        </p:nvSpPr>
        <p:spPr>
          <a:xfrm>
            <a:off x="1280160" y="5586984"/>
            <a:ext cx="8778240" cy="566928"/>
          </a:xfrm>
          <a:prstGeom prst="rect">
            <a:avLst/>
          </a:prstGeom>
          <a:noFill/>
          <a:ln/>
        </p:spPr>
        <p:txBody>
          <a:bodyPr wrap="square" lIns="0" tIns="0" rIns="0" bIns="0" rtlCol="0" anchor="ctr"/>
          <a:lstStyle/>
          <a:p>
            <a:pPr indent="0" marL="0">
              <a:buNone/>
            </a:pPr>
            <a:r>
              <a:rPr lang="en-US" sz="1450" dirty="0">
                <a:solidFill>
                  <a:srgbClr val="1A1F36"/>
                </a:solidFill>
                <a:latin typeface="Calibri" pitchFamily="34" charset="0"/>
                <a:ea typeface="Calibri" pitchFamily="34" charset="-122"/>
                <a:cs typeface="Calibri" pitchFamily="34" charset="-120"/>
              </a:rPr>
              <a:t>미니실습 2. Phase 게이트 체크리스트 만들기</a:t>
            </a:r>
            <a:endParaRPr lang="en-US" sz="1450" dirty="0"/>
          </a:p>
        </p:txBody>
      </p:sp>
      <p:sp>
        <p:nvSpPr>
          <p:cNvPr id="46" name="Shape 44"/>
          <p:cNvSpPr/>
          <p:nvPr/>
        </p:nvSpPr>
        <p:spPr>
          <a:xfrm>
            <a:off x="10469880" y="5715000"/>
            <a:ext cx="960120" cy="310896"/>
          </a:xfrm>
          <a:prstGeom prst="roundRect">
            <a:avLst>
              <a:gd name="adj" fmla="val 50000"/>
            </a:avLst>
          </a:prstGeom>
          <a:solidFill>
            <a:srgbClr val="02C39A"/>
          </a:solidFill>
          <a:ln/>
        </p:spPr>
      </p:sp>
      <p:sp>
        <p:nvSpPr>
          <p:cNvPr id="47" name="Text 45"/>
          <p:cNvSpPr/>
          <p:nvPr/>
        </p:nvSpPr>
        <p:spPr>
          <a:xfrm>
            <a:off x="10469880" y="5715000"/>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실습</a:t>
            </a:r>
            <a:endParaRPr lang="en-US" sz="1100" dirty="0"/>
          </a:p>
        </p:txBody>
      </p:sp>
      <p:sp>
        <p:nvSpPr>
          <p:cNvPr id="48" name="Shape 46"/>
          <p:cNvSpPr/>
          <p:nvPr/>
        </p:nvSpPr>
        <p:spPr>
          <a:xfrm>
            <a:off x="548640" y="6236208"/>
            <a:ext cx="11064240" cy="566928"/>
          </a:xfrm>
          <a:prstGeom prst="roundRect">
            <a:avLst>
              <a:gd name="adj" fmla="val 9677"/>
            </a:avLst>
          </a:prstGeom>
          <a:solidFill>
            <a:srgbClr val="EEF3FC"/>
          </a:solidFill>
          <a:ln/>
        </p:spPr>
      </p:sp>
      <p:sp>
        <p:nvSpPr>
          <p:cNvPr id="49" name="Shape 47"/>
          <p:cNvSpPr/>
          <p:nvPr/>
        </p:nvSpPr>
        <p:spPr>
          <a:xfrm>
            <a:off x="749808" y="6364224"/>
            <a:ext cx="310896" cy="310896"/>
          </a:xfrm>
          <a:prstGeom prst="ellipse">
            <a:avLst/>
          </a:prstGeom>
          <a:solidFill>
            <a:srgbClr val="1E2761"/>
          </a:solidFill>
          <a:ln/>
        </p:spPr>
      </p:sp>
      <p:sp>
        <p:nvSpPr>
          <p:cNvPr id="50" name="Text 48"/>
          <p:cNvSpPr/>
          <p:nvPr/>
        </p:nvSpPr>
        <p:spPr>
          <a:xfrm>
            <a:off x="749808" y="636422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51" name="Text 49"/>
          <p:cNvSpPr/>
          <p:nvPr/>
        </p:nvSpPr>
        <p:spPr>
          <a:xfrm>
            <a:off x="1280160" y="6236208"/>
            <a:ext cx="8778240" cy="566928"/>
          </a:xfrm>
          <a:prstGeom prst="rect">
            <a:avLst/>
          </a:prstGeom>
          <a:noFill/>
          <a:ln/>
        </p:spPr>
        <p:txBody>
          <a:bodyPr wrap="square" lIns="0" tIns="0" rIns="0" bIns="0" rtlCol="0" anchor="ctr"/>
          <a:lstStyle/>
          <a:p>
            <a:pPr indent="0" marL="0">
              <a:buNone/>
            </a:pPr>
            <a:r>
              <a:rPr lang="en-US" sz="1450" dirty="0">
                <a:solidFill>
                  <a:srgbClr val="1A1F36"/>
                </a:solidFill>
                <a:latin typeface="Calibri" pitchFamily="34" charset="0"/>
                <a:ea typeface="Calibri" pitchFamily="34" charset="-122"/>
                <a:cs typeface="Calibri" pitchFamily="34" charset="-120"/>
              </a:rPr>
              <a:t>종합 질의응답 &amp; 마무리</a:t>
            </a:r>
            <a:endParaRPr lang="en-US" sz="1450" dirty="0"/>
          </a:p>
        </p:txBody>
      </p:sp>
      <p:sp>
        <p:nvSpPr>
          <p:cNvPr id="52" name="Shape 50"/>
          <p:cNvSpPr/>
          <p:nvPr/>
        </p:nvSpPr>
        <p:spPr>
          <a:xfrm>
            <a:off x="10469880" y="6364224"/>
            <a:ext cx="960120" cy="310896"/>
          </a:xfrm>
          <a:prstGeom prst="roundRect">
            <a:avLst>
              <a:gd name="adj" fmla="val 50000"/>
            </a:avLst>
          </a:prstGeom>
          <a:solidFill>
            <a:srgbClr val="E8A13A"/>
          </a:solidFill>
          <a:ln/>
        </p:spPr>
      </p:sp>
      <p:sp>
        <p:nvSpPr>
          <p:cNvPr id="53" name="Text 51"/>
          <p:cNvSpPr/>
          <p:nvPr/>
        </p:nvSpPr>
        <p:spPr>
          <a:xfrm>
            <a:off x="10469880" y="6364224"/>
            <a:ext cx="9601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Q&amp;A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LEARNING GOALS</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오늘 가져가실 4가지</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Shape 4"/>
          <p:cNvSpPr/>
          <p:nvPr/>
        </p:nvSpPr>
        <p:spPr>
          <a:xfrm>
            <a:off x="548640" y="1783080"/>
            <a:ext cx="5349240" cy="2148840"/>
          </a:xfrm>
          <a:prstGeom prst="roundRect">
            <a:avLst>
              <a:gd name="adj" fmla="val 4255"/>
            </a:avLst>
          </a:prstGeom>
          <a:solidFill>
            <a:srgbClr val="EEF3FC"/>
          </a:solidFill>
          <a:ln/>
          <a:effectLst>
            <a:outerShdw sx="100000" sy="100000" kx="0" ky="0" algn="bl" rotWithShape="0" blurRad="114300" dist="38100" dir="5400000">
              <a:srgbClr val="1A1F36">
                <a:alpha val="16000"/>
              </a:srgbClr>
            </a:outerShdw>
          </a:effectLst>
        </p:spPr>
      </p:sp>
      <p:sp>
        <p:nvSpPr>
          <p:cNvPr id="7" name="Shape 5"/>
          <p:cNvSpPr/>
          <p:nvPr/>
        </p:nvSpPr>
        <p:spPr>
          <a:xfrm>
            <a:off x="868680" y="2130552"/>
            <a:ext cx="868680" cy="868680"/>
          </a:xfrm>
          <a:prstGeom prst="ellipse">
            <a:avLst/>
          </a:prstGeom>
          <a:solidFill>
            <a:srgbClr val="02C39A"/>
          </a:solidFill>
          <a:ln/>
        </p:spPr>
      </p:sp>
      <p:pic>
        <p:nvPicPr>
          <p:cNvPr id="8" name="Image 0" descr="preencoded.png">    </p:cNvPr>
          <p:cNvPicPr>
            <a:picLocks noChangeAspect="1"/>
          </p:cNvPicPr>
          <p:nvPr/>
        </p:nvPicPr>
        <p:blipFill>
          <a:blip r:embed="rId1"/>
          <a:stretch>
            <a:fillRect/>
          </a:stretch>
        </p:blipFill>
        <p:spPr>
          <a:xfrm>
            <a:off x="1078992" y="2340864"/>
            <a:ext cx="448056" cy="448056"/>
          </a:xfrm>
          <a:prstGeom prst="rect">
            <a:avLst/>
          </a:prstGeom>
        </p:spPr>
      </p:pic>
      <p:sp>
        <p:nvSpPr>
          <p:cNvPr id="9" name="Text 6"/>
          <p:cNvSpPr/>
          <p:nvPr/>
        </p:nvSpPr>
        <p:spPr>
          <a:xfrm>
            <a:off x="1965960" y="2148840"/>
            <a:ext cx="3749040" cy="8229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'기계검증' 거버넌스</a:t>
            </a:r>
            <a:endParaRPr lang="en-US" sz="1900" dirty="0"/>
          </a:p>
        </p:txBody>
      </p:sp>
      <p:sp>
        <p:nvSpPr>
          <p:cNvPr id="10" name="Text 7"/>
          <p:cNvSpPr/>
          <p:nvPr/>
        </p:nvSpPr>
        <p:spPr>
          <a:xfrm>
            <a:off x="914400" y="3017520"/>
            <a:ext cx="4663440" cy="777240"/>
          </a:xfrm>
          <a:prstGeom prst="rect">
            <a:avLst/>
          </a:prstGeom>
          <a:noFill/>
          <a:ln/>
        </p:spPr>
        <p:txBody>
          <a:bodyPr wrap="square" lIns="0" tIns="0" rIns="0" bIns="0" rtlCol="0" anchor="ctr"/>
          <a:lstStyle/>
          <a:p>
            <a:pPr indent="0" marL="0">
              <a:lnSpc>
                <a:spcPct val="104000"/>
              </a:lnSpc>
              <a:buNone/>
            </a:pPr>
            <a:r>
              <a:rPr lang="en-US" sz="1300" dirty="0">
                <a:solidFill>
                  <a:srgbClr val="5A6480"/>
                </a:solidFill>
                <a:latin typeface="Calibri" pitchFamily="34" charset="0"/>
                <a:ea typeface="Calibri" pitchFamily="34" charset="-122"/>
                <a:cs typeface="Calibri" pitchFamily="34" charset="-120"/>
              </a:rPr>
              <a:t>주관적 '잘 됐다' 대신, 복붙 실행 가능한 명령과 출력 증거로 완료를 입증하는 원리를 이해한다.</a:t>
            </a:r>
            <a:endParaRPr lang="en-US" sz="1300" dirty="0"/>
          </a:p>
        </p:txBody>
      </p:sp>
      <p:sp>
        <p:nvSpPr>
          <p:cNvPr id="11" name="Shape 8"/>
          <p:cNvSpPr/>
          <p:nvPr/>
        </p:nvSpPr>
        <p:spPr>
          <a:xfrm>
            <a:off x="6172200" y="1783080"/>
            <a:ext cx="5349240" cy="2148840"/>
          </a:xfrm>
          <a:prstGeom prst="roundRect">
            <a:avLst>
              <a:gd name="adj" fmla="val 4255"/>
            </a:avLst>
          </a:prstGeom>
          <a:solidFill>
            <a:srgbClr val="EEF3FC"/>
          </a:solidFill>
          <a:ln/>
          <a:effectLst>
            <a:outerShdw sx="100000" sy="100000" kx="0" ky="0" algn="bl" rotWithShape="0" blurRad="114300" dist="38100" dir="5400000">
              <a:srgbClr val="1A1F36">
                <a:alpha val="16000"/>
              </a:srgbClr>
            </a:outerShdw>
          </a:effectLst>
        </p:spPr>
      </p:sp>
      <p:sp>
        <p:nvSpPr>
          <p:cNvPr id="12" name="Shape 9"/>
          <p:cNvSpPr/>
          <p:nvPr/>
        </p:nvSpPr>
        <p:spPr>
          <a:xfrm>
            <a:off x="6492240" y="2130552"/>
            <a:ext cx="868680" cy="868680"/>
          </a:xfrm>
          <a:prstGeom prst="ellipse">
            <a:avLst/>
          </a:prstGeom>
          <a:solidFill>
            <a:srgbClr val="2A3A7C"/>
          </a:solidFill>
          <a:ln/>
        </p:spPr>
      </p:sp>
      <p:pic>
        <p:nvPicPr>
          <p:cNvPr id="13" name="Image 1" descr="preencoded.png">    </p:cNvPr>
          <p:cNvPicPr>
            <a:picLocks noChangeAspect="1"/>
          </p:cNvPicPr>
          <p:nvPr/>
        </p:nvPicPr>
        <p:blipFill>
          <a:blip r:embed="rId2"/>
          <a:stretch>
            <a:fillRect/>
          </a:stretch>
        </p:blipFill>
        <p:spPr>
          <a:xfrm>
            <a:off x="6702552" y="2340864"/>
            <a:ext cx="448056" cy="448056"/>
          </a:xfrm>
          <a:prstGeom prst="rect">
            <a:avLst/>
          </a:prstGeom>
        </p:spPr>
      </p:pic>
      <p:sp>
        <p:nvSpPr>
          <p:cNvPr id="14" name="Text 10"/>
          <p:cNvSpPr/>
          <p:nvPr/>
        </p:nvSpPr>
        <p:spPr>
          <a:xfrm>
            <a:off x="7589520" y="2148840"/>
            <a:ext cx="3749040" cy="8229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역할 분리 &amp; 교차검증</a:t>
            </a:r>
            <a:endParaRPr lang="en-US" sz="1900" dirty="0"/>
          </a:p>
        </p:txBody>
      </p:sp>
      <p:sp>
        <p:nvSpPr>
          <p:cNvPr id="15" name="Text 11"/>
          <p:cNvSpPr/>
          <p:nvPr/>
        </p:nvSpPr>
        <p:spPr>
          <a:xfrm>
            <a:off x="6537960" y="3017520"/>
            <a:ext cx="4663440" cy="777240"/>
          </a:xfrm>
          <a:prstGeom prst="rect">
            <a:avLst/>
          </a:prstGeom>
          <a:noFill/>
          <a:ln/>
        </p:spPr>
        <p:txBody>
          <a:bodyPr wrap="square" lIns="0" tIns="0" rIns="0" bIns="0" rtlCol="0" anchor="ctr"/>
          <a:lstStyle/>
          <a:p>
            <a:pPr indent="0" marL="0">
              <a:lnSpc>
                <a:spcPct val="104000"/>
              </a:lnSpc>
              <a:buNone/>
            </a:pPr>
            <a:r>
              <a:rPr lang="en-US" sz="1300" dirty="0">
                <a:solidFill>
                  <a:srgbClr val="5A6480"/>
                </a:solidFill>
                <a:latin typeface="Calibri" pitchFamily="34" charset="0"/>
                <a:ea typeface="Calibri" pitchFamily="34" charset="-122"/>
                <a:cs typeface="Calibri" pitchFamily="34" charset="-120"/>
              </a:rPr>
              <a:t>Planner·Reviewer·Implementor·Tester 분리와 다중모델 교차검증으로 품질을 끌어올리는 구조를 배운다.</a:t>
            </a:r>
            <a:endParaRPr lang="en-US" sz="1300" dirty="0"/>
          </a:p>
        </p:txBody>
      </p:sp>
      <p:sp>
        <p:nvSpPr>
          <p:cNvPr id="16" name="Shape 12"/>
          <p:cNvSpPr/>
          <p:nvPr/>
        </p:nvSpPr>
        <p:spPr>
          <a:xfrm>
            <a:off x="548640" y="4160520"/>
            <a:ext cx="5349240" cy="2148840"/>
          </a:xfrm>
          <a:prstGeom prst="roundRect">
            <a:avLst>
              <a:gd name="adj" fmla="val 4255"/>
            </a:avLst>
          </a:prstGeom>
          <a:solidFill>
            <a:srgbClr val="EEF3FC"/>
          </a:solidFill>
          <a:ln/>
          <a:effectLst>
            <a:outerShdw sx="100000" sy="100000" kx="0" ky="0" algn="bl" rotWithShape="0" blurRad="114300" dist="38100" dir="5400000">
              <a:srgbClr val="1A1F36">
                <a:alpha val="16000"/>
              </a:srgbClr>
            </a:outerShdw>
          </a:effectLst>
        </p:spPr>
      </p:sp>
      <p:sp>
        <p:nvSpPr>
          <p:cNvPr id="17" name="Shape 13"/>
          <p:cNvSpPr/>
          <p:nvPr/>
        </p:nvSpPr>
        <p:spPr>
          <a:xfrm>
            <a:off x="868680" y="4507992"/>
            <a:ext cx="868680" cy="868680"/>
          </a:xfrm>
          <a:prstGeom prst="ellipse">
            <a:avLst/>
          </a:prstGeom>
          <a:solidFill>
            <a:srgbClr val="E8A13A"/>
          </a:solidFill>
          <a:ln/>
        </p:spPr>
      </p:sp>
      <p:pic>
        <p:nvPicPr>
          <p:cNvPr id="18" name="Image 2" descr="preencoded.png">    </p:cNvPr>
          <p:cNvPicPr>
            <a:picLocks noChangeAspect="1"/>
          </p:cNvPicPr>
          <p:nvPr/>
        </p:nvPicPr>
        <p:blipFill>
          <a:blip r:embed="rId3"/>
          <a:stretch>
            <a:fillRect/>
          </a:stretch>
        </p:blipFill>
        <p:spPr>
          <a:xfrm>
            <a:off x="1078992" y="4718304"/>
            <a:ext cx="448056" cy="448056"/>
          </a:xfrm>
          <a:prstGeom prst="rect">
            <a:avLst/>
          </a:prstGeom>
        </p:spPr>
      </p:pic>
      <p:sp>
        <p:nvSpPr>
          <p:cNvPr id="19" name="Text 14"/>
          <p:cNvSpPr/>
          <p:nvPr/>
        </p:nvSpPr>
        <p:spPr>
          <a:xfrm>
            <a:off x="1965960" y="4526280"/>
            <a:ext cx="3749040" cy="8229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Phase 닫힌 게이트</a:t>
            </a:r>
            <a:endParaRPr lang="en-US" sz="1900" dirty="0"/>
          </a:p>
        </p:txBody>
      </p:sp>
      <p:sp>
        <p:nvSpPr>
          <p:cNvPr id="20" name="Text 15"/>
          <p:cNvSpPr/>
          <p:nvPr/>
        </p:nvSpPr>
        <p:spPr>
          <a:xfrm>
            <a:off x="914400" y="5394960"/>
            <a:ext cx="4663440" cy="777240"/>
          </a:xfrm>
          <a:prstGeom prst="rect">
            <a:avLst/>
          </a:prstGeom>
          <a:noFill/>
          <a:ln/>
        </p:spPr>
        <p:txBody>
          <a:bodyPr wrap="square" lIns="0" tIns="0" rIns="0" bIns="0" rtlCol="0" anchor="ctr"/>
          <a:lstStyle/>
          <a:p>
            <a:pPr indent="0" marL="0">
              <a:lnSpc>
                <a:spcPct val="104000"/>
              </a:lnSpc>
              <a:buNone/>
            </a:pPr>
            <a:r>
              <a:rPr lang="en-US" sz="1300" dirty="0">
                <a:solidFill>
                  <a:srgbClr val="5A6480"/>
                </a:solidFill>
                <a:latin typeface="Calibri" pitchFamily="34" charset="0"/>
                <a:ea typeface="Calibri" pitchFamily="34" charset="-122"/>
                <a:cs typeface="Calibri" pitchFamily="34" charset="-120"/>
              </a:rPr>
              <a:t>구현→테스트→리뷰→수정→회고→통합 사이클이 어떻게 작은 단위로 안전하게 굴러가는지 익힌다.</a:t>
            </a:r>
            <a:endParaRPr lang="en-US" sz="1300" dirty="0"/>
          </a:p>
        </p:txBody>
      </p:sp>
      <p:sp>
        <p:nvSpPr>
          <p:cNvPr id="21" name="Shape 16"/>
          <p:cNvSpPr/>
          <p:nvPr/>
        </p:nvSpPr>
        <p:spPr>
          <a:xfrm>
            <a:off x="6172200" y="4160520"/>
            <a:ext cx="5349240" cy="2148840"/>
          </a:xfrm>
          <a:prstGeom prst="roundRect">
            <a:avLst>
              <a:gd name="adj" fmla="val 4255"/>
            </a:avLst>
          </a:prstGeom>
          <a:solidFill>
            <a:srgbClr val="EEF3FC"/>
          </a:solidFill>
          <a:ln/>
          <a:effectLst>
            <a:outerShdw sx="100000" sy="100000" kx="0" ky="0" algn="bl" rotWithShape="0" blurRad="114300" dist="38100" dir="5400000">
              <a:srgbClr val="1A1F36">
                <a:alpha val="16000"/>
              </a:srgbClr>
            </a:outerShdw>
          </a:effectLst>
        </p:spPr>
      </p:sp>
      <p:sp>
        <p:nvSpPr>
          <p:cNvPr id="22" name="Shape 17"/>
          <p:cNvSpPr/>
          <p:nvPr/>
        </p:nvSpPr>
        <p:spPr>
          <a:xfrm>
            <a:off x="6492240" y="4507992"/>
            <a:ext cx="868680" cy="868680"/>
          </a:xfrm>
          <a:prstGeom prst="ellipse">
            <a:avLst/>
          </a:prstGeom>
          <a:solidFill>
            <a:srgbClr val="E0586B"/>
          </a:solidFill>
          <a:ln/>
        </p:spPr>
      </p:sp>
      <p:pic>
        <p:nvPicPr>
          <p:cNvPr id="23" name="Image 3" descr="preencoded.png">    </p:cNvPr>
          <p:cNvPicPr>
            <a:picLocks noChangeAspect="1"/>
          </p:cNvPicPr>
          <p:nvPr/>
        </p:nvPicPr>
        <p:blipFill>
          <a:blip r:embed="rId4"/>
          <a:stretch>
            <a:fillRect/>
          </a:stretch>
        </p:blipFill>
        <p:spPr>
          <a:xfrm>
            <a:off x="6702552" y="4718304"/>
            <a:ext cx="448056" cy="448056"/>
          </a:xfrm>
          <a:prstGeom prst="rect">
            <a:avLst/>
          </a:prstGeom>
        </p:spPr>
      </p:pic>
      <p:sp>
        <p:nvSpPr>
          <p:cNvPr id="24" name="Text 18"/>
          <p:cNvSpPr/>
          <p:nvPr/>
        </p:nvSpPr>
        <p:spPr>
          <a:xfrm>
            <a:off x="7589520" y="4526280"/>
            <a:ext cx="3749040" cy="82296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인간 게이트 설계</a:t>
            </a:r>
            <a:endParaRPr lang="en-US" sz="1900" dirty="0"/>
          </a:p>
        </p:txBody>
      </p:sp>
      <p:sp>
        <p:nvSpPr>
          <p:cNvPr id="25" name="Text 19"/>
          <p:cNvSpPr/>
          <p:nvPr/>
        </p:nvSpPr>
        <p:spPr>
          <a:xfrm>
            <a:off x="6537960" y="5394960"/>
            <a:ext cx="4663440" cy="777240"/>
          </a:xfrm>
          <a:prstGeom prst="rect">
            <a:avLst/>
          </a:prstGeom>
          <a:noFill/>
          <a:ln/>
        </p:spPr>
        <p:txBody>
          <a:bodyPr wrap="square" lIns="0" tIns="0" rIns="0" bIns="0" rtlCol="0" anchor="ctr"/>
          <a:lstStyle/>
          <a:p>
            <a:pPr indent="0" marL="0">
              <a:lnSpc>
                <a:spcPct val="104000"/>
              </a:lnSpc>
              <a:buNone/>
            </a:pPr>
            <a:r>
              <a:rPr lang="en-US" sz="1300" dirty="0">
                <a:solidFill>
                  <a:srgbClr val="5A6480"/>
                </a:solidFill>
                <a:latin typeface="Calibri" pitchFamily="34" charset="0"/>
                <a:ea typeface="Calibri" pitchFamily="34" charset="-122"/>
                <a:cs typeface="Calibri" pitchFamily="34" charset="-120"/>
              </a:rPr>
              <a:t>에스컬레이션·보호 파일·인간 승인이 어디에 들어가야 하는지, 우리 팀에 적용할 감을 잡는다.</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82880" y="1463040"/>
            <a:ext cx="5486400" cy="4114800"/>
          </a:xfrm>
          <a:prstGeom prst="rect">
            <a:avLst/>
          </a:prstGeom>
          <a:noFill/>
          <a:ln/>
        </p:spPr>
        <p:txBody>
          <a:bodyPr wrap="square" lIns="0" tIns="0" rIns="0" bIns="0" rtlCol="0" anchor="ctr"/>
          <a:lstStyle/>
          <a:p>
            <a:pPr algn="l" indent="0" marL="0">
              <a:buNone/>
            </a:pPr>
            <a:r>
              <a:rPr lang="en-US" sz="23000" b="1" dirty="0">
                <a:solidFill>
                  <a:srgbClr val="2A3A7C"/>
                </a:solidFill>
                <a:latin typeface="Cambria" pitchFamily="34" charset="0"/>
                <a:ea typeface="Cambria" pitchFamily="34" charset="-122"/>
                <a:cs typeface="Cambria" pitchFamily="34" charset="-120"/>
              </a:rPr>
              <a:t>PART 0</a:t>
            </a:r>
            <a:endParaRPr lang="en-US" sz="23000" dirty="0"/>
          </a:p>
        </p:txBody>
      </p:sp>
      <p:sp>
        <p:nvSpPr>
          <p:cNvPr id="3" name="Text 1"/>
          <p:cNvSpPr/>
          <p:nvPr/>
        </p:nvSpPr>
        <p:spPr>
          <a:xfrm>
            <a:off x="822960" y="2194560"/>
            <a:ext cx="5486400" cy="548640"/>
          </a:xfrm>
          <a:prstGeom prst="rect">
            <a:avLst/>
          </a:prstGeom>
          <a:noFill/>
          <a:ln/>
        </p:spPr>
        <p:txBody>
          <a:bodyPr wrap="square" lIns="0" tIns="0" rIns="0" bIns="0" rtlCol="0" anchor="ctr"/>
          <a:lstStyle/>
          <a:p>
            <a:pPr indent="0" marL="0">
              <a:buNone/>
            </a:pPr>
            <a:r>
              <a:rPr lang="en-US" sz="1800" b="1" spc="300" kern="0" dirty="0">
                <a:solidFill>
                  <a:srgbClr val="02C39A"/>
                </a:solidFill>
                <a:latin typeface="Calibri" pitchFamily="34" charset="0"/>
                <a:ea typeface="Calibri" pitchFamily="34" charset="-122"/>
                <a:cs typeface="Calibri" pitchFamily="34" charset="-120"/>
              </a:rPr>
              <a:t>Part 0</a:t>
            </a:r>
            <a:endParaRPr lang="en-US" sz="1800" dirty="0"/>
          </a:p>
        </p:txBody>
      </p:sp>
      <p:sp>
        <p:nvSpPr>
          <p:cNvPr id="4" name="Text 2"/>
          <p:cNvSpPr/>
          <p:nvPr/>
        </p:nvSpPr>
        <p:spPr>
          <a:xfrm>
            <a:off x="822960" y="2697480"/>
            <a:ext cx="1005840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왜 이 방법론인가</a:t>
            </a:r>
            <a:endParaRPr lang="en-US" sz="4400" dirty="0"/>
          </a:p>
        </p:txBody>
      </p:sp>
      <p:sp>
        <p:nvSpPr>
          <p:cNvPr id="5" name="Text 3"/>
          <p:cNvSpPr/>
          <p:nvPr/>
        </p:nvSpPr>
        <p:spPr>
          <a:xfrm>
            <a:off x="868680" y="4114800"/>
            <a:ext cx="9601200" cy="109728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AI에게 코드를 맡길 때, 무엇이 '완료'를 보장하는가?</a:t>
            </a:r>
            <a:endParaRPr lang="en-US" sz="1800" dirty="0"/>
          </a:p>
        </p:txBody>
      </p:sp>
      <p:sp>
        <p:nvSpPr>
          <p:cNvPr id="6" name="Shape 4"/>
          <p:cNvSpPr/>
          <p:nvPr/>
        </p:nvSpPr>
        <p:spPr>
          <a:xfrm>
            <a:off x="868680" y="5212080"/>
            <a:ext cx="1828800" cy="457200"/>
          </a:xfrm>
          <a:prstGeom prst="roundRect">
            <a:avLst>
              <a:gd name="adj" fmla="val 50000"/>
            </a:avLst>
          </a:prstGeom>
          <a:solidFill>
            <a:srgbClr val="02C39A"/>
          </a:solidFill>
          <a:ln/>
        </p:spPr>
      </p:sp>
      <p:sp>
        <p:nvSpPr>
          <p:cNvPr id="7" name="Text 5"/>
          <p:cNvSpPr/>
          <p:nvPr/>
        </p:nvSpPr>
        <p:spPr>
          <a:xfrm>
            <a:off x="868680" y="5212080"/>
            <a:ext cx="1828800" cy="45720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강의</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PROBLEM</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AI 코딩의 진짜 문제는 '신뢰'다</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Text 4"/>
          <p:cNvSpPr/>
          <p:nvPr/>
        </p:nvSpPr>
        <p:spPr>
          <a:xfrm>
            <a:off x="548640" y="1554480"/>
            <a:ext cx="10972800" cy="548640"/>
          </a:xfrm>
          <a:prstGeom prst="rect">
            <a:avLst/>
          </a:prstGeom>
          <a:noFill/>
          <a:ln/>
        </p:spPr>
        <p:txBody>
          <a:bodyPr wrap="square" lIns="0" tIns="0" rIns="0" bIns="0" rtlCol="0" anchor="ctr"/>
          <a:lstStyle/>
          <a:p>
            <a:pPr indent="0" marL="0">
              <a:buNone/>
            </a:pPr>
            <a:r>
              <a:rPr lang="en-US" sz="1600" i="1" dirty="0">
                <a:solidFill>
                  <a:srgbClr val="1A1F36"/>
                </a:solidFill>
                <a:latin typeface="Calibri" pitchFamily="34" charset="0"/>
                <a:ea typeface="Calibri" pitchFamily="34" charset="-122"/>
                <a:cs typeface="Calibri" pitchFamily="34" charset="-120"/>
              </a:rPr>
              <a:t>AI는 빠르게 코드를 만들지만, "잘 됐는지 확인했어요"라는 말은 아무것도 보장하지 않는다.</a:t>
            </a:r>
            <a:endParaRPr lang="en-US" sz="1600" dirty="0"/>
          </a:p>
        </p:txBody>
      </p:sp>
      <p:sp>
        <p:nvSpPr>
          <p:cNvPr id="7" name="Shape 5"/>
          <p:cNvSpPr/>
          <p:nvPr/>
        </p:nvSpPr>
        <p:spPr>
          <a:xfrm>
            <a:off x="548640" y="2331720"/>
            <a:ext cx="2697480" cy="3108960"/>
          </a:xfrm>
          <a:prstGeom prst="roundRect">
            <a:avLst>
              <a:gd name="adj" fmla="val 3390"/>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8" name="Shape 6"/>
          <p:cNvSpPr/>
          <p:nvPr/>
        </p:nvSpPr>
        <p:spPr>
          <a:xfrm>
            <a:off x="1527048" y="2606040"/>
            <a:ext cx="749808" cy="749808"/>
          </a:xfrm>
          <a:prstGeom prst="ellipse">
            <a:avLst/>
          </a:prstGeom>
          <a:solidFill>
            <a:srgbClr val="E0586B"/>
          </a:solidFill>
          <a:ln/>
        </p:spPr>
      </p:sp>
      <p:pic>
        <p:nvPicPr>
          <p:cNvPr id="9" name="Image 0" descr="preencoded.png">    </p:cNvPr>
          <p:cNvPicPr>
            <a:picLocks noChangeAspect="1"/>
          </p:cNvPicPr>
          <p:nvPr/>
        </p:nvPicPr>
        <p:blipFill>
          <a:blip r:embed="rId1"/>
          <a:stretch>
            <a:fillRect/>
          </a:stretch>
        </p:blipFill>
        <p:spPr>
          <a:xfrm>
            <a:off x="1709928" y="2788920"/>
            <a:ext cx="384048" cy="384048"/>
          </a:xfrm>
          <a:prstGeom prst="rect">
            <a:avLst/>
          </a:prstGeom>
        </p:spPr>
      </p:pic>
      <p:sp>
        <p:nvSpPr>
          <p:cNvPr id="10" name="Text 7"/>
          <p:cNvSpPr/>
          <p:nvPr/>
        </p:nvSpPr>
        <p:spPr>
          <a:xfrm>
            <a:off x="685800" y="3520440"/>
            <a:ext cx="242316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주관적 완료</a:t>
            </a:r>
            <a:endParaRPr lang="en-US" sz="1700" dirty="0"/>
          </a:p>
        </p:txBody>
      </p:sp>
      <p:sp>
        <p:nvSpPr>
          <p:cNvPr id="11" name="Text 8"/>
          <p:cNvSpPr/>
          <p:nvPr/>
        </p:nvSpPr>
        <p:spPr>
          <a:xfrm>
            <a:off x="749808" y="4069080"/>
            <a:ext cx="2286000" cy="1280160"/>
          </a:xfrm>
          <a:prstGeom prst="rect">
            <a:avLst/>
          </a:prstGeom>
          <a:noFill/>
          <a:ln/>
        </p:spPr>
        <p:txBody>
          <a:bodyPr wrap="square" lIns="0" tIns="0" rIns="0" bIns="0" rtlCol="0" anchor="ctr"/>
          <a:lstStyle/>
          <a:p>
            <a:pPr algn="ctr" indent="0" marL="0">
              <a:lnSpc>
                <a:spcPct val="105000"/>
              </a:lnSpc>
              <a:buNone/>
            </a:pPr>
            <a:r>
              <a:rPr lang="en-US" sz="1250" dirty="0">
                <a:solidFill>
                  <a:srgbClr val="5A6480"/>
                </a:solidFill>
                <a:latin typeface="Calibri" pitchFamily="34" charset="0"/>
                <a:ea typeface="Calibri" pitchFamily="34" charset="-122"/>
                <a:cs typeface="Calibri" pitchFamily="34" charset="-120"/>
              </a:rPr>
              <a:t>'동작하는 것 같다'는 판단은 검증이 아니다. 다음 사람이 재현할 수 없다.</a:t>
            </a:r>
            <a:endParaRPr lang="en-US" sz="1250" dirty="0"/>
          </a:p>
        </p:txBody>
      </p:sp>
      <p:sp>
        <p:nvSpPr>
          <p:cNvPr id="12" name="Shape 9"/>
          <p:cNvSpPr/>
          <p:nvPr/>
        </p:nvSpPr>
        <p:spPr>
          <a:xfrm>
            <a:off x="3383280" y="2331720"/>
            <a:ext cx="2697480" cy="3108960"/>
          </a:xfrm>
          <a:prstGeom prst="roundRect">
            <a:avLst>
              <a:gd name="adj" fmla="val 3390"/>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3" name="Shape 10"/>
          <p:cNvSpPr/>
          <p:nvPr/>
        </p:nvSpPr>
        <p:spPr>
          <a:xfrm>
            <a:off x="4361688" y="2606040"/>
            <a:ext cx="749808" cy="749808"/>
          </a:xfrm>
          <a:prstGeom prst="ellipse">
            <a:avLst/>
          </a:prstGeom>
          <a:solidFill>
            <a:srgbClr val="E0586B"/>
          </a:solidFill>
          <a:ln/>
        </p:spPr>
      </p:sp>
      <p:pic>
        <p:nvPicPr>
          <p:cNvPr id="14" name="Image 1" descr="preencoded.png">    </p:cNvPr>
          <p:cNvPicPr>
            <a:picLocks noChangeAspect="1"/>
          </p:cNvPicPr>
          <p:nvPr/>
        </p:nvPicPr>
        <p:blipFill>
          <a:blip r:embed="rId2"/>
          <a:stretch>
            <a:fillRect/>
          </a:stretch>
        </p:blipFill>
        <p:spPr>
          <a:xfrm>
            <a:off x="4544568" y="2788920"/>
            <a:ext cx="384048" cy="384048"/>
          </a:xfrm>
          <a:prstGeom prst="rect">
            <a:avLst/>
          </a:prstGeom>
        </p:spPr>
      </p:pic>
      <p:sp>
        <p:nvSpPr>
          <p:cNvPr id="15" name="Text 11"/>
          <p:cNvSpPr/>
          <p:nvPr/>
        </p:nvSpPr>
        <p:spPr>
          <a:xfrm>
            <a:off x="3520440" y="3520440"/>
            <a:ext cx="242316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자기 승인</a:t>
            </a:r>
            <a:endParaRPr lang="en-US" sz="1700" dirty="0"/>
          </a:p>
        </p:txBody>
      </p:sp>
      <p:sp>
        <p:nvSpPr>
          <p:cNvPr id="16" name="Text 12"/>
          <p:cNvSpPr/>
          <p:nvPr/>
        </p:nvSpPr>
        <p:spPr>
          <a:xfrm>
            <a:off x="3584448" y="4069080"/>
            <a:ext cx="2286000" cy="1280160"/>
          </a:xfrm>
          <a:prstGeom prst="rect">
            <a:avLst/>
          </a:prstGeom>
          <a:noFill/>
          <a:ln/>
        </p:spPr>
        <p:txBody>
          <a:bodyPr wrap="square" lIns="0" tIns="0" rIns="0" bIns="0" rtlCol="0" anchor="ctr"/>
          <a:lstStyle/>
          <a:p>
            <a:pPr algn="ctr" indent="0" marL="0">
              <a:lnSpc>
                <a:spcPct val="105000"/>
              </a:lnSpc>
              <a:buNone/>
            </a:pPr>
            <a:r>
              <a:rPr lang="en-US" sz="1250" dirty="0">
                <a:solidFill>
                  <a:srgbClr val="5A6480"/>
                </a:solidFill>
                <a:latin typeface="Calibri" pitchFamily="34" charset="0"/>
                <a:ea typeface="Calibri" pitchFamily="34" charset="-122"/>
                <a:cs typeface="Calibri" pitchFamily="34" charset="-120"/>
              </a:rPr>
              <a:t>만든 주체가 스스로 'OK'를 내리면 결함이 조용히 통과된다.</a:t>
            </a:r>
            <a:endParaRPr lang="en-US" sz="1250" dirty="0"/>
          </a:p>
        </p:txBody>
      </p:sp>
      <p:sp>
        <p:nvSpPr>
          <p:cNvPr id="17" name="Shape 13"/>
          <p:cNvSpPr/>
          <p:nvPr/>
        </p:nvSpPr>
        <p:spPr>
          <a:xfrm>
            <a:off x="6217920" y="2331720"/>
            <a:ext cx="2697480" cy="3108960"/>
          </a:xfrm>
          <a:prstGeom prst="roundRect">
            <a:avLst>
              <a:gd name="adj" fmla="val 3390"/>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8" name="Shape 14"/>
          <p:cNvSpPr/>
          <p:nvPr/>
        </p:nvSpPr>
        <p:spPr>
          <a:xfrm>
            <a:off x="7196328" y="2606040"/>
            <a:ext cx="749808" cy="749808"/>
          </a:xfrm>
          <a:prstGeom prst="ellipse">
            <a:avLst/>
          </a:prstGeom>
          <a:solidFill>
            <a:srgbClr val="E0586B"/>
          </a:solidFill>
          <a:ln/>
        </p:spPr>
      </p:sp>
      <p:pic>
        <p:nvPicPr>
          <p:cNvPr id="19" name="Image 2" descr="preencoded.png">    </p:cNvPr>
          <p:cNvPicPr>
            <a:picLocks noChangeAspect="1"/>
          </p:cNvPicPr>
          <p:nvPr/>
        </p:nvPicPr>
        <p:blipFill>
          <a:blip r:embed="rId3"/>
          <a:stretch>
            <a:fillRect/>
          </a:stretch>
        </p:blipFill>
        <p:spPr>
          <a:xfrm>
            <a:off x="7379208" y="2788920"/>
            <a:ext cx="384048" cy="384048"/>
          </a:xfrm>
          <a:prstGeom prst="rect">
            <a:avLst/>
          </a:prstGeom>
        </p:spPr>
      </p:pic>
      <p:sp>
        <p:nvSpPr>
          <p:cNvPr id="20" name="Text 15"/>
          <p:cNvSpPr/>
          <p:nvPr/>
        </p:nvSpPr>
        <p:spPr>
          <a:xfrm>
            <a:off x="6355080" y="3520440"/>
            <a:ext cx="242316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범위 이탈</a:t>
            </a:r>
            <a:endParaRPr lang="en-US" sz="1700" dirty="0"/>
          </a:p>
        </p:txBody>
      </p:sp>
      <p:sp>
        <p:nvSpPr>
          <p:cNvPr id="21" name="Text 16"/>
          <p:cNvSpPr/>
          <p:nvPr/>
        </p:nvSpPr>
        <p:spPr>
          <a:xfrm>
            <a:off x="6419088" y="4069080"/>
            <a:ext cx="2286000" cy="1280160"/>
          </a:xfrm>
          <a:prstGeom prst="rect">
            <a:avLst/>
          </a:prstGeom>
          <a:noFill/>
          <a:ln/>
        </p:spPr>
        <p:txBody>
          <a:bodyPr wrap="square" lIns="0" tIns="0" rIns="0" bIns="0" rtlCol="0" anchor="ctr"/>
          <a:lstStyle/>
          <a:p>
            <a:pPr algn="ctr" indent="0" marL="0">
              <a:lnSpc>
                <a:spcPct val="105000"/>
              </a:lnSpc>
              <a:buNone/>
            </a:pPr>
            <a:r>
              <a:rPr lang="en-US" sz="1250" dirty="0">
                <a:solidFill>
                  <a:srgbClr val="5A6480"/>
                </a:solidFill>
                <a:latin typeface="Calibri" pitchFamily="34" charset="0"/>
                <a:ea typeface="Calibri" pitchFamily="34" charset="-122"/>
                <a:cs typeface="Calibri" pitchFamily="34" charset="-120"/>
              </a:rPr>
              <a:t>할당받지 않은 파일을 건드려 사이드이펙트가 새어 나온다.</a:t>
            </a:r>
            <a:endParaRPr lang="en-US" sz="1250" dirty="0"/>
          </a:p>
        </p:txBody>
      </p:sp>
      <p:sp>
        <p:nvSpPr>
          <p:cNvPr id="22" name="Shape 17"/>
          <p:cNvSpPr/>
          <p:nvPr/>
        </p:nvSpPr>
        <p:spPr>
          <a:xfrm>
            <a:off x="9052560" y="2331720"/>
            <a:ext cx="2697480" cy="3108960"/>
          </a:xfrm>
          <a:prstGeom prst="roundRect">
            <a:avLst>
              <a:gd name="adj" fmla="val 3390"/>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23" name="Shape 18"/>
          <p:cNvSpPr/>
          <p:nvPr/>
        </p:nvSpPr>
        <p:spPr>
          <a:xfrm>
            <a:off x="10030968" y="2606040"/>
            <a:ext cx="749808" cy="749808"/>
          </a:xfrm>
          <a:prstGeom prst="ellipse">
            <a:avLst/>
          </a:prstGeom>
          <a:solidFill>
            <a:srgbClr val="E0586B"/>
          </a:solidFill>
          <a:ln/>
        </p:spPr>
      </p:sp>
      <p:pic>
        <p:nvPicPr>
          <p:cNvPr id="24" name="Image 3" descr="preencoded.png">    </p:cNvPr>
          <p:cNvPicPr>
            <a:picLocks noChangeAspect="1"/>
          </p:cNvPicPr>
          <p:nvPr/>
        </p:nvPicPr>
        <p:blipFill>
          <a:blip r:embed="rId4"/>
          <a:stretch>
            <a:fillRect/>
          </a:stretch>
        </p:blipFill>
        <p:spPr>
          <a:xfrm>
            <a:off x="10213848" y="2788920"/>
            <a:ext cx="384048" cy="384048"/>
          </a:xfrm>
          <a:prstGeom prst="rect">
            <a:avLst/>
          </a:prstGeom>
        </p:spPr>
      </p:pic>
      <p:sp>
        <p:nvSpPr>
          <p:cNvPr id="25" name="Text 19"/>
          <p:cNvSpPr/>
          <p:nvPr/>
        </p:nvSpPr>
        <p:spPr>
          <a:xfrm>
            <a:off x="9189720" y="3520440"/>
            <a:ext cx="242316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무한 루프</a:t>
            </a:r>
            <a:endParaRPr lang="en-US" sz="1700" dirty="0"/>
          </a:p>
        </p:txBody>
      </p:sp>
      <p:sp>
        <p:nvSpPr>
          <p:cNvPr id="26" name="Text 20"/>
          <p:cNvSpPr/>
          <p:nvPr/>
        </p:nvSpPr>
        <p:spPr>
          <a:xfrm>
            <a:off x="9253728" y="4069080"/>
            <a:ext cx="2286000" cy="1280160"/>
          </a:xfrm>
          <a:prstGeom prst="rect">
            <a:avLst/>
          </a:prstGeom>
          <a:noFill/>
          <a:ln/>
        </p:spPr>
        <p:txBody>
          <a:bodyPr wrap="square" lIns="0" tIns="0" rIns="0" bIns="0" rtlCol="0" anchor="ctr"/>
          <a:lstStyle/>
          <a:p>
            <a:pPr algn="ctr" indent="0" marL="0">
              <a:lnSpc>
                <a:spcPct val="105000"/>
              </a:lnSpc>
              <a:buNone/>
            </a:pPr>
            <a:r>
              <a:rPr lang="en-US" sz="1250" dirty="0">
                <a:solidFill>
                  <a:srgbClr val="5A6480"/>
                </a:solidFill>
                <a:latin typeface="Calibri" pitchFamily="34" charset="0"/>
                <a:ea typeface="Calibri" pitchFamily="34" charset="-122"/>
                <a:cs typeface="Calibri" pitchFamily="34" charset="-120"/>
              </a:rPr>
              <a:t>같은 실패를 반복하며 시간을 태우고도 멈출 줄 모른다.</a:t>
            </a:r>
            <a:endParaRPr lang="en-US" sz="1250" dirty="0"/>
          </a:p>
        </p:txBody>
      </p:sp>
      <p:sp>
        <p:nvSpPr>
          <p:cNvPr id="27" name="Text 21"/>
          <p:cNvSpPr/>
          <p:nvPr/>
        </p:nvSpPr>
        <p:spPr>
          <a:xfrm>
            <a:off x="548640" y="5715000"/>
            <a:ext cx="10972800" cy="548640"/>
          </a:xfrm>
          <a:prstGeom prst="rect">
            <a:avLst/>
          </a:prstGeom>
          <a:noFill/>
          <a:ln/>
        </p:spPr>
        <p:txBody>
          <a:bodyPr wrap="square" lIns="0" tIns="0" rIns="0" bIns="0" rtlCol="0" anchor="ctr"/>
          <a:lstStyle/>
          <a:p>
            <a:pPr algn="ctr" indent="0" marL="0">
              <a:buNone/>
            </a:pPr>
            <a:r>
              <a:rPr lang="en-US" sz="1550" b="1" dirty="0">
                <a:solidFill>
                  <a:srgbClr val="1E2761"/>
                </a:solidFill>
                <a:latin typeface="Calibri" pitchFamily="34" charset="0"/>
                <a:ea typeface="Calibri" pitchFamily="34" charset="-122"/>
                <a:cs typeface="Calibri" pitchFamily="34" charset="-120"/>
              </a:rPr>
              <a:t>이 방법론의 답:  </a:t>
            </a:r>
            <a:pPr algn="ctr" indent="0" marL="0">
              <a:buNone/>
            </a:pPr>
            <a:r>
              <a:rPr lang="en-US" sz="1550" dirty="0">
                <a:solidFill>
                  <a:srgbClr val="1A1F36"/>
                </a:solidFill>
                <a:latin typeface="Calibri" pitchFamily="34" charset="0"/>
                <a:ea typeface="Calibri" pitchFamily="34" charset="-122"/>
                <a:cs typeface="Calibri" pitchFamily="34" charset="-120"/>
              </a:rPr>
              <a:t>모든 규칙을 '약속'이 아니라 </a:t>
            </a:r>
            <a:pPr algn="ctr" indent="0" marL="0">
              <a:buNone/>
            </a:pPr>
            <a:r>
              <a:rPr lang="en-US" sz="1550" b="1" dirty="0">
                <a:solidFill>
                  <a:srgbClr val="02C39A"/>
                </a:solidFill>
                <a:latin typeface="Calibri" pitchFamily="34" charset="0"/>
                <a:ea typeface="Calibri" pitchFamily="34" charset="-122"/>
                <a:cs typeface="Calibri" pitchFamily="34" charset="-120"/>
              </a:rPr>
              <a:t>기계가 검증 가능한 명령</a:t>
            </a:r>
            <a:pPr algn="ctr" indent="0" marL="0">
              <a:buNone/>
            </a:pPr>
            <a:r>
              <a:rPr lang="en-US" sz="1550" dirty="0">
                <a:solidFill>
                  <a:srgbClr val="1A1F36"/>
                </a:solidFill>
                <a:latin typeface="Calibri" pitchFamily="34" charset="0"/>
                <a:ea typeface="Calibri" pitchFamily="34" charset="-122"/>
                <a:cs typeface="Calibri" pitchFamily="34" charset="-120"/>
              </a:rPr>
              <a:t>으로 환원한다.</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CASE STUDY</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사례 프로젝트 — 게시판 시스템 한눈에</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Text 4"/>
          <p:cNvSpPr/>
          <p:nvPr/>
        </p:nvSpPr>
        <p:spPr>
          <a:xfrm>
            <a:off x="548640" y="1554480"/>
            <a:ext cx="10972800" cy="502920"/>
          </a:xfrm>
          <a:prstGeom prst="rect">
            <a:avLst/>
          </a:prstGeom>
          <a:noFill/>
          <a:ln/>
        </p:spPr>
        <p:txBody>
          <a:bodyPr wrap="square" lIns="0" tIns="0" rIns="0" bIns="0" rtlCol="0" anchor="ctr"/>
          <a:lstStyle/>
          <a:p>
            <a:pPr indent="0" marL="0">
              <a:buNone/>
            </a:pPr>
            <a:r>
              <a:rPr lang="en-US" sz="1500" dirty="0">
                <a:solidFill>
                  <a:srgbClr val="1A1F36"/>
                </a:solidFill>
                <a:latin typeface="Calibri" pitchFamily="34" charset="0"/>
                <a:ea typeface="Calibri" pitchFamily="34" charset="-122"/>
                <a:cs typeface="Calibri" pitchFamily="34" charset="-120"/>
              </a:rPr>
              <a:t>일반 사용자/관리자가 분리된 게시판. 공지·일반·이미지 보드별로 권한과 동작이 분기되는 풀스택 시스템.</a:t>
            </a:r>
            <a:endParaRPr lang="en-US" sz="1500" dirty="0"/>
          </a:p>
        </p:txBody>
      </p:sp>
      <p:sp>
        <p:nvSpPr>
          <p:cNvPr id="7" name="Shape 5"/>
          <p:cNvSpPr/>
          <p:nvPr/>
        </p:nvSpPr>
        <p:spPr>
          <a:xfrm>
            <a:off x="548640" y="2240280"/>
            <a:ext cx="5486400" cy="3383280"/>
          </a:xfrm>
          <a:prstGeom prst="roundRect">
            <a:avLst>
              <a:gd name="adj" fmla="val 2703"/>
            </a:avLst>
          </a:prstGeom>
          <a:solidFill>
            <a:srgbClr val="EEF3FC"/>
          </a:solidFill>
          <a:ln/>
          <a:effectLst>
            <a:outerShdw sx="100000" sy="100000" kx="0" ky="0" algn="bl" rotWithShape="0" blurRad="114300" dist="38100" dir="5400000">
              <a:srgbClr val="1A1F36">
                <a:alpha val="16000"/>
              </a:srgbClr>
            </a:outerShdw>
          </a:effectLst>
        </p:spPr>
      </p:sp>
      <p:sp>
        <p:nvSpPr>
          <p:cNvPr id="8" name="Text 6"/>
          <p:cNvSpPr/>
          <p:nvPr/>
        </p:nvSpPr>
        <p:spPr>
          <a:xfrm>
            <a:off x="822960" y="2423160"/>
            <a:ext cx="4572000" cy="4114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기술 스택</a:t>
            </a:r>
            <a:endParaRPr lang="en-US" sz="1700" dirty="0"/>
          </a:p>
        </p:txBody>
      </p:sp>
      <p:sp>
        <p:nvSpPr>
          <p:cNvPr id="9" name="Text 7"/>
          <p:cNvSpPr/>
          <p:nvPr/>
        </p:nvSpPr>
        <p:spPr>
          <a:xfrm>
            <a:off x="822960" y="2926080"/>
            <a:ext cx="5029200" cy="2560320"/>
          </a:xfrm>
          <a:prstGeom prst="rect">
            <a:avLst/>
          </a:prstGeom>
          <a:noFill/>
          <a:ln/>
        </p:spPr>
        <p:txBody>
          <a:bodyPr wrap="square" lIns="0" tIns="0" rIns="0" bIns="0" rtlCol="0" anchor="ctr"/>
          <a:lstStyle/>
          <a:p>
            <a:pPr indent="0" marL="0">
              <a:lnSpc>
                <a:spcPct val="135000"/>
              </a:lnSpc>
              <a:buNone/>
            </a:pPr>
            <a:r>
              <a:rPr lang="en-US" sz="1350" b="1" dirty="0">
                <a:solidFill>
                  <a:srgbClr val="2A3A7C"/>
                </a:solidFill>
                <a:latin typeface="Calibri" pitchFamily="34" charset="0"/>
                <a:ea typeface="Calibri" pitchFamily="34" charset="-122"/>
                <a:cs typeface="Calibri" pitchFamily="34" charset="-120"/>
              </a:rPr>
              <a:t>Backend  </a:t>
            </a:r>
            <a:pPr indent="0" marL="0">
              <a:lnSpc>
                <a:spcPct val="135000"/>
              </a:lnSpc>
              <a:buNone/>
            </a:pPr>
            <a:r>
              <a:rPr lang="en-US" sz="1350" dirty="0">
                <a:solidFill>
                  <a:srgbClr val="1A1F36"/>
                </a:solidFill>
                <a:latin typeface="Calibri" pitchFamily="34" charset="0"/>
                <a:ea typeface="Calibri" pitchFamily="34" charset="-122"/>
                <a:cs typeface="Calibri" pitchFamily="34" charset="-120"/>
              </a:rPr>
              <a:t>Python 3.12 · FastAPI · SQLAlchemy/Alembic</a:t>
            </a:r>
            <a:endParaRPr lang="en-US" sz="1350" dirty="0"/>
          </a:p>
          <a:p>
            <a:pPr indent="0" marL="0">
              <a:lnSpc>
                <a:spcPct val="135000"/>
              </a:lnSpc>
              <a:buNone/>
            </a:pPr>
            <a:r>
              <a:rPr lang="en-US" sz="1350" b="1" dirty="0">
                <a:solidFill>
                  <a:srgbClr val="2A3A7C"/>
                </a:solidFill>
                <a:latin typeface="Calibri" pitchFamily="34" charset="0"/>
                <a:ea typeface="Calibri" pitchFamily="34" charset="-122"/>
                <a:cs typeface="Calibri" pitchFamily="34" charset="-120"/>
              </a:rPr>
              <a:t>Data  </a:t>
            </a:r>
            <a:pPr indent="0" marL="0">
              <a:lnSpc>
                <a:spcPct val="135000"/>
              </a:lnSpc>
              <a:buNone/>
            </a:pPr>
            <a:r>
              <a:rPr lang="en-US" sz="1350" dirty="0">
                <a:solidFill>
                  <a:srgbClr val="1A1F36"/>
                </a:solidFill>
                <a:latin typeface="Calibri" pitchFamily="34" charset="0"/>
                <a:ea typeface="Calibri" pitchFamily="34" charset="-122"/>
                <a:cs typeface="Calibri" pitchFamily="34" charset="-120"/>
              </a:rPr>
              <a:t>PostgreSQL 16 · MinIO(S3) · Pillow 썸네일</a:t>
            </a:r>
            <a:endParaRPr lang="en-US" sz="1350" dirty="0"/>
          </a:p>
          <a:p>
            <a:pPr indent="0" marL="0">
              <a:lnSpc>
                <a:spcPct val="135000"/>
              </a:lnSpc>
              <a:buNone/>
            </a:pPr>
            <a:r>
              <a:rPr lang="en-US" sz="1350" b="1" dirty="0">
                <a:solidFill>
                  <a:srgbClr val="2A3A7C"/>
                </a:solidFill>
                <a:latin typeface="Calibri" pitchFamily="34" charset="0"/>
                <a:ea typeface="Calibri" pitchFamily="34" charset="-122"/>
                <a:cs typeface="Calibri" pitchFamily="34" charset="-120"/>
              </a:rPr>
              <a:t>Frontend  </a:t>
            </a:r>
            <a:pPr indent="0" marL="0">
              <a:lnSpc>
                <a:spcPct val="135000"/>
              </a:lnSpc>
              <a:buNone/>
            </a:pPr>
            <a:r>
              <a:rPr lang="en-US" sz="1350" dirty="0">
                <a:solidFill>
                  <a:srgbClr val="1A1F36"/>
                </a:solidFill>
                <a:latin typeface="Calibri" pitchFamily="34" charset="0"/>
                <a:ea typeface="Calibri" pitchFamily="34" charset="-122"/>
                <a:cs typeface="Calibri" pitchFamily="34" charset="-120"/>
              </a:rPr>
              <a:t>React 18 · Vite · TypeScript</a:t>
            </a:r>
            <a:endParaRPr lang="en-US" sz="1350" dirty="0"/>
          </a:p>
          <a:p>
            <a:pPr indent="0" marL="0">
              <a:lnSpc>
                <a:spcPct val="135000"/>
              </a:lnSpc>
              <a:buNone/>
            </a:pPr>
            <a:r>
              <a:rPr lang="en-US" sz="1350" b="1" dirty="0">
                <a:solidFill>
                  <a:srgbClr val="2A3A7C"/>
                </a:solidFill>
                <a:latin typeface="Calibri" pitchFamily="34" charset="0"/>
                <a:ea typeface="Calibri" pitchFamily="34" charset="-122"/>
                <a:cs typeface="Calibri" pitchFamily="34" charset="-120"/>
              </a:rPr>
              <a:t>Auth  </a:t>
            </a:r>
            <a:pPr indent="0" marL="0">
              <a:lnSpc>
                <a:spcPct val="135000"/>
              </a:lnSpc>
              <a:buNone/>
            </a:pPr>
            <a:r>
              <a:rPr lang="en-US" sz="1350" dirty="0">
                <a:solidFill>
                  <a:srgbClr val="1A1F36"/>
                </a:solidFill>
                <a:latin typeface="Calibri" pitchFamily="34" charset="0"/>
                <a:ea typeface="Calibri" pitchFamily="34" charset="-122"/>
                <a:cs typeface="Calibri" pitchFamily="34" charset="-120"/>
              </a:rPr>
              <a:t>자체 구현(email+pw, bcrypt, JWT, USER/ADMIN)</a:t>
            </a:r>
            <a:endParaRPr lang="en-US" sz="1350" dirty="0"/>
          </a:p>
          <a:p>
            <a:pPr indent="0" marL="0">
              <a:lnSpc>
                <a:spcPct val="135000"/>
              </a:lnSpc>
              <a:buNone/>
            </a:pPr>
            <a:r>
              <a:rPr lang="en-US" sz="1350" b="1" dirty="0">
                <a:solidFill>
                  <a:srgbClr val="2A3A7C"/>
                </a:solidFill>
                <a:latin typeface="Calibri" pitchFamily="34" charset="0"/>
                <a:ea typeface="Calibri" pitchFamily="34" charset="-122"/>
                <a:cs typeface="Calibri" pitchFamily="34" charset="-120"/>
              </a:rPr>
              <a:t>계층  </a:t>
            </a:r>
            <a:pPr indent="0" marL="0">
              <a:lnSpc>
                <a:spcPct val="135000"/>
              </a:lnSpc>
              <a:buNone/>
            </a:pPr>
            <a:r>
              <a:rPr lang="en-US" sz="1350" dirty="0">
                <a:solidFill>
                  <a:srgbClr val="1A1F36"/>
                </a:solidFill>
                <a:latin typeface="Calibri" pitchFamily="34" charset="0"/>
                <a:ea typeface="Calibri" pitchFamily="34" charset="-122"/>
                <a:cs typeface="Calibri" pitchFamily="34" charset="-120"/>
              </a:rPr>
              <a:t>api → service → repository/model 3계층</a:t>
            </a:r>
            <a:endParaRPr lang="en-US" sz="1350" dirty="0"/>
          </a:p>
        </p:txBody>
      </p:sp>
      <p:sp>
        <p:nvSpPr>
          <p:cNvPr id="10" name="Shape 8"/>
          <p:cNvSpPr/>
          <p:nvPr/>
        </p:nvSpPr>
        <p:spPr>
          <a:xfrm>
            <a:off x="6263640" y="2240280"/>
            <a:ext cx="2606040" cy="1554480"/>
          </a:xfrm>
          <a:prstGeom prst="roundRect">
            <a:avLst>
              <a:gd name="adj" fmla="val 5882"/>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1" name="Text 9"/>
          <p:cNvSpPr/>
          <p:nvPr/>
        </p:nvSpPr>
        <p:spPr>
          <a:xfrm>
            <a:off x="6263640" y="2350008"/>
            <a:ext cx="2606040" cy="868680"/>
          </a:xfrm>
          <a:prstGeom prst="rect">
            <a:avLst/>
          </a:prstGeom>
          <a:noFill/>
          <a:ln/>
        </p:spPr>
        <p:txBody>
          <a:bodyPr wrap="square" lIns="0" tIns="0" rIns="0" bIns="0" rtlCol="0" anchor="ctr"/>
          <a:lstStyle/>
          <a:p>
            <a:pPr algn="ctr" indent="0" marL="0">
              <a:buNone/>
            </a:pPr>
            <a:r>
              <a:rPr lang="en-US" sz="4400" b="1" dirty="0">
                <a:solidFill>
                  <a:srgbClr val="2A3A7C"/>
                </a:solidFill>
                <a:latin typeface="Cambria" pitchFamily="34" charset="0"/>
                <a:ea typeface="Cambria" pitchFamily="34" charset="-122"/>
                <a:cs typeface="Cambria" pitchFamily="34" charset="-120"/>
              </a:rPr>
              <a:t>7</a:t>
            </a:r>
            <a:endParaRPr lang="en-US" sz="4400" dirty="0"/>
          </a:p>
        </p:txBody>
      </p:sp>
      <p:sp>
        <p:nvSpPr>
          <p:cNvPr id="12" name="Text 10"/>
          <p:cNvSpPr/>
          <p:nvPr/>
        </p:nvSpPr>
        <p:spPr>
          <a:xfrm>
            <a:off x="6263640" y="3246120"/>
            <a:ext cx="2606040" cy="457200"/>
          </a:xfrm>
          <a:prstGeom prst="rect">
            <a:avLst/>
          </a:prstGeom>
          <a:noFill/>
          <a:ln/>
        </p:spPr>
        <p:txBody>
          <a:bodyPr wrap="square" lIns="0" tIns="0" rIns="0" bIns="0" rtlCol="0" anchor="ctr"/>
          <a:lstStyle/>
          <a:p>
            <a:pPr algn="ctr" indent="0" marL="0">
              <a:buNone/>
            </a:pPr>
            <a:r>
              <a:rPr lang="en-US" sz="1300" b="1" dirty="0">
                <a:solidFill>
                  <a:srgbClr val="5A6480"/>
                </a:solidFill>
                <a:latin typeface="Calibri" pitchFamily="34" charset="0"/>
                <a:ea typeface="Calibri" pitchFamily="34" charset="-122"/>
                <a:cs typeface="Calibri" pitchFamily="34" charset="-120"/>
              </a:rPr>
              <a:t>Phase (0~6)</a:t>
            </a:r>
            <a:endParaRPr lang="en-US" sz="1300" dirty="0"/>
          </a:p>
        </p:txBody>
      </p:sp>
      <p:sp>
        <p:nvSpPr>
          <p:cNvPr id="13" name="Shape 11"/>
          <p:cNvSpPr/>
          <p:nvPr/>
        </p:nvSpPr>
        <p:spPr>
          <a:xfrm>
            <a:off x="9052560" y="2240280"/>
            <a:ext cx="2606040" cy="1554480"/>
          </a:xfrm>
          <a:prstGeom prst="roundRect">
            <a:avLst>
              <a:gd name="adj" fmla="val 5882"/>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4" name="Text 12"/>
          <p:cNvSpPr/>
          <p:nvPr/>
        </p:nvSpPr>
        <p:spPr>
          <a:xfrm>
            <a:off x="9052560" y="2350008"/>
            <a:ext cx="2606040" cy="868680"/>
          </a:xfrm>
          <a:prstGeom prst="rect">
            <a:avLst/>
          </a:prstGeom>
          <a:noFill/>
          <a:ln/>
        </p:spPr>
        <p:txBody>
          <a:bodyPr wrap="square" lIns="0" tIns="0" rIns="0" bIns="0" rtlCol="0" anchor="ctr"/>
          <a:lstStyle/>
          <a:p>
            <a:pPr algn="ctr" indent="0" marL="0">
              <a:buNone/>
            </a:pPr>
            <a:r>
              <a:rPr lang="en-US" sz="4400" b="1" dirty="0">
                <a:solidFill>
                  <a:srgbClr val="02C39A"/>
                </a:solidFill>
                <a:latin typeface="Cambria" pitchFamily="34" charset="0"/>
                <a:ea typeface="Cambria" pitchFamily="34" charset="-122"/>
                <a:cs typeface="Cambria" pitchFamily="34" charset="-120"/>
              </a:rPr>
              <a:t>6</a:t>
            </a:r>
            <a:endParaRPr lang="en-US" sz="4400" dirty="0"/>
          </a:p>
        </p:txBody>
      </p:sp>
      <p:sp>
        <p:nvSpPr>
          <p:cNvPr id="15" name="Text 13"/>
          <p:cNvSpPr/>
          <p:nvPr/>
        </p:nvSpPr>
        <p:spPr>
          <a:xfrm>
            <a:off x="9052560" y="3246120"/>
            <a:ext cx="2606040" cy="457200"/>
          </a:xfrm>
          <a:prstGeom prst="rect">
            <a:avLst/>
          </a:prstGeom>
          <a:noFill/>
          <a:ln/>
        </p:spPr>
        <p:txBody>
          <a:bodyPr wrap="square" lIns="0" tIns="0" rIns="0" bIns="0" rtlCol="0" anchor="ctr"/>
          <a:lstStyle/>
          <a:p>
            <a:pPr algn="ctr" indent="0" marL="0">
              <a:buNone/>
            </a:pPr>
            <a:r>
              <a:rPr lang="en-US" sz="1300" b="1" dirty="0">
                <a:solidFill>
                  <a:srgbClr val="5A6480"/>
                </a:solidFill>
                <a:latin typeface="Calibri" pitchFamily="34" charset="0"/>
                <a:ea typeface="Calibri" pitchFamily="34" charset="-122"/>
                <a:cs typeface="Calibri" pitchFamily="34" charset="-120"/>
              </a:rPr>
              <a:t>ADR 문서</a:t>
            </a:r>
            <a:endParaRPr lang="en-US" sz="1300" dirty="0"/>
          </a:p>
        </p:txBody>
      </p:sp>
      <p:sp>
        <p:nvSpPr>
          <p:cNvPr id="16" name="Shape 14"/>
          <p:cNvSpPr/>
          <p:nvPr/>
        </p:nvSpPr>
        <p:spPr>
          <a:xfrm>
            <a:off x="6263640" y="3977640"/>
            <a:ext cx="2606040" cy="1554480"/>
          </a:xfrm>
          <a:prstGeom prst="roundRect">
            <a:avLst>
              <a:gd name="adj" fmla="val 5882"/>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7" name="Text 15"/>
          <p:cNvSpPr/>
          <p:nvPr/>
        </p:nvSpPr>
        <p:spPr>
          <a:xfrm>
            <a:off x="6263640" y="4087368"/>
            <a:ext cx="2606040" cy="868680"/>
          </a:xfrm>
          <a:prstGeom prst="rect">
            <a:avLst/>
          </a:prstGeom>
          <a:noFill/>
          <a:ln/>
        </p:spPr>
        <p:txBody>
          <a:bodyPr wrap="square" lIns="0" tIns="0" rIns="0" bIns="0" rtlCol="0" anchor="ctr"/>
          <a:lstStyle/>
          <a:p>
            <a:pPr algn="ctr" indent="0" marL="0">
              <a:buNone/>
            </a:pPr>
            <a:r>
              <a:rPr lang="en-US" sz="4400" b="1" dirty="0">
                <a:solidFill>
                  <a:srgbClr val="E8A13A"/>
                </a:solidFill>
                <a:latin typeface="Cambria" pitchFamily="34" charset="0"/>
                <a:ea typeface="Cambria" pitchFamily="34" charset="-122"/>
                <a:cs typeface="Cambria" pitchFamily="34" charset="-120"/>
              </a:rPr>
              <a:t>9</a:t>
            </a:r>
            <a:endParaRPr lang="en-US" sz="4400" dirty="0"/>
          </a:p>
        </p:txBody>
      </p:sp>
      <p:sp>
        <p:nvSpPr>
          <p:cNvPr id="18" name="Text 16"/>
          <p:cNvSpPr/>
          <p:nvPr/>
        </p:nvSpPr>
        <p:spPr>
          <a:xfrm>
            <a:off x="6263640" y="4983480"/>
            <a:ext cx="2606040" cy="457200"/>
          </a:xfrm>
          <a:prstGeom prst="rect">
            <a:avLst/>
          </a:prstGeom>
          <a:noFill/>
          <a:ln/>
        </p:spPr>
        <p:txBody>
          <a:bodyPr wrap="square" lIns="0" tIns="0" rIns="0" bIns="0" rtlCol="0" anchor="ctr"/>
          <a:lstStyle/>
          <a:p>
            <a:pPr algn="ctr" indent="0" marL="0">
              <a:buNone/>
            </a:pPr>
            <a:r>
              <a:rPr lang="en-US" sz="1300" b="1" dirty="0">
                <a:solidFill>
                  <a:srgbClr val="5A6480"/>
                </a:solidFill>
                <a:latin typeface="Calibri" pitchFamily="34" charset="0"/>
                <a:ea typeface="Calibri" pitchFamily="34" charset="-122"/>
                <a:cs typeface="Calibri" pitchFamily="34" charset="-120"/>
              </a:rPr>
              <a:t>수락 기준(AC)</a:t>
            </a:r>
            <a:endParaRPr lang="en-US" sz="1300" dirty="0"/>
          </a:p>
        </p:txBody>
      </p:sp>
      <p:sp>
        <p:nvSpPr>
          <p:cNvPr id="19" name="Shape 17"/>
          <p:cNvSpPr/>
          <p:nvPr/>
        </p:nvSpPr>
        <p:spPr>
          <a:xfrm>
            <a:off x="9052560" y="3977640"/>
            <a:ext cx="2606040" cy="1554480"/>
          </a:xfrm>
          <a:prstGeom prst="roundRect">
            <a:avLst>
              <a:gd name="adj" fmla="val 5882"/>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20" name="Text 18"/>
          <p:cNvSpPr/>
          <p:nvPr/>
        </p:nvSpPr>
        <p:spPr>
          <a:xfrm>
            <a:off x="9052560" y="4087368"/>
            <a:ext cx="2606040" cy="868680"/>
          </a:xfrm>
          <a:prstGeom prst="rect">
            <a:avLst/>
          </a:prstGeom>
          <a:noFill/>
          <a:ln/>
        </p:spPr>
        <p:txBody>
          <a:bodyPr wrap="square" lIns="0" tIns="0" rIns="0" bIns="0" rtlCol="0" anchor="ctr"/>
          <a:lstStyle/>
          <a:p>
            <a:pPr algn="ctr" indent="0" marL="0">
              <a:buNone/>
            </a:pPr>
            <a:r>
              <a:rPr lang="en-US" sz="4400" b="1" dirty="0">
                <a:solidFill>
                  <a:srgbClr val="E0586B"/>
                </a:solidFill>
                <a:latin typeface="Cambria" pitchFamily="34" charset="0"/>
                <a:ea typeface="Cambria" pitchFamily="34" charset="-122"/>
                <a:cs typeface="Cambria" pitchFamily="34" charset="-120"/>
              </a:rPr>
              <a:t>6</a:t>
            </a:r>
            <a:endParaRPr lang="en-US" sz="4400" dirty="0"/>
          </a:p>
        </p:txBody>
      </p:sp>
      <p:sp>
        <p:nvSpPr>
          <p:cNvPr id="21" name="Text 19"/>
          <p:cNvSpPr/>
          <p:nvPr/>
        </p:nvSpPr>
        <p:spPr>
          <a:xfrm>
            <a:off x="9052560" y="4983480"/>
            <a:ext cx="2606040" cy="457200"/>
          </a:xfrm>
          <a:prstGeom prst="rect">
            <a:avLst/>
          </a:prstGeom>
          <a:noFill/>
          <a:ln/>
        </p:spPr>
        <p:txBody>
          <a:bodyPr wrap="square" lIns="0" tIns="0" rIns="0" bIns="0" rtlCol="0" anchor="ctr"/>
          <a:lstStyle/>
          <a:p>
            <a:pPr algn="ctr" indent="0" marL="0">
              <a:buNone/>
            </a:pPr>
            <a:r>
              <a:rPr lang="en-US" sz="1300" b="1" dirty="0">
                <a:solidFill>
                  <a:srgbClr val="5A6480"/>
                </a:solidFill>
                <a:latin typeface="Calibri" pitchFamily="34" charset="0"/>
                <a:ea typeface="Calibri" pitchFamily="34" charset="-122"/>
                <a:cs typeface="Calibri" pitchFamily="34" charset="-120"/>
              </a:rPr>
              <a:t>아키텍처 산출물</a:t>
            </a:r>
            <a:endParaRPr lang="en-US" sz="1300" dirty="0"/>
          </a:p>
        </p:txBody>
      </p:sp>
      <p:sp>
        <p:nvSpPr>
          <p:cNvPr id="22" name="Text 20"/>
          <p:cNvSpPr/>
          <p:nvPr/>
        </p:nvSpPr>
        <p:spPr>
          <a:xfrm>
            <a:off x="548640" y="5806440"/>
            <a:ext cx="10972800" cy="457200"/>
          </a:xfrm>
          <a:prstGeom prst="rect">
            <a:avLst/>
          </a:prstGeom>
          <a:noFill/>
          <a:ln/>
        </p:spPr>
        <p:txBody>
          <a:bodyPr wrap="square" lIns="0" tIns="0" rIns="0" bIns="0" rtlCol="0" anchor="ctr"/>
          <a:lstStyle/>
          <a:p>
            <a:pPr algn="ctr" indent="0" marL="0">
              <a:buNone/>
            </a:pPr>
            <a:r>
              <a:rPr lang="en-US" sz="1350" i="1" dirty="0">
                <a:solidFill>
                  <a:srgbClr val="5A6480"/>
                </a:solidFill>
                <a:latin typeface="Calibri" pitchFamily="34" charset="0"/>
                <a:ea typeface="Calibri" pitchFamily="34" charset="-122"/>
                <a:cs typeface="Calibri" pitchFamily="34" charset="-120"/>
              </a:rPr>
              <a:t>거버넌스 문서(AGENTS.md) → 계획(plan.md) → 설계(docs/) → Phase별 개발을 모두 거쳐 완성</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CORE PRINCIPLE</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핵심 원리 — 약속을 명령으로 환원하라</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Shape 4"/>
          <p:cNvSpPr/>
          <p:nvPr/>
        </p:nvSpPr>
        <p:spPr>
          <a:xfrm>
            <a:off x="548640" y="1783080"/>
            <a:ext cx="5212080" cy="4023360"/>
          </a:xfrm>
          <a:prstGeom prst="roundRect">
            <a:avLst>
              <a:gd name="adj" fmla="val 2273"/>
            </a:avLst>
          </a:prstGeom>
          <a:solidFill>
            <a:srgbClr val="FBEDEF"/>
          </a:solidFill>
          <a:ln/>
          <a:effectLst>
            <a:outerShdw sx="100000" sy="100000" kx="0" ky="0" algn="bl" rotWithShape="0" blurRad="114300" dist="38100" dir="5400000">
              <a:srgbClr val="1A1F36">
                <a:alpha val="16000"/>
              </a:srgbClr>
            </a:outerShdw>
          </a:effectLst>
        </p:spPr>
      </p:sp>
      <p:pic>
        <p:nvPicPr>
          <p:cNvPr id="7" name="Image 0" descr="preencoded.png">    </p:cNvPr>
          <p:cNvPicPr>
            <a:picLocks noChangeAspect="1"/>
          </p:cNvPicPr>
          <p:nvPr/>
        </p:nvPicPr>
        <p:blipFill>
          <a:blip r:embed="rId1"/>
          <a:stretch>
            <a:fillRect/>
          </a:stretch>
        </p:blipFill>
        <p:spPr>
          <a:xfrm>
            <a:off x="822960" y="2011680"/>
            <a:ext cx="502920" cy="502920"/>
          </a:xfrm>
          <a:prstGeom prst="rect">
            <a:avLst/>
          </a:prstGeom>
        </p:spPr>
      </p:pic>
      <p:sp>
        <p:nvSpPr>
          <p:cNvPr id="8" name="Text 5"/>
          <p:cNvSpPr/>
          <p:nvPr/>
        </p:nvSpPr>
        <p:spPr>
          <a:xfrm>
            <a:off x="1463040" y="2011680"/>
            <a:ext cx="4114800" cy="502920"/>
          </a:xfrm>
          <a:prstGeom prst="rect">
            <a:avLst/>
          </a:prstGeom>
          <a:noFill/>
          <a:ln/>
        </p:spPr>
        <p:txBody>
          <a:bodyPr wrap="square" lIns="0" tIns="0" rIns="0" bIns="0" rtlCol="0" anchor="ctr"/>
          <a:lstStyle/>
          <a:p>
            <a:pPr indent="0" marL="0">
              <a:buNone/>
            </a:pPr>
            <a:r>
              <a:rPr lang="en-US" sz="1900" b="1" dirty="0">
                <a:solidFill>
                  <a:srgbClr val="E0586B"/>
                </a:solidFill>
                <a:latin typeface="Cambria" pitchFamily="34" charset="0"/>
                <a:ea typeface="Cambria" pitchFamily="34" charset="-122"/>
                <a:cs typeface="Cambria" pitchFamily="34" charset="-120"/>
              </a:rPr>
              <a:t>주관적 약속  ✗</a:t>
            </a:r>
            <a:endParaRPr lang="en-US" sz="1900" dirty="0"/>
          </a:p>
        </p:txBody>
      </p:sp>
      <p:sp>
        <p:nvSpPr>
          <p:cNvPr id="9" name="Text 6"/>
          <p:cNvSpPr/>
          <p:nvPr/>
        </p:nvSpPr>
        <p:spPr>
          <a:xfrm>
            <a:off x="868680" y="2743200"/>
            <a:ext cx="4663440" cy="2743200"/>
          </a:xfrm>
          <a:prstGeom prst="rect">
            <a:avLst/>
          </a:prstGeom>
          <a:noFill/>
          <a:ln/>
        </p:spPr>
        <p:txBody>
          <a:bodyPr wrap="square" lIns="0" tIns="0" rIns="0" bIns="0" rtlCol="0" anchor="ctr"/>
          <a:lstStyle/>
          <a:p>
            <a:pPr marL="228600" indent="-228600">
              <a:lnSpc>
                <a:spcPct val="150000"/>
              </a:lnSpc>
              <a:buSzPct val="100000"/>
              <a:buChar char="•"/>
            </a:pPr>
            <a:r>
              <a:rPr lang="en-US" sz="1500" i="1" dirty="0">
                <a:solidFill>
                  <a:srgbClr val="1A1F36"/>
                </a:solidFill>
                <a:latin typeface="Calibri" pitchFamily="34" charset="0"/>
                <a:ea typeface="Calibri" pitchFamily="34" charset="-122"/>
                <a:cs typeface="Calibri" pitchFamily="34" charset="-120"/>
              </a:rPr>
              <a:t>"테스트 잘 돌아가는지 확인했습니다"</a:t>
            </a:r>
            <a:endParaRPr lang="en-US" sz="1500" dirty="0"/>
          </a:p>
          <a:p>
            <a:pPr indent="0" marL="0">
              <a:lnSpc>
                <a:spcPct val="150000"/>
              </a:lnSpc>
              <a:buNone/>
            </a:pPr>
            <a:r>
              <a:rPr lang="en-US" sz="1500" i="1" dirty="0">
                <a:solidFill>
                  <a:srgbClr val="1A1F36"/>
                </a:solidFill>
                <a:latin typeface="Calibri" pitchFamily="34" charset="0"/>
                <a:ea typeface="Calibri" pitchFamily="34" charset="-122"/>
                <a:cs typeface="Calibri" pitchFamily="34" charset="-120"/>
              </a:rPr>
              <a:t>"커버리지 충분합니다"</a:t>
            </a:r>
            <a:endParaRPr lang="en-US" sz="1500" dirty="0"/>
          </a:p>
          <a:p>
            <a:pPr indent="0" marL="0">
              <a:lnSpc>
                <a:spcPct val="150000"/>
              </a:lnSpc>
              <a:buNone/>
            </a:pPr>
            <a:r>
              <a:rPr lang="en-US" sz="1500" i="1" dirty="0">
                <a:solidFill>
                  <a:srgbClr val="1A1F36"/>
                </a:solidFill>
                <a:latin typeface="Calibri" pitchFamily="34" charset="0"/>
                <a:ea typeface="Calibri" pitchFamily="34" charset="-122"/>
                <a:cs typeface="Calibri" pitchFamily="34" charset="-120"/>
              </a:rPr>
              <a:t>"범위 안에서만 고쳤어요"</a:t>
            </a:r>
            <a:endParaRPr lang="en-US" sz="1500" dirty="0"/>
          </a:p>
          <a:p>
            <a:pPr indent="0" marL="0">
              <a:lnSpc>
                <a:spcPct val="150000"/>
              </a:lnSpc>
              <a:buNone/>
            </a:pPr>
            <a:r>
              <a:rPr lang="en-US" sz="1500" i="1" dirty="0">
                <a:solidFill>
                  <a:srgbClr val="1A1F36"/>
                </a:solidFill>
                <a:latin typeface="Calibri" pitchFamily="34" charset="0"/>
                <a:ea typeface="Calibri" pitchFamily="34" charset="-122"/>
                <a:cs typeface="Calibri" pitchFamily="34" charset="-120"/>
              </a:rPr>
              <a:t>"리뷰 지적 다 반영했습니다"</a:t>
            </a:r>
            <a:endParaRPr lang="en-US" sz="1500" dirty="0"/>
          </a:p>
        </p:txBody>
      </p:sp>
      <p:sp>
        <p:nvSpPr>
          <p:cNvPr id="10" name="Shape 7"/>
          <p:cNvSpPr/>
          <p:nvPr/>
        </p:nvSpPr>
        <p:spPr>
          <a:xfrm>
            <a:off x="6355080" y="1783080"/>
            <a:ext cx="5212080" cy="4023360"/>
          </a:xfrm>
          <a:prstGeom prst="roundRect">
            <a:avLst>
              <a:gd name="adj" fmla="val 2273"/>
            </a:avLst>
          </a:prstGeom>
          <a:solidFill>
            <a:srgbClr val="E7F7F2"/>
          </a:solidFill>
          <a:ln/>
          <a:effectLst>
            <a:outerShdw sx="100000" sy="100000" kx="0" ky="0" algn="bl" rotWithShape="0" blurRad="114300" dist="38100" dir="5400000">
              <a:srgbClr val="1A1F36">
                <a:alpha val="16000"/>
              </a:srgbClr>
            </a:outerShdw>
          </a:effectLst>
        </p:spPr>
      </p:sp>
      <p:pic>
        <p:nvPicPr>
          <p:cNvPr id="11" name="Image 1" descr="preencoded.png">    </p:cNvPr>
          <p:cNvPicPr>
            <a:picLocks noChangeAspect="1"/>
          </p:cNvPicPr>
          <p:nvPr/>
        </p:nvPicPr>
        <p:blipFill>
          <a:blip r:embed="rId2"/>
          <a:stretch>
            <a:fillRect/>
          </a:stretch>
        </p:blipFill>
        <p:spPr>
          <a:xfrm>
            <a:off x="6629400" y="2011680"/>
            <a:ext cx="502920" cy="502920"/>
          </a:xfrm>
          <a:prstGeom prst="rect">
            <a:avLst/>
          </a:prstGeom>
        </p:spPr>
      </p:pic>
      <p:sp>
        <p:nvSpPr>
          <p:cNvPr id="12" name="Text 8"/>
          <p:cNvSpPr/>
          <p:nvPr/>
        </p:nvSpPr>
        <p:spPr>
          <a:xfrm>
            <a:off x="7269480" y="2011680"/>
            <a:ext cx="4114800" cy="502920"/>
          </a:xfrm>
          <a:prstGeom prst="rect">
            <a:avLst/>
          </a:prstGeom>
          <a:noFill/>
          <a:ln/>
        </p:spPr>
        <p:txBody>
          <a:bodyPr wrap="square" lIns="0" tIns="0" rIns="0" bIns="0" rtlCol="0" anchor="ctr"/>
          <a:lstStyle/>
          <a:p>
            <a:pPr indent="0" marL="0">
              <a:buNone/>
            </a:pPr>
            <a:r>
              <a:rPr lang="en-US" sz="1900" b="1" dirty="0">
                <a:solidFill>
                  <a:srgbClr val="0B8C70"/>
                </a:solidFill>
                <a:latin typeface="Cambria" pitchFamily="34" charset="0"/>
                <a:ea typeface="Cambria" pitchFamily="34" charset="-122"/>
                <a:cs typeface="Cambria" pitchFamily="34" charset="-120"/>
              </a:rPr>
              <a:t>기계검증 명령  ✓</a:t>
            </a:r>
            <a:endParaRPr lang="en-US" sz="1900" dirty="0"/>
          </a:p>
        </p:txBody>
      </p:sp>
      <p:sp>
        <p:nvSpPr>
          <p:cNvPr id="13" name="Text 9"/>
          <p:cNvSpPr/>
          <p:nvPr/>
        </p:nvSpPr>
        <p:spPr>
          <a:xfrm>
            <a:off x="6675120" y="2743200"/>
            <a:ext cx="4663440" cy="2743200"/>
          </a:xfrm>
          <a:prstGeom prst="rect">
            <a:avLst/>
          </a:prstGeom>
          <a:noFill/>
          <a:ln/>
        </p:spPr>
        <p:txBody>
          <a:bodyPr wrap="square" lIns="0" tIns="0" rIns="0" bIns="0" rtlCol="0" anchor="ctr"/>
          <a:lstStyle/>
          <a:p>
            <a:pPr indent="0" marL="0">
              <a:lnSpc>
                <a:spcPct val="150000"/>
              </a:lnSpc>
              <a:buNone/>
            </a:pPr>
            <a:r>
              <a:rPr lang="en-US" sz="1350" dirty="0">
                <a:solidFill>
                  <a:srgbClr val="0B5B49"/>
                </a:solidFill>
                <a:latin typeface="Consolas" pitchFamily="34" charset="0"/>
                <a:ea typeface="Consolas" pitchFamily="34" charset="-122"/>
                <a:cs typeface="Consolas" pitchFamily="34" charset="-120"/>
              </a:rPr>
              <a:t>pytest --cov --cov-fail-under=80</a:t>
            </a:r>
            <a:endParaRPr lang="en-US" sz="1350" dirty="0"/>
          </a:p>
          <a:p>
            <a:pPr indent="0" marL="0">
              <a:lnSpc>
                <a:spcPct val="150000"/>
              </a:lnSpc>
              <a:buNone/>
            </a:pPr>
            <a:r>
              <a:rPr lang="en-US" sz="1350" dirty="0">
                <a:solidFill>
                  <a:srgbClr val="0B5B49"/>
                </a:solidFill>
                <a:latin typeface="Consolas" pitchFamily="34" charset="0"/>
                <a:ea typeface="Consolas" pitchFamily="34" charset="-122"/>
                <a:cs typeface="Consolas" pitchFamily="34" charset="-120"/>
              </a:rPr>
              <a:t>ruff check . &amp;&amp; mypy app</a:t>
            </a:r>
            <a:endParaRPr lang="en-US" sz="1350" dirty="0"/>
          </a:p>
          <a:p>
            <a:pPr indent="0" marL="0">
              <a:lnSpc>
                <a:spcPct val="150000"/>
              </a:lnSpc>
              <a:buNone/>
            </a:pPr>
            <a:r>
              <a:rPr lang="en-US" sz="1350" dirty="0">
                <a:solidFill>
                  <a:srgbClr val="0B5B49"/>
                </a:solidFill>
                <a:latin typeface="Consolas" pitchFamily="34" charset="0"/>
                <a:ea typeface="Consolas" pitchFamily="34" charset="-122"/>
                <a:cs typeface="Consolas" pitchFamily="34" charset="-120"/>
              </a:rPr>
              <a:t>git diff --cached → 스코프/임시코드 검사</a:t>
            </a:r>
            <a:endParaRPr lang="en-US" sz="1350" dirty="0"/>
          </a:p>
          <a:p>
            <a:pPr indent="0" marL="0">
              <a:lnSpc>
                <a:spcPct val="150000"/>
              </a:lnSpc>
              <a:buNone/>
            </a:pPr>
            <a:r>
              <a:rPr lang="en-US" sz="1350" dirty="0">
                <a:solidFill>
                  <a:srgbClr val="0B5B49"/>
                </a:solidFill>
                <a:latin typeface="Consolas" pitchFamily="34" charset="0"/>
                <a:ea typeface="Consolas" pitchFamily="34" charset="-122"/>
                <a:cs typeface="Consolas" pitchFamily="34" charset="-120"/>
              </a:rPr>
              <a:t>codex 재리뷰: UNRESOLVED BLOCKING = NO</a:t>
            </a:r>
            <a:endParaRPr lang="en-US" sz="1350" dirty="0"/>
          </a:p>
        </p:txBody>
      </p:sp>
      <p:sp>
        <p:nvSpPr>
          <p:cNvPr id="14" name="Text 10"/>
          <p:cNvSpPr/>
          <p:nvPr/>
        </p:nvSpPr>
        <p:spPr>
          <a:xfrm>
            <a:off x="6355080" y="5989320"/>
            <a:ext cx="5212080" cy="457200"/>
          </a:xfrm>
          <a:prstGeom prst="rect">
            <a:avLst/>
          </a:prstGeom>
          <a:noFill/>
          <a:ln/>
        </p:spPr>
        <p:txBody>
          <a:bodyPr wrap="square" lIns="0" tIns="0" rIns="0" bIns="0" rtlCol="0" anchor="ctr"/>
          <a:lstStyle/>
          <a:p>
            <a:pPr algn="ctr" indent="0" marL="0">
              <a:buNone/>
            </a:pPr>
            <a:r>
              <a:rPr lang="en-US" sz="1250" b="1" dirty="0">
                <a:solidFill>
                  <a:srgbClr val="0B8C70"/>
                </a:solidFill>
                <a:latin typeface="Calibri" pitchFamily="34" charset="0"/>
                <a:ea typeface="Calibri" pitchFamily="34" charset="-122"/>
                <a:cs typeface="Calibri" pitchFamily="34" charset="-120"/>
              </a:rPr>
              <a:t>→ 통과/실패는 사람이 아니라 종료 코드(exit code)와 콘솔 출력이 판정한다</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82880" y="1463040"/>
            <a:ext cx="5486400" cy="4114800"/>
          </a:xfrm>
          <a:prstGeom prst="rect">
            <a:avLst/>
          </a:prstGeom>
          <a:noFill/>
          <a:ln/>
        </p:spPr>
        <p:txBody>
          <a:bodyPr wrap="square" lIns="0" tIns="0" rIns="0" bIns="0" rtlCol="0" anchor="ctr"/>
          <a:lstStyle/>
          <a:p>
            <a:pPr algn="l" indent="0" marL="0">
              <a:buNone/>
            </a:pPr>
            <a:r>
              <a:rPr lang="en-US" sz="23000" b="1" dirty="0">
                <a:solidFill>
                  <a:srgbClr val="2A3A7C"/>
                </a:solidFill>
                <a:latin typeface="Cambria" pitchFamily="34" charset="0"/>
                <a:ea typeface="Cambria" pitchFamily="34" charset="-122"/>
                <a:cs typeface="Cambria" pitchFamily="34" charset="-120"/>
              </a:rPr>
              <a:t>PART 1</a:t>
            </a:r>
            <a:endParaRPr lang="en-US" sz="23000" dirty="0"/>
          </a:p>
        </p:txBody>
      </p:sp>
      <p:sp>
        <p:nvSpPr>
          <p:cNvPr id="3" name="Text 1"/>
          <p:cNvSpPr/>
          <p:nvPr/>
        </p:nvSpPr>
        <p:spPr>
          <a:xfrm>
            <a:off x="822960" y="2194560"/>
            <a:ext cx="5486400" cy="548640"/>
          </a:xfrm>
          <a:prstGeom prst="rect">
            <a:avLst/>
          </a:prstGeom>
          <a:noFill/>
          <a:ln/>
        </p:spPr>
        <p:txBody>
          <a:bodyPr wrap="square" lIns="0" tIns="0" rIns="0" bIns="0" rtlCol="0" anchor="ctr"/>
          <a:lstStyle/>
          <a:p>
            <a:pPr indent="0" marL="0">
              <a:buNone/>
            </a:pPr>
            <a:r>
              <a:rPr lang="en-US" sz="1800" b="1" spc="300" kern="0" dirty="0">
                <a:solidFill>
                  <a:srgbClr val="02C39A"/>
                </a:solidFill>
                <a:latin typeface="Calibri" pitchFamily="34" charset="0"/>
                <a:ea typeface="Calibri" pitchFamily="34" charset="-122"/>
                <a:cs typeface="Calibri" pitchFamily="34" charset="-120"/>
              </a:rPr>
              <a:t>Part 1</a:t>
            </a:r>
            <a:endParaRPr lang="en-US" sz="1800" dirty="0"/>
          </a:p>
        </p:txBody>
      </p:sp>
      <p:sp>
        <p:nvSpPr>
          <p:cNvPr id="4" name="Text 2"/>
          <p:cNvSpPr/>
          <p:nvPr/>
        </p:nvSpPr>
        <p:spPr>
          <a:xfrm>
            <a:off x="822960" y="2697480"/>
            <a:ext cx="1005840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AGENTS.md 거버넌스 &amp; 완료의 정의</a:t>
            </a:r>
            <a:endParaRPr lang="en-US" sz="4400" dirty="0"/>
          </a:p>
        </p:txBody>
      </p:sp>
      <p:sp>
        <p:nvSpPr>
          <p:cNvPr id="5" name="Text 3"/>
          <p:cNvSpPr/>
          <p:nvPr/>
        </p:nvSpPr>
        <p:spPr>
          <a:xfrm>
            <a:off x="868680" y="4114800"/>
            <a:ext cx="9601200" cy="109728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어떤 프로젝트에도 적용되는 범용 규칙 문서</a:t>
            </a:r>
            <a:endParaRPr lang="en-US" sz="1800" dirty="0"/>
          </a:p>
        </p:txBody>
      </p:sp>
      <p:sp>
        <p:nvSpPr>
          <p:cNvPr id="6" name="Shape 4"/>
          <p:cNvSpPr/>
          <p:nvPr/>
        </p:nvSpPr>
        <p:spPr>
          <a:xfrm>
            <a:off x="868680" y="5212080"/>
            <a:ext cx="1828800" cy="457200"/>
          </a:xfrm>
          <a:prstGeom prst="roundRect">
            <a:avLst>
              <a:gd name="adj" fmla="val 50000"/>
            </a:avLst>
          </a:prstGeom>
          <a:solidFill>
            <a:srgbClr val="02C39A"/>
          </a:solidFill>
          <a:ln/>
        </p:spPr>
      </p:sp>
      <p:sp>
        <p:nvSpPr>
          <p:cNvPr id="7" name="Text 5"/>
          <p:cNvSpPr/>
          <p:nvPr/>
        </p:nvSpPr>
        <p:spPr>
          <a:xfrm>
            <a:off x="868680" y="5212080"/>
            <a:ext cx="1828800" cy="45720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강의</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GOVERNANCE</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AGENTS.md — 도메인 비종속 거버넌스 문서</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Text 4"/>
          <p:cNvSpPr/>
          <p:nvPr/>
        </p:nvSpPr>
        <p:spPr>
          <a:xfrm>
            <a:off x="548640" y="1554480"/>
            <a:ext cx="10972800" cy="548640"/>
          </a:xfrm>
          <a:prstGeom prst="rect">
            <a:avLst/>
          </a:prstGeom>
          <a:noFill/>
          <a:ln/>
        </p:spPr>
        <p:txBody>
          <a:bodyPr wrap="square" lIns="0" tIns="0" rIns="0" bIns="0" rtlCol="0" anchor="ctr"/>
          <a:lstStyle/>
          <a:p>
            <a:pPr indent="0" marL="0">
              <a:buNone/>
            </a:pPr>
            <a:r>
              <a:rPr lang="en-US" sz="1500" dirty="0">
                <a:solidFill>
                  <a:srgbClr val="1A1F36"/>
                </a:solidFill>
                <a:latin typeface="Calibri" pitchFamily="34" charset="0"/>
                <a:ea typeface="Calibri" pitchFamily="34" charset="-122"/>
                <a:cs typeface="Calibri" pitchFamily="34" charset="-120"/>
              </a:rPr>
              <a:t>특정 언어·프레임워크에 묶이지 않는다. 각 프로젝트가 자기 환경을 '선언'하면, 에이전트는 하드코딩된 가정 대신 그 선언을 참조한다.</a:t>
            </a:r>
            <a:endParaRPr lang="en-US" sz="1500" dirty="0"/>
          </a:p>
        </p:txBody>
      </p:sp>
      <p:sp>
        <p:nvSpPr>
          <p:cNvPr id="7" name="Shape 5"/>
          <p:cNvSpPr/>
          <p:nvPr/>
        </p:nvSpPr>
        <p:spPr>
          <a:xfrm>
            <a:off x="548640" y="2286000"/>
            <a:ext cx="3520440" cy="1600200"/>
          </a:xfrm>
          <a:prstGeom prst="roundRect">
            <a:avLst>
              <a:gd name="adj" fmla="val 5714"/>
            </a:avLst>
          </a:prstGeom>
          <a:solidFill>
            <a:srgbClr val="EEF3FC"/>
          </a:solidFill>
          <a:ln/>
          <a:effectLst>
            <a:outerShdw sx="100000" sy="100000" kx="0" ky="0" algn="bl" rotWithShape="0" blurRad="114300" dist="38100" dir="5400000">
              <a:srgbClr val="1A1F36">
                <a:alpha val="16000"/>
              </a:srgbClr>
            </a:outerShdw>
          </a:effectLst>
        </p:spPr>
      </p:sp>
      <p:sp>
        <p:nvSpPr>
          <p:cNvPr id="8" name="Shape 6"/>
          <p:cNvSpPr/>
          <p:nvPr/>
        </p:nvSpPr>
        <p:spPr>
          <a:xfrm>
            <a:off x="777240" y="2542032"/>
            <a:ext cx="640080" cy="640080"/>
          </a:xfrm>
          <a:prstGeom prst="ellipse">
            <a:avLst/>
          </a:prstGeom>
          <a:solidFill>
            <a:srgbClr val="1E2761"/>
          </a:solidFill>
          <a:ln/>
        </p:spPr>
      </p:sp>
      <p:pic>
        <p:nvPicPr>
          <p:cNvPr id="9" name="Image 0" descr="preencoded.png">    </p:cNvPr>
          <p:cNvPicPr>
            <a:picLocks noChangeAspect="1"/>
          </p:cNvPicPr>
          <p:nvPr/>
        </p:nvPicPr>
        <p:blipFill>
          <a:blip r:embed="rId1"/>
          <a:stretch>
            <a:fillRect/>
          </a:stretch>
        </p:blipFill>
        <p:spPr>
          <a:xfrm>
            <a:off x="932688" y="2697480"/>
            <a:ext cx="329184" cy="329184"/>
          </a:xfrm>
          <a:prstGeom prst="rect">
            <a:avLst/>
          </a:prstGeom>
        </p:spPr>
      </p:pic>
      <p:sp>
        <p:nvSpPr>
          <p:cNvPr id="10" name="Text 7"/>
          <p:cNvSpPr/>
          <p:nvPr/>
        </p:nvSpPr>
        <p:spPr>
          <a:xfrm>
            <a:off x="1554480" y="2514600"/>
            <a:ext cx="2377440" cy="68580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§0 전제·선언</a:t>
            </a:r>
            <a:endParaRPr lang="en-US" sz="1550" dirty="0"/>
          </a:p>
        </p:txBody>
      </p:sp>
      <p:sp>
        <p:nvSpPr>
          <p:cNvPr id="11" name="Text 8"/>
          <p:cNvSpPr/>
          <p:nvPr/>
        </p:nvSpPr>
        <p:spPr>
          <a:xfrm>
            <a:off x="804672" y="3200400"/>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git 저장소, 작업 스코프, 빌드/테스트/린트 명령, dev 브랜치</a:t>
            </a:r>
            <a:endParaRPr lang="en-US" sz="1150" dirty="0"/>
          </a:p>
        </p:txBody>
      </p:sp>
      <p:sp>
        <p:nvSpPr>
          <p:cNvPr id="12" name="Shape 9"/>
          <p:cNvSpPr/>
          <p:nvPr/>
        </p:nvSpPr>
        <p:spPr>
          <a:xfrm>
            <a:off x="4270248" y="2286000"/>
            <a:ext cx="3520440" cy="1600200"/>
          </a:xfrm>
          <a:prstGeom prst="roundRect">
            <a:avLst>
              <a:gd name="adj" fmla="val 5714"/>
            </a:avLst>
          </a:prstGeom>
          <a:solidFill>
            <a:srgbClr val="EEF3FC"/>
          </a:solidFill>
          <a:ln/>
          <a:effectLst>
            <a:outerShdw sx="100000" sy="100000" kx="0" ky="0" algn="bl" rotWithShape="0" blurRad="114300" dist="38100" dir="5400000">
              <a:srgbClr val="1A1F36">
                <a:alpha val="16000"/>
              </a:srgbClr>
            </a:outerShdw>
          </a:effectLst>
        </p:spPr>
      </p:sp>
      <p:sp>
        <p:nvSpPr>
          <p:cNvPr id="13" name="Shape 10"/>
          <p:cNvSpPr/>
          <p:nvPr/>
        </p:nvSpPr>
        <p:spPr>
          <a:xfrm>
            <a:off x="4498848" y="2542032"/>
            <a:ext cx="640080" cy="640080"/>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4654296" y="2697480"/>
            <a:ext cx="329184" cy="329184"/>
          </a:xfrm>
          <a:prstGeom prst="rect">
            <a:avLst/>
          </a:prstGeom>
        </p:spPr>
      </p:pic>
      <p:sp>
        <p:nvSpPr>
          <p:cNvPr id="15" name="Text 11"/>
          <p:cNvSpPr/>
          <p:nvPr/>
        </p:nvSpPr>
        <p:spPr>
          <a:xfrm>
            <a:off x="5276088" y="2514600"/>
            <a:ext cx="2377440" cy="68580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§1 역할</a:t>
            </a:r>
            <a:endParaRPr lang="en-US" sz="1550" dirty="0"/>
          </a:p>
        </p:txBody>
      </p:sp>
      <p:sp>
        <p:nvSpPr>
          <p:cNvPr id="16" name="Text 12"/>
          <p:cNvSpPr/>
          <p:nvPr/>
        </p:nvSpPr>
        <p:spPr>
          <a:xfrm>
            <a:off x="4526280" y="3200400"/>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Planner · Cross-Reviewer · Implementor · Tester 분리</a:t>
            </a:r>
            <a:endParaRPr lang="en-US" sz="1150" dirty="0"/>
          </a:p>
        </p:txBody>
      </p:sp>
      <p:sp>
        <p:nvSpPr>
          <p:cNvPr id="17" name="Shape 13"/>
          <p:cNvSpPr/>
          <p:nvPr/>
        </p:nvSpPr>
        <p:spPr>
          <a:xfrm>
            <a:off x="7991856" y="2286000"/>
            <a:ext cx="3520440" cy="1600200"/>
          </a:xfrm>
          <a:prstGeom prst="roundRect">
            <a:avLst>
              <a:gd name="adj" fmla="val 5714"/>
            </a:avLst>
          </a:prstGeom>
          <a:solidFill>
            <a:srgbClr val="EEF3FC"/>
          </a:solidFill>
          <a:ln/>
          <a:effectLst>
            <a:outerShdw sx="100000" sy="100000" kx="0" ky="0" algn="bl" rotWithShape="0" blurRad="114300" dist="38100" dir="5400000">
              <a:srgbClr val="1A1F36">
                <a:alpha val="16000"/>
              </a:srgbClr>
            </a:outerShdw>
          </a:effectLst>
        </p:spPr>
      </p:sp>
      <p:sp>
        <p:nvSpPr>
          <p:cNvPr id="18" name="Shape 14"/>
          <p:cNvSpPr/>
          <p:nvPr/>
        </p:nvSpPr>
        <p:spPr>
          <a:xfrm>
            <a:off x="8220456" y="2542032"/>
            <a:ext cx="640080" cy="640080"/>
          </a:xfrm>
          <a:prstGeom prst="ellipse">
            <a:avLst/>
          </a:prstGeom>
          <a:solidFill>
            <a:srgbClr val="1E2761"/>
          </a:solidFill>
          <a:ln/>
        </p:spPr>
      </p:sp>
      <p:pic>
        <p:nvPicPr>
          <p:cNvPr id="19" name="Image 2" descr="preencoded.png">    </p:cNvPr>
          <p:cNvPicPr>
            <a:picLocks noChangeAspect="1"/>
          </p:cNvPicPr>
          <p:nvPr/>
        </p:nvPicPr>
        <p:blipFill>
          <a:blip r:embed="rId3"/>
          <a:stretch>
            <a:fillRect/>
          </a:stretch>
        </p:blipFill>
        <p:spPr>
          <a:xfrm>
            <a:off x="8375904" y="2697480"/>
            <a:ext cx="329184" cy="329184"/>
          </a:xfrm>
          <a:prstGeom prst="rect">
            <a:avLst/>
          </a:prstGeom>
        </p:spPr>
      </p:pic>
      <p:sp>
        <p:nvSpPr>
          <p:cNvPr id="20" name="Text 15"/>
          <p:cNvSpPr/>
          <p:nvPr/>
        </p:nvSpPr>
        <p:spPr>
          <a:xfrm>
            <a:off x="8997696" y="2514600"/>
            <a:ext cx="2377440" cy="68580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§3 완료의 정의</a:t>
            </a:r>
            <a:endParaRPr lang="en-US" sz="1550" dirty="0"/>
          </a:p>
        </p:txBody>
      </p:sp>
      <p:sp>
        <p:nvSpPr>
          <p:cNvPr id="21" name="Text 16"/>
          <p:cNvSpPr/>
          <p:nvPr/>
        </p:nvSpPr>
        <p:spPr>
          <a:xfrm>
            <a:off x="8247888" y="3200400"/>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계획·구현·테스트·산출물 각 단계의 기계검증 기준</a:t>
            </a:r>
            <a:endParaRPr lang="en-US" sz="1150" dirty="0"/>
          </a:p>
        </p:txBody>
      </p:sp>
      <p:sp>
        <p:nvSpPr>
          <p:cNvPr id="22" name="Shape 17"/>
          <p:cNvSpPr/>
          <p:nvPr/>
        </p:nvSpPr>
        <p:spPr>
          <a:xfrm>
            <a:off x="548640" y="4069080"/>
            <a:ext cx="3520440" cy="1600200"/>
          </a:xfrm>
          <a:prstGeom prst="roundRect">
            <a:avLst>
              <a:gd name="adj" fmla="val 5714"/>
            </a:avLst>
          </a:prstGeom>
          <a:solidFill>
            <a:srgbClr val="EEF3FC"/>
          </a:solidFill>
          <a:ln/>
          <a:effectLst>
            <a:outerShdw sx="100000" sy="100000" kx="0" ky="0" algn="bl" rotWithShape="0" blurRad="114300" dist="38100" dir="5400000">
              <a:srgbClr val="1A1F36">
                <a:alpha val="16000"/>
              </a:srgbClr>
            </a:outerShdw>
          </a:effectLst>
        </p:spPr>
      </p:sp>
      <p:sp>
        <p:nvSpPr>
          <p:cNvPr id="23" name="Shape 18"/>
          <p:cNvSpPr/>
          <p:nvPr/>
        </p:nvSpPr>
        <p:spPr>
          <a:xfrm>
            <a:off x="777240" y="4325112"/>
            <a:ext cx="640080" cy="640080"/>
          </a:xfrm>
          <a:prstGeom prst="ellipse">
            <a:avLst/>
          </a:prstGeom>
          <a:solidFill>
            <a:srgbClr val="1E2761"/>
          </a:solidFill>
          <a:ln/>
        </p:spPr>
      </p:sp>
      <p:pic>
        <p:nvPicPr>
          <p:cNvPr id="24" name="Image 3" descr="preencoded.png">    </p:cNvPr>
          <p:cNvPicPr>
            <a:picLocks noChangeAspect="1"/>
          </p:cNvPicPr>
          <p:nvPr/>
        </p:nvPicPr>
        <p:blipFill>
          <a:blip r:embed="rId4"/>
          <a:stretch>
            <a:fillRect/>
          </a:stretch>
        </p:blipFill>
        <p:spPr>
          <a:xfrm>
            <a:off x="932688" y="4480560"/>
            <a:ext cx="329184" cy="329184"/>
          </a:xfrm>
          <a:prstGeom prst="rect">
            <a:avLst/>
          </a:prstGeom>
        </p:spPr>
      </p:pic>
      <p:sp>
        <p:nvSpPr>
          <p:cNvPr id="25" name="Text 19"/>
          <p:cNvSpPr/>
          <p:nvPr/>
        </p:nvSpPr>
        <p:spPr>
          <a:xfrm>
            <a:off x="1554480" y="4297680"/>
            <a:ext cx="2377440" cy="68580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§4 이스케이프</a:t>
            </a:r>
            <a:endParaRPr lang="en-US" sz="1550" dirty="0"/>
          </a:p>
        </p:txBody>
      </p:sp>
      <p:sp>
        <p:nvSpPr>
          <p:cNvPr id="26" name="Text 20"/>
          <p:cNvSpPr/>
          <p:nvPr/>
        </p:nvSpPr>
        <p:spPr>
          <a:xfrm>
            <a:off x="804672" y="4983480"/>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모호·보안·무한루프 시 즉시 멈추고 인간에게</a:t>
            </a:r>
            <a:endParaRPr lang="en-US" sz="1150" dirty="0"/>
          </a:p>
        </p:txBody>
      </p:sp>
      <p:sp>
        <p:nvSpPr>
          <p:cNvPr id="27" name="Shape 21"/>
          <p:cNvSpPr/>
          <p:nvPr/>
        </p:nvSpPr>
        <p:spPr>
          <a:xfrm>
            <a:off x="4270248" y="4069080"/>
            <a:ext cx="3520440" cy="1600200"/>
          </a:xfrm>
          <a:prstGeom prst="roundRect">
            <a:avLst>
              <a:gd name="adj" fmla="val 5714"/>
            </a:avLst>
          </a:prstGeom>
          <a:solidFill>
            <a:srgbClr val="EEF3FC"/>
          </a:solidFill>
          <a:ln/>
          <a:effectLst>
            <a:outerShdw sx="100000" sy="100000" kx="0" ky="0" algn="bl" rotWithShape="0" blurRad="114300" dist="38100" dir="5400000">
              <a:srgbClr val="1A1F36">
                <a:alpha val="16000"/>
              </a:srgbClr>
            </a:outerShdw>
          </a:effectLst>
        </p:spPr>
      </p:sp>
      <p:sp>
        <p:nvSpPr>
          <p:cNvPr id="28" name="Shape 22"/>
          <p:cNvSpPr/>
          <p:nvPr/>
        </p:nvSpPr>
        <p:spPr>
          <a:xfrm>
            <a:off x="4498848" y="4325112"/>
            <a:ext cx="640080" cy="640080"/>
          </a:xfrm>
          <a:prstGeom prst="ellipse">
            <a:avLst/>
          </a:prstGeom>
          <a:solidFill>
            <a:srgbClr val="1E2761"/>
          </a:solidFill>
          <a:ln/>
        </p:spPr>
      </p:sp>
      <p:pic>
        <p:nvPicPr>
          <p:cNvPr id="29" name="Image 4" descr="preencoded.png">    </p:cNvPr>
          <p:cNvPicPr>
            <a:picLocks noChangeAspect="1"/>
          </p:cNvPicPr>
          <p:nvPr/>
        </p:nvPicPr>
        <p:blipFill>
          <a:blip r:embed="rId5"/>
          <a:stretch>
            <a:fillRect/>
          </a:stretch>
        </p:blipFill>
        <p:spPr>
          <a:xfrm>
            <a:off x="4654296" y="4480560"/>
            <a:ext cx="329184" cy="329184"/>
          </a:xfrm>
          <a:prstGeom prst="rect">
            <a:avLst/>
          </a:prstGeom>
        </p:spPr>
      </p:pic>
      <p:sp>
        <p:nvSpPr>
          <p:cNvPr id="30" name="Text 23"/>
          <p:cNvSpPr/>
          <p:nvPr/>
        </p:nvSpPr>
        <p:spPr>
          <a:xfrm>
            <a:off x="5276088" y="4297680"/>
            <a:ext cx="2377440" cy="68580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§5 스코핑·소유권</a:t>
            </a:r>
            <a:endParaRPr lang="en-US" sz="1550" dirty="0"/>
          </a:p>
        </p:txBody>
      </p:sp>
      <p:sp>
        <p:nvSpPr>
          <p:cNvPr id="31" name="Text 24"/>
          <p:cNvSpPr/>
          <p:nvPr/>
        </p:nvSpPr>
        <p:spPr>
          <a:xfrm>
            <a:off x="4526280" y="4983480"/>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할당 영역 밖 수정 금지, 공유 계약 단일 소유자</a:t>
            </a:r>
            <a:endParaRPr lang="en-US" sz="1150" dirty="0"/>
          </a:p>
        </p:txBody>
      </p:sp>
      <p:sp>
        <p:nvSpPr>
          <p:cNvPr id="32" name="Shape 25"/>
          <p:cNvSpPr/>
          <p:nvPr/>
        </p:nvSpPr>
        <p:spPr>
          <a:xfrm>
            <a:off x="7991856" y="4069080"/>
            <a:ext cx="3520440" cy="1600200"/>
          </a:xfrm>
          <a:prstGeom prst="roundRect">
            <a:avLst>
              <a:gd name="adj" fmla="val 5714"/>
            </a:avLst>
          </a:prstGeom>
          <a:solidFill>
            <a:srgbClr val="EEF3FC"/>
          </a:solidFill>
          <a:ln/>
          <a:effectLst>
            <a:outerShdw sx="100000" sy="100000" kx="0" ky="0" algn="bl" rotWithShape="0" blurRad="114300" dist="38100" dir="5400000">
              <a:srgbClr val="1A1F36">
                <a:alpha val="16000"/>
              </a:srgbClr>
            </a:outerShdw>
          </a:effectLst>
        </p:spPr>
      </p:sp>
      <p:sp>
        <p:nvSpPr>
          <p:cNvPr id="33" name="Shape 26"/>
          <p:cNvSpPr/>
          <p:nvPr/>
        </p:nvSpPr>
        <p:spPr>
          <a:xfrm>
            <a:off x="8220456" y="4325112"/>
            <a:ext cx="640080" cy="640080"/>
          </a:xfrm>
          <a:prstGeom prst="ellipse">
            <a:avLst/>
          </a:prstGeom>
          <a:solidFill>
            <a:srgbClr val="1E2761"/>
          </a:solidFill>
          <a:ln/>
        </p:spPr>
      </p:sp>
      <p:pic>
        <p:nvPicPr>
          <p:cNvPr id="34" name="Image 5" descr="preencoded.png">    </p:cNvPr>
          <p:cNvPicPr>
            <a:picLocks noChangeAspect="1"/>
          </p:cNvPicPr>
          <p:nvPr/>
        </p:nvPicPr>
        <p:blipFill>
          <a:blip r:embed="rId6"/>
          <a:stretch>
            <a:fillRect/>
          </a:stretch>
        </p:blipFill>
        <p:spPr>
          <a:xfrm>
            <a:off x="8375904" y="4480560"/>
            <a:ext cx="329184" cy="329184"/>
          </a:xfrm>
          <a:prstGeom prst="rect">
            <a:avLst/>
          </a:prstGeom>
        </p:spPr>
      </p:pic>
      <p:sp>
        <p:nvSpPr>
          <p:cNvPr id="35" name="Text 27"/>
          <p:cNvSpPr/>
          <p:nvPr/>
        </p:nvSpPr>
        <p:spPr>
          <a:xfrm>
            <a:off x="8997696" y="4297680"/>
            <a:ext cx="2377440" cy="68580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§6 Phase 워크플로우</a:t>
            </a:r>
            <a:endParaRPr lang="en-US" sz="1550" dirty="0"/>
          </a:p>
        </p:txBody>
      </p:sp>
      <p:sp>
        <p:nvSpPr>
          <p:cNvPr id="36" name="Text 28"/>
          <p:cNvSpPr/>
          <p:nvPr/>
        </p:nvSpPr>
        <p:spPr>
          <a:xfrm>
            <a:off x="8247888" y="4983480"/>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구현→테스트→리뷰→수정→회고→dev 통합</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§1 ROLES</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역할 분리 — 견제와 균형의 구조</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Shape 4"/>
          <p:cNvSpPr/>
          <p:nvPr/>
        </p:nvSpPr>
        <p:spPr>
          <a:xfrm>
            <a:off x="548640" y="1783080"/>
            <a:ext cx="2697480" cy="3794760"/>
          </a:xfrm>
          <a:prstGeom prst="roundRect">
            <a:avLst>
              <a:gd name="adj" fmla="val 3390"/>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7" name="Shape 5"/>
          <p:cNvSpPr/>
          <p:nvPr/>
        </p:nvSpPr>
        <p:spPr>
          <a:xfrm>
            <a:off x="1508760" y="2194560"/>
            <a:ext cx="777240" cy="777240"/>
          </a:xfrm>
          <a:prstGeom prst="ellipse">
            <a:avLst/>
          </a:prstGeom>
          <a:solidFill>
            <a:srgbClr val="2A3A7C"/>
          </a:solidFill>
          <a:ln/>
        </p:spPr>
      </p:sp>
      <p:pic>
        <p:nvPicPr>
          <p:cNvPr id="8" name="Image 0" descr="preencoded.png">    </p:cNvPr>
          <p:cNvPicPr>
            <a:picLocks noChangeAspect="1"/>
          </p:cNvPicPr>
          <p:nvPr/>
        </p:nvPicPr>
        <p:blipFill>
          <a:blip r:embed="rId1"/>
          <a:stretch>
            <a:fillRect/>
          </a:stretch>
        </p:blipFill>
        <p:spPr>
          <a:xfrm>
            <a:off x="1700784" y="2386584"/>
            <a:ext cx="393192" cy="393192"/>
          </a:xfrm>
          <a:prstGeom prst="rect">
            <a:avLst/>
          </a:prstGeom>
        </p:spPr>
      </p:pic>
      <p:sp>
        <p:nvSpPr>
          <p:cNvPr id="9" name="Text 6"/>
          <p:cNvSpPr/>
          <p:nvPr/>
        </p:nvSpPr>
        <p:spPr>
          <a:xfrm>
            <a:off x="640080" y="3108960"/>
            <a:ext cx="2514600" cy="640080"/>
          </a:xfrm>
          <a:prstGeom prst="rect">
            <a:avLst/>
          </a:prstGeom>
          <a:noFill/>
          <a:ln/>
        </p:spPr>
        <p:txBody>
          <a:bodyPr wrap="square" lIns="0" tIns="0" rIns="0" bIns="0" rtlCol="0" anchor="ctr"/>
          <a:lstStyle/>
          <a:p>
            <a:pPr algn="ctr" indent="0" marL="0">
              <a:buNone/>
            </a:pPr>
            <a:r>
              <a:rPr lang="en-US" sz="1650" b="1" dirty="0">
                <a:solidFill>
                  <a:srgbClr val="1E2761"/>
                </a:solidFill>
                <a:latin typeface="Cambria" pitchFamily="34" charset="0"/>
                <a:ea typeface="Cambria" pitchFamily="34" charset="-122"/>
                <a:cs typeface="Cambria" pitchFamily="34" charset="-120"/>
              </a:rPr>
              <a:t>Primary Planner</a:t>
            </a:r>
            <a:endParaRPr lang="en-US" sz="1650" dirty="0"/>
          </a:p>
        </p:txBody>
      </p:sp>
      <p:sp>
        <p:nvSpPr>
          <p:cNvPr id="10" name="Text 7"/>
          <p:cNvSpPr/>
          <p:nvPr/>
        </p:nvSpPr>
        <p:spPr>
          <a:xfrm>
            <a:off x="777240" y="3794760"/>
            <a:ext cx="2240280" cy="1691640"/>
          </a:xfrm>
          <a:prstGeom prst="rect">
            <a:avLst/>
          </a:prstGeom>
          <a:noFill/>
          <a:ln/>
        </p:spPr>
        <p:txBody>
          <a:bodyPr wrap="square" lIns="0" tIns="0" rIns="0" bIns="0" rtlCol="0" anchor="ctr"/>
          <a:lstStyle/>
          <a:p>
            <a:pPr algn="ctr" indent="0" marL="0">
              <a:lnSpc>
                <a:spcPct val="108000"/>
              </a:lnSpc>
              <a:buNone/>
            </a:pPr>
            <a:r>
              <a:rPr lang="en-US" sz="1250" dirty="0">
                <a:solidFill>
                  <a:srgbClr val="5A6480"/>
                </a:solidFill>
                <a:latin typeface="Calibri" pitchFamily="34" charset="0"/>
                <a:ea typeface="Calibri" pitchFamily="34" charset="-122"/>
                <a:cs typeface="Calibri" pitchFamily="34" charset="-120"/>
              </a:rPr>
              <a:t>요구사항 분석 → 아키텍처·Phase 분해 초안 작성. 모든 리뷰를 취합(synthesis)하는 유일한 주체.</a:t>
            </a:r>
            <a:endParaRPr lang="en-US" sz="1250" dirty="0"/>
          </a:p>
        </p:txBody>
      </p:sp>
      <p:sp>
        <p:nvSpPr>
          <p:cNvPr id="11" name="Shape 8"/>
          <p:cNvSpPr/>
          <p:nvPr/>
        </p:nvSpPr>
        <p:spPr>
          <a:xfrm>
            <a:off x="3383280" y="1783080"/>
            <a:ext cx="2697480" cy="3794760"/>
          </a:xfrm>
          <a:prstGeom prst="roundRect">
            <a:avLst>
              <a:gd name="adj" fmla="val 3390"/>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2" name="Shape 9"/>
          <p:cNvSpPr/>
          <p:nvPr/>
        </p:nvSpPr>
        <p:spPr>
          <a:xfrm>
            <a:off x="4343400" y="2194560"/>
            <a:ext cx="777240" cy="777240"/>
          </a:xfrm>
          <a:prstGeom prst="ellipse">
            <a:avLst/>
          </a:prstGeom>
          <a:solidFill>
            <a:srgbClr val="02C39A"/>
          </a:solidFill>
          <a:ln/>
        </p:spPr>
      </p:sp>
      <p:pic>
        <p:nvPicPr>
          <p:cNvPr id="13" name="Image 1" descr="preencoded.png">    </p:cNvPr>
          <p:cNvPicPr>
            <a:picLocks noChangeAspect="1"/>
          </p:cNvPicPr>
          <p:nvPr/>
        </p:nvPicPr>
        <p:blipFill>
          <a:blip r:embed="rId2"/>
          <a:stretch>
            <a:fillRect/>
          </a:stretch>
        </p:blipFill>
        <p:spPr>
          <a:xfrm>
            <a:off x="4535424" y="2386584"/>
            <a:ext cx="393192" cy="393192"/>
          </a:xfrm>
          <a:prstGeom prst="rect">
            <a:avLst/>
          </a:prstGeom>
        </p:spPr>
      </p:pic>
      <p:sp>
        <p:nvSpPr>
          <p:cNvPr id="14" name="Text 10"/>
          <p:cNvSpPr/>
          <p:nvPr/>
        </p:nvSpPr>
        <p:spPr>
          <a:xfrm>
            <a:off x="3474720" y="3108960"/>
            <a:ext cx="2514600" cy="640080"/>
          </a:xfrm>
          <a:prstGeom prst="rect">
            <a:avLst/>
          </a:prstGeom>
          <a:noFill/>
          <a:ln/>
        </p:spPr>
        <p:txBody>
          <a:bodyPr wrap="square" lIns="0" tIns="0" rIns="0" bIns="0" rtlCol="0" anchor="ctr"/>
          <a:lstStyle/>
          <a:p>
            <a:pPr algn="ctr" indent="0" marL="0">
              <a:buNone/>
            </a:pPr>
            <a:r>
              <a:rPr lang="en-US" sz="1650" b="1" dirty="0">
                <a:solidFill>
                  <a:srgbClr val="1E2761"/>
                </a:solidFill>
                <a:latin typeface="Cambria" pitchFamily="34" charset="0"/>
                <a:ea typeface="Cambria" pitchFamily="34" charset="-122"/>
                <a:cs typeface="Cambria" pitchFamily="34" charset="-120"/>
              </a:rPr>
              <a:t>Cross-Reviewers</a:t>
            </a:r>
            <a:endParaRPr lang="en-US" sz="1650" dirty="0"/>
          </a:p>
        </p:txBody>
      </p:sp>
      <p:sp>
        <p:nvSpPr>
          <p:cNvPr id="15" name="Text 11"/>
          <p:cNvSpPr/>
          <p:nvPr/>
        </p:nvSpPr>
        <p:spPr>
          <a:xfrm>
            <a:off x="3611880" y="3794760"/>
            <a:ext cx="2240280" cy="1691640"/>
          </a:xfrm>
          <a:prstGeom prst="rect">
            <a:avLst/>
          </a:prstGeom>
          <a:noFill/>
          <a:ln/>
        </p:spPr>
        <p:txBody>
          <a:bodyPr wrap="square" lIns="0" tIns="0" rIns="0" bIns="0" rtlCol="0" anchor="ctr"/>
          <a:lstStyle/>
          <a:p>
            <a:pPr algn="ctr" indent="0" marL="0">
              <a:lnSpc>
                <a:spcPct val="108000"/>
              </a:lnSpc>
              <a:buNone/>
            </a:pPr>
            <a:r>
              <a:rPr lang="en-US" sz="1250" dirty="0">
                <a:solidFill>
                  <a:srgbClr val="5A6480"/>
                </a:solidFill>
                <a:latin typeface="Calibri" pitchFamily="34" charset="0"/>
                <a:ea typeface="Calibri" pitchFamily="34" charset="-122"/>
                <a:cs typeface="Calibri" pitchFamily="34" charset="-120"/>
              </a:rPr>
              <a:t>보안·아키텍처·엣지케이스 관점에서 독립 세션으로 교차검증. 서로의 결과를 보지 못한다.</a:t>
            </a:r>
            <a:endParaRPr lang="en-US" sz="1250" dirty="0"/>
          </a:p>
        </p:txBody>
      </p:sp>
      <p:sp>
        <p:nvSpPr>
          <p:cNvPr id="16" name="Shape 12"/>
          <p:cNvSpPr/>
          <p:nvPr/>
        </p:nvSpPr>
        <p:spPr>
          <a:xfrm>
            <a:off x="6217920" y="1783080"/>
            <a:ext cx="2697480" cy="3794760"/>
          </a:xfrm>
          <a:prstGeom prst="roundRect">
            <a:avLst>
              <a:gd name="adj" fmla="val 3390"/>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7" name="Shape 13"/>
          <p:cNvSpPr/>
          <p:nvPr/>
        </p:nvSpPr>
        <p:spPr>
          <a:xfrm>
            <a:off x="7178040" y="2194560"/>
            <a:ext cx="777240" cy="777240"/>
          </a:xfrm>
          <a:prstGeom prst="ellipse">
            <a:avLst/>
          </a:prstGeom>
          <a:solidFill>
            <a:srgbClr val="E8A13A"/>
          </a:solidFill>
          <a:ln/>
        </p:spPr>
      </p:sp>
      <p:pic>
        <p:nvPicPr>
          <p:cNvPr id="18" name="Image 2" descr="preencoded.png">    </p:cNvPr>
          <p:cNvPicPr>
            <a:picLocks noChangeAspect="1"/>
          </p:cNvPicPr>
          <p:nvPr/>
        </p:nvPicPr>
        <p:blipFill>
          <a:blip r:embed="rId3"/>
          <a:stretch>
            <a:fillRect/>
          </a:stretch>
        </p:blipFill>
        <p:spPr>
          <a:xfrm>
            <a:off x="7370064" y="2386584"/>
            <a:ext cx="393192" cy="393192"/>
          </a:xfrm>
          <a:prstGeom prst="rect">
            <a:avLst/>
          </a:prstGeom>
        </p:spPr>
      </p:pic>
      <p:sp>
        <p:nvSpPr>
          <p:cNvPr id="19" name="Text 14"/>
          <p:cNvSpPr/>
          <p:nvPr/>
        </p:nvSpPr>
        <p:spPr>
          <a:xfrm>
            <a:off x="6309360" y="3108960"/>
            <a:ext cx="2514600" cy="640080"/>
          </a:xfrm>
          <a:prstGeom prst="rect">
            <a:avLst/>
          </a:prstGeom>
          <a:noFill/>
          <a:ln/>
        </p:spPr>
        <p:txBody>
          <a:bodyPr wrap="square" lIns="0" tIns="0" rIns="0" bIns="0" rtlCol="0" anchor="ctr"/>
          <a:lstStyle/>
          <a:p>
            <a:pPr algn="ctr" indent="0" marL="0">
              <a:buNone/>
            </a:pPr>
            <a:r>
              <a:rPr lang="en-US" sz="1650" b="1" dirty="0">
                <a:solidFill>
                  <a:srgbClr val="1E2761"/>
                </a:solidFill>
                <a:latin typeface="Cambria" pitchFamily="34" charset="0"/>
                <a:ea typeface="Cambria" pitchFamily="34" charset="-122"/>
                <a:cs typeface="Cambria" pitchFamily="34" charset="-120"/>
              </a:rPr>
              <a:t>Implementor</a:t>
            </a:r>
            <a:endParaRPr lang="en-US" sz="1650" dirty="0"/>
          </a:p>
        </p:txBody>
      </p:sp>
      <p:sp>
        <p:nvSpPr>
          <p:cNvPr id="20" name="Text 15"/>
          <p:cNvSpPr/>
          <p:nvPr/>
        </p:nvSpPr>
        <p:spPr>
          <a:xfrm>
            <a:off x="6446520" y="3794760"/>
            <a:ext cx="2240280" cy="1691640"/>
          </a:xfrm>
          <a:prstGeom prst="rect">
            <a:avLst/>
          </a:prstGeom>
          <a:noFill/>
          <a:ln/>
        </p:spPr>
        <p:txBody>
          <a:bodyPr wrap="square" lIns="0" tIns="0" rIns="0" bIns="0" rtlCol="0" anchor="ctr"/>
          <a:lstStyle/>
          <a:p>
            <a:pPr algn="ctr" indent="0" marL="0">
              <a:lnSpc>
                <a:spcPct val="108000"/>
              </a:lnSpc>
              <a:buNone/>
            </a:pPr>
            <a:r>
              <a:rPr lang="en-US" sz="1250" dirty="0">
                <a:solidFill>
                  <a:srgbClr val="5A6480"/>
                </a:solidFill>
                <a:latin typeface="Calibri" pitchFamily="34" charset="0"/>
                <a:ea typeface="Calibri" pitchFamily="34" charset="-122"/>
                <a:cs typeface="Calibri" pitchFamily="34" charset="-120"/>
              </a:rPr>
              <a:t>승인된 계획에 따라 Phase 단위로 구현. 할당된 스코프 경계를 엄격히 준수.</a:t>
            </a:r>
            <a:endParaRPr lang="en-US" sz="1250" dirty="0"/>
          </a:p>
        </p:txBody>
      </p:sp>
      <p:sp>
        <p:nvSpPr>
          <p:cNvPr id="21" name="Shape 16"/>
          <p:cNvSpPr/>
          <p:nvPr/>
        </p:nvSpPr>
        <p:spPr>
          <a:xfrm>
            <a:off x="9052560" y="1783080"/>
            <a:ext cx="2697480" cy="3794760"/>
          </a:xfrm>
          <a:prstGeom prst="roundRect">
            <a:avLst>
              <a:gd name="adj" fmla="val 3390"/>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22" name="Shape 17"/>
          <p:cNvSpPr/>
          <p:nvPr/>
        </p:nvSpPr>
        <p:spPr>
          <a:xfrm>
            <a:off x="10012680" y="2194560"/>
            <a:ext cx="777240" cy="777240"/>
          </a:xfrm>
          <a:prstGeom prst="ellipse">
            <a:avLst/>
          </a:prstGeom>
          <a:solidFill>
            <a:srgbClr val="E0586B"/>
          </a:solidFill>
          <a:ln/>
        </p:spPr>
      </p:sp>
      <p:pic>
        <p:nvPicPr>
          <p:cNvPr id="23" name="Image 3" descr="preencoded.png">    </p:cNvPr>
          <p:cNvPicPr>
            <a:picLocks noChangeAspect="1"/>
          </p:cNvPicPr>
          <p:nvPr/>
        </p:nvPicPr>
        <p:blipFill>
          <a:blip r:embed="rId4"/>
          <a:stretch>
            <a:fillRect/>
          </a:stretch>
        </p:blipFill>
        <p:spPr>
          <a:xfrm>
            <a:off x="10204704" y="2386584"/>
            <a:ext cx="393192" cy="393192"/>
          </a:xfrm>
          <a:prstGeom prst="rect">
            <a:avLst/>
          </a:prstGeom>
        </p:spPr>
      </p:pic>
      <p:sp>
        <p:nvSpPr>
          <p:cNvPr id="24" name="Text 18"/>
          <p:cNvSpPr/>
          <p:nvPr/>
        </p:nvSpPr>
        <p:spPr>
          <a:xfrm>
            <a:off x="9144000" y="3108960"/>
            <a:ext cx="2514600" cy="640080"/>
          </a:xfrm>
          <a:prstGeom prst="rect">
            <a:avLst/>
          </a:prstGeom>
          <a:noFill/>
          <a:ln/>
        </p:spPr>
        <p:txBody>
          <a:bodyPr wrap="square" lIns="0" tIns="0" rIns="0" bIns="0" rtlCol="0" anchor="ctr"/>
          <a:lstStyle/>
          <a:p>
            <a:pPr algn="ctr" indent="0" marL="0">
              <a:buNone/>
            </a:pPr>
            <a:r>
              <a:rPr lang="en-US" sz="1650" b="1" dirty="0">
                <a:solidFill>
                  <a:srgbClr val="1E2761"/>
                </a:solidFill>
                <a:latin typeface="Cambria" pitchFamily="34" charset="0"/>
                <a:ea typeface="Cambria" pitchFamily="34" charset="-122"/>
                <a:cs typeface="Cambria" pitchFamily="34" charset="-120"/>
              </a:rPr>
              <a:t>Tester / Reviewer</a:t>
            </a:r>
            <a:endParaRPr lang="en-US" sz="1650" dirty="0"/>
          </a:p>
        </p:txBody>
      </p:sp>
      <p:sp>
        <p:nvSpPr>
          <p:cNvPr id="25" name="Text 19"/>
          <p:cNvSpPr/>
          <p:nvPr/>
        </p:nvSpPr>
        <p:spPr>
          <a:xfrm>
            <a:off x="9281160" y="3794760"/>
            <a:ext cx="2240280" cy="1691640"/>
          </a:xfrm>
          <a:prstGeom prst="rect">
            <a:avLst/>
          </a:prstGeom>
          <a:noFill/>
          <a:ln/>
        </p:spPr>
        <p:txBody>
          <a:bodyPr wrap="square" lIns="0" tIns="0" rIns="0" bIns="0" rtlCol="0" anchor="ctr"/>
          <a:lstStyle/>
          <a:p>
            <a:pPr algn="ctr" indent="0" marL="0">
              <a:lnSpc>
                <a:spcPct val="108000"/>
              </a:lnSpc>
              <a:buNone/>
            </a:pPr>
            <a:r>
              <a:rPr lang="en-US" sz="1250" dirty="0">
                <a:solidFill>
                  <a:srgbClr val="5A6480"/>
                </a:solidFill>
                <a:latin typeface="Calibri" pitchFamily="34" charset="0"/>
                <a:ea typeface="Calibri" pitchFamily="34" charset="-122"/>
                <a:cs typeface="Calibri" pitchFamily="34" charset="-120"/>
              </a:rPr>
              <a:t>병합 전 린터·테스트·보안 결함을 기계적으로 검증. 증거를 콘솔 출력으로 제출.</a:t>
            </a:r>
            <a:endParaRPr lang="en-US" sz="1250" dirty="0"/>
          </a:p>
        </p:txBody>
      </p:sp>
      <p:sp>
        <p:nvSpPr>
          <p:cNvPr id="26" name="Text 20"/>
          <p:cNvSpPr/>
          <p:nvPr/>
        </p:nvSpPr>
        <p:spPr>
          <a:xfrm>
            <a:off x="548640" y="5806440"/>
            <a:ext cx="10972800" cy="457200"/>
          </a:xfrm>
          <a:prstGeom prst="rect">
            <a:avLst/>
          </a:prstGeom>
          <a:noFill/>
          <a:ln/>
        </p:spPr>
        <p:txBody>
          <a:bodyPr wrap="square" lIns="0" tIns="0" rIns="0" bIns="0" rtlCol="0" anchor="ctr"/>
          <a:lstStyle/>
          <a:p>
            <a:pPr algn="ctr" indent="0" marL="0">
              <a:buNone/>
            </a:pPr>
            <a:r>
              <a:rPr lang="en-US" sz="1350" i="1" dirty="0">
                <a:solidFill>
                  <a:srgbClr val="2A3A7C"/>
                </a:solidFill>
                <a:latin typeface="Calibri" pitchFamily="34" charset="0"/>
                <a:ea typeface="Calibri" pitchFamily="34" charset="-122"/>
                <a:cs typeface="Calibri" pitchFamily="34" charset="-120"/>
              </a:rPr>
              <a:t>핵심: 만든 주체가 스스로 승인하지 못하게 한다 — 자기검토는 무효, 독립성이 품질을 만든다.</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§3 DEFINITION OF DONE</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완료의 정의 — 단계마다 닫힌 게이트</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Text 4"/>
          <p:cNvSpPr/>
          <p:nvPr/>
        </p:nvSpPr>
        <p:spPr>
          <a:xfrm>
            <a:off x="548640" y="1508760"/>
            <a:ext cx="10972800" cy="457200"/>
          </a:xfrm>
          <a:prstGeom prst="rect">
            <a:avLst/>
          </a:prstGeom>
          <a:noFill/>
          <a:ln/>
        </p:spPr>
        <p:txBody>
          <a:bodyPr wrap="square" lIns="0" tIns="0" rIns="0" bIns="0" rtlCol="0" anchor="ctr"/>
          <a:lstStyle/>
          <a:p>
            <a:pPr indent="0" marL="0">
              <a:buNone/>
            </a:pPr>
            <a:r>
              <a:rPr lang="en-US" sz="1500" i="1" dirty="0">
                <a:solidFill>
                  <a:srgbClr val="1A1F36"/>
                </a:solidFill>
                <a:latin typeface="Calibri" pitchFamily="34" charset="0"/>
                <a:ea typeface="Calibri" pitchFamily="34" charset="-122"/>
                <a:cs typeface="Calibri" pitchFamily="34" charset="-120"/>
              </a:rPr>
              <a:t>각 단계의 완료가 기계적으로 확인되지 않으면 다음 단계로 넘어갈 수 없다.</a:t>
            </a:r>
            <a:endParaRPr lang="en-US" sz="1500" dirty="0"/>
          </a:p>
        </p:txBody>
      </p:sp>
      <p:sp>
        <p:nvSpPr>
          <p:cNvPr id="7" name="Shape 5"/>
          <p:cNvSpPr/>
          <p:nvPr/>
        </p:nvSpPr>
        <p:spPr>
          <a:xfrm>
            <a:off x="548640" y="2148840"/>
            <a:ext cx="11064240" cy="868680"/>
          </a:xfrm>
          <a:prstGeom prst="roundRect">
            <a:avLst>
              <a:gd name="adj" fmla="val 8421"/>
            </a:avLst>
          </a:prstGeom>
          <a:solidFill>
            <a:srgbClr val="EEF3FC"/>
          </a:solidFill>
          <a:ln/>
          <a:effectLst>
            <a:outerShdw sx="100000" sy="100000" kx="0" ky="0" algn="bl" rotWithShape="0" blurRad="114300" dist="38100" dir="5400000">
              <a:srgbClr val="1A1F36">
                <a:alpha val="16000"/>
              </a:srgbClr>
            </a:outerShdw>
          </a:effectLst>
        </p:spPr>
      </p:sp>
      <p:sp>
        <p:nvSpPr>
          <p:cNvPr id="8" name="Shape 6"/>
          <p:cNvSpPr/>
          <p:nvPr/>
        </p:nvSpPr>
        <p:spPr>
          <a:xfrm>
            <a:off x="777240" y="2331720"/>
            <a:ext cx="502920" cy="502920"/>
          </a:xfrm>
          <a:prstGeom prst="ellipse">
            <a:avLst/>
          </a:prstGeom>
          <a:solidFill>
            <a:srgbClr val="1E2761"/>
          </a:solidFill>
          <a:ln/>
        </p:spPr>
      </p:sp>
      <p:sp>
        <p:nvSpPr>
          <p:cNvPr id="9" name="Text 7"/>
          <p:cNvSpPr/>
          <p:nvPr/>
        </p:nvSpPr>
        <p:spPr>
          <a:xfrm>
            <a:off x="777240" y="2331720"/>
            <a:ext cx="502920" cy="502920"/>
          </a:xfrm>
          <a:prstGeom prst="rect">
            <a:avLst/>
          </a:prstGeom>
          <a:noFill/>
          <a:ln/>
        </p:spPr>
        <p:txBody>
          <a:bodyPr wrap="square" lIns="0" tIns="0" rIns="0" bIns="0"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3.1</a:t>
            </a:r>
            <a:endParaRPr lang="en-US" sz="1300" dirty="0"/>
          </a:p>
        </p:txBody>
      </p:sp>
      <p:pic>
        <p:nvPicPr>
          <p:cNvPr id="10" name="Image 0" descr="preencoded.png">    </p:cNvPr>
          <p:cNvPicPr>
            <a:picLocks noChangeAspect="1"/>
          </p:cNvPicPr>
          <p:nvPr/>
        </p:nvPicPr>
        <p:blipFill>
          <a:blip r:embed="rId1"/>
          <a:stretch>
            <a:fillRect/>
          </a:stretch>
        </p:blipFill>
        <p:spPr>
          <a:xfrm>
            <a:off x="1508760" y="2404872"/>
            <a:ext cx="365760" cy="365760"/>
          </a:xfrm>
          <a:prstGeom prst="rect">
            <a:avLst/>
          </a:prstGeom>
        </p:spPr>
      </p:pic>
      <p:sp>
        <p:nvSpPr>
          <p:cNvPr id="11" name="Text 8"/>
          <p:cNvSpPr/>
          <p:nvPr/>
        </p:nvSpPr>
        <p:spPr>
          <a:xfrm>
            <a:off x="2057400" y="2148840"/>
            <a:ext cx="2377440" cy="868680"/>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계획 완료</a:t>
            </a:r>
            <a:endParaRPr lang="en-US" sz="1650" dirty="0"/>
          </a:p>
        </p:txBody>
      </p:sp>
      <p:sp>
        <p:nvSpPr>
          <p:cNvPr id="12" name="Text 9"/>
          <p:cNvSpPr/>
          <p:nvPr/>
        </p:nvSpPr>
        <p:spPr>
          <a:xfrm>
            <a:off x="4480560" y="2148840"/>
            <a:ext cx="6949440" cy="868680"/>
          </a:xfrm>
          <a:prstGeom prst="rect">
            <a:avLst/>
          </a:prstGeom>
          <a:noFill/>
          <a:ln/>
        </p:spPr>
        <p:txBody>
          <a:bodyPr wrap="square" lIns="0" tIns="0" rIns="0" bIns="0" rtlCol="0" anchor="ctr"/>
          <a:lstStyle/>
          <a:p>
            <a:pPr indent="0" marL="0">
              <a:lnSpc>
                <a:spcPct val="100000"/>
              </a:lnSpc>
              <a:buNone/>
            </a:pPr>
            <a:r>
              <a:rPr lang="en-US" sz="1300" dirty="0">
                <a:solidFill>
                  <a:srgbClr val="1A1F36"/>
                </a:solidFill>
                <a:latin typeface="Calibri" pitchFamily="34" charset="0"/>
                <a:ea typeface="Calibri" pitchFamily="34" charset="-122"/>
                <a:cs typeface="Calibri" pitchFamily="34" charset="-120"/>
              </a:rPr>
              <a:t>교차검증 + 이의처리(Accepted/Rejected/Escalated) + 인간 승인까지 끝나야 구현 시작</a:t>
            </a:r>
            <a:endParaRPr lang="en-US" sz="1300" dirty="0"/>
          </a:p>
        </p:txBody>
      </p:sp>
      <p:sp>
        <p:nvSpPr>
          <p:cNvPr id="13" name="Shape 10"/>
          <p:cNvSpPr/>
          <p:nvPr/>
        </p:nvSpPr>
        <p:spPr>
          <a:xfrm>
            <a:off x="548640" y="3108960"/>
            <a:ext cx="11064240" cy="868680"/>
          </a:xfrm>
          <a:prstGeom prst="roundRect">
            <a:avLst>
              <a:gd name="adj" fmla="val 8421"/>
            </a:avLst>
          </a:prstGeom>
          <a:solidFill>
            <a:srgbClr val="EEF3FC"/>
          </a:solidFill>
          <a:ln/>
          <a:effectLst>
            <a:outerShdw sx="100000" sy="100000" kx="0" ky="0" algn="bl" rotWithShape="0" blurRad="114300" dist="38100" dir="5400000">
              <a:srgbClr val="1A1F36">
                <a:alpha val="16000"/>
              </a:srgbClr>
            </a:outerShdw>
          </a:effectLst>
        </p:spPr>
      </p:sp>
      <p:sp>
        <p:nvSpPr>
          <p:cNvPr id="14" name="Shape 11"/>
          <p:cNvSpPr/>
          <p:nvPr/>
        </p:nvSpPr>
        <p:spPr>
          <a:xfrm>
            <a:off x="777240" y="3291840"/>
            <a:ext cx="502920" cy="502920"/>
          </a:xfrm>
          <a:prstGeom prst="ellipse">
            <a:avLst/>
          </a:prstGeom>
          <a:solidFill>
            <a:srgbClr val="1E2761"/>
          </a:solidFill>
          <a:ln/>
        </p:spPr>
      </p:sp>
      <p:sp>
        <p:nvSpPr>
          <p:cNvPr id="15" name="Text 12"/>
          <p:cNvSpPr/>
          <p:nvPr/>
        </p:nvSpPr>
        <p:spPr>
          <a:xfrm>
            <a:off x="777240" y="3291840"/>
            <a:ext cx="502920" cy="502920"/>
          </a:xfrm>
          <a:prstGeom prst="rect">
            <a:avLst/>
          </a:prstGeom>
          <a:noFill/>
          <a:ln/>
        </p:spPr>
        <p:txBody>
          <a:bodyPr wrap="square" lIns="0" tIns="0" rIns="0" bIns="0"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3.2</a:t>
            </a:r>
            <a:endParaRPr lang="en-US" sz="1300" dirty="0"/>
          </a:p>
        </p:txBody>
      </p:sp>
      <p:pic>
        <p:nvPicPr>
          <p:cNvPr id="16" name="Image 1" descr="preencoded.png">    </p:cNvPr>
          <p:cNvPicPr>
            <a:picLocks noChangeAspect="1"/>
          </p:cNvPicPr>
          <p:nvPr/>
        </p:nvPicPr>
        <p:blipFill>
          <a:blip r:embed="rId2"/>
          <a:stretch>
            <a:fillRect/>
          </a:stretch>
        </p:blipFill>
        <p:spPr>
          <a:xfrm>
            <a:off x="1508760" y="3364992"/>
            <a:ext cx="365760" cy="365760"/>
          </a:xfrm>
          <a:prstGeom prst="rect">
            <a:avLst/>
          </a:prstGeom>
        </p:spPr>
      </p:pic>
      <p:sp>
        <p:nvSpPr>
          <p:cNvPr id="17" name="Text 13"/>
          <p:cNvSpPr/>
          <p:nvPr/>
        </p:nvSpPr>
        <p:spPr>
          <a:xfrm>
            <a:off x="2057400" y="3108960"/>
            <a:ext cx="2377440" cy="868680"/>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구현 완료</a:t>
            </a:r>
            <a:endParaRPr lang="en-US" sz="1650" dirty="0"/>
          </a:p>
        </p:txBody>
      </p:sp>
      <p:sp>
        <p:nvSpPr>
          <p:cNvPr id="18" name="Text 14"/>
          <p:cNvSpPr/>
          <p:nvPr/>
        </p:nvSpPr>
        <p:spPr>
          <a:xfrm>
            <a:off x="4480560" y="3108960"/>
            <a:ext cx="6949440" cy="868680"/>
          </a:xfrm>
          <a:prstGeom prst="rect">
            <a:avLst/>
          </a:prstGeom>
          <a:noFill/>
          <a:ln/>
        </p:spPr>
        <p:txBody>
          <a:bodyPr wrap="square" lIns="0" tIns="0" rIns="0" bIns="0" rtlCol="0" anchor="ctr"/>
          <a:lstStyle/>
          <a:p>
            <a:pPr indent="0" marL="0">
              <a:lnSpc>
                <a:spcPct val="100000"/>
              </a:lnSpc>
              <a:buNone/>
            </a:pPr>
            <a:r>
              <a:rPr lang="en-US" sz="1300" dirty="0">
                <a:solidFill>
                  <a:srgbClr val="1A1F36"/>
                </a:solidFill>
                <a:latin typeface="Calibri" pitchFamily="34" charset="0"/>
                <a:ea typeface="Calibri" pitchFamily="34" charset="-122"/>
                <a:cs typeface="Calibri" pitchFamily="34" charset="-120"/>
              </a:rPr>
              <a:t>수락기준 1:1 추적표 · TODO/FIXME 0건 · 스코프 위반 0건을 diff 명령으로 입증</a:t>
            </a:r>
            <a:endParaRPr lang="en-US" sz="1300" dirty="0"/>
          </a:p>
        </p:txBody>
      </p:sp>
      <p:sp>
        <p:nvSpPr>
          <p:cNvPr id="19" name="Shape 15"/>
          <p:cNvSpPr/>
          <p:nvPr/>
        </p:nvSpPr>
        <p:spPr>
          <a:xfrm>
            <a:off x="548640" y="4069080"/>
            <a:ext cx="11064240" cy="868680"/>
          </a:xfrm>
          <a:prstGeom prst="roundRect">
            <a:avLst>
              <a:gd name="adj" fmla="val 8421"/>
            </a:avLst>
          </a:prstGeom>
          <a:solidFill>
            <a:srgbClr val="EEF3FC"/>
          </a:solidFill>
          <a:ln/>
          <a:effectLst>
            <a:outerShdw sx="100000" sy="100000" kx="0" ky="0" algn="bl" rotWithShape="0" blurRad="114300" dist="38100" dir="5400000">
              <a:srgbClr val="1A1F36">
                <a:alpha val="16000"/>
              </a:srgbClr>
            </a:outerShdw>
          </a:effectLst>
        </p:spPr>
      </p:sp>
      <p:sp>
        <p:nvSpPr>
          <p:cNvPr id="20" name="Shape 16"/>
          <p:cNvSpPr/>
          <p:nvPr/>
        </p:nvSpPr>
        <p:spPr>
          <a:xfrm>
            <a:off x="777240" y="4251960"/>
            <a:ext cx="502920" cy="502920"/>
          </a:xfrm>
          <a:prstGeom prst="ellipse">
            <a:avLst/>
          </a:prstGeom>
          <a:solidFill>
            <a:srgbClr val="1E2761"/>
          </a:solidFill>
          <a:ln/>
        </p:spPr>
      </p:sp>
      <p:sp>
        <p:nvSpPr>
          <p:cNvPr id="21" name="Text 17"/>
          <p:cNvSpPr/>
          <p:nvPr/>
        </p:nvSpPr>
        <p:spPr>
          <a:xfrm>
            <a:off x="777240" y="4251960"/>
            <a:ext cx="502920" cy="502920"/>
          </a:xfrm>
          <a:prstGeom prst="rect">
            <a:avLst/>
          </a:prstGeom>
          <a:noFill/>
          <a:ln/>
        </p:spPr>
        <p:txBody>
          <a:bodyPr wrap="square" lIns="0" tIns="0" rIns="0" bIns="0"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3.3</a:t>
            </a:r>
            <a:endParaRPr lang="en-US" sz="1300" dirty="0"/>
          </a:p>
        </p:txBody>
      </p:sp>
      <p:pic>
        <p:nvPicPr>
          <p:cNvPr id="22" name="Image 2" descr="preencoded.png">    </p:cNvPr>
          <p:cNvPicPr>
            <a:picLocks noChangeAspect="1"/>
          </p:cNvPicPr>
          <p:nvPr/>
        </p:nvPicPr>
        <p:blipFill>
          <a:blip r:embed="rId3"/>
          <a:stretch>
            <a:fillRect/>
          </a:stretch>
        </p:blipFill>
        <p:spPr>
          <a:xfrm>
            <a:off x="1508760" y="4325112"/>
            <a:ext cx="365760" cy="365760"/>
          </a:xfrm>
          <a:prstGeom prst="rect">
            <a:avLst/>
          </a:prstGeom>
        </p:spPr>
      </p:pic>
      <p:sp>
        <p:nvSpPr>
          <p:cNvPr id="23" name="Text 18"/>
          <p:cNvSpPr/>
          <p:nvPr/>
        </p:nvSpPr>
        <p:spPr>
          <a:xfrm>
            <a:off x="2057400" y="4069080"/>
            <a:ext cx="2377440" cy="868680"/>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테스트 완료</a:t>
            </a:r>
            <a:endParaRPr lang="en-US" sz="1650" dirty="0"/>
          </a:p>
        </p:txBody>
      </p:sp>
      <p:sp>
        <p:nvSpPr>
          <p:cNvPr id="24" name="Text 19"/>
          <p:cNvSpPr/>
          <p:nvPr/>
        </p:nvSpPr>
        <p:spPr>
          <a:xfrm>
            <a:off x="4480560" y="4069080"/>
            <a:ext cx="6949440" cy="868680"/>
          </a:xfrm>
          <a:prstGeom prst="rect">
            <a:avLst/>
          </a:prstGeom>
          <a:noFill/>
          <a:ln/>
        </p:spPr>
        <p:txBody>
          <a:bodyPr wrap="square" lIns="0" tIns="0" rIns="0" bIns="0" rtlCol="0" anchor="ctr"/>
          <a:lstStyle/>
          <a:p>
            <a:pPr indent="0" marL="0">
              <a:lnSpc>
                <a:spcPct val="100000"/>
              </a:lnSpc>
              <a:buNone/>
            </a:pPr>
            <a:r>
              <a:rPr lang="en-US" sz="1300" dirty="0">
                <a:solidFill>
                  <a:srgbClr val="1A1F36"/>
                </a:solidFill>
                <a:latin typeface="Calibri" pitchFamily="34" charset="0"/>
                <a:ea typeface="Calibri" pitchFamily="34" charset="-122"/>
                <a:cs typeface="Calibri" pitchFamily="34" charset="-120"/>
              </a:rPr>
              <a:t>테스트 실패 0 · 린트/타입 0 · 신규 로직 커버리지 ≥80%(종료코드로 게이트)</a:t>
            </a:r>
            <a:endParaRPr lang="en-US" sz="1300" dirty="0"/>
          </a:p>
        </p:txBody>
      </p:sp>
      <p:sp>
        <p:nvSpPr>
          <p:cNvPr id="25" name="Shape 20"/>
          <p:cNvSpPr/>
          <p:nvPr/>
        </p:nvSpPr>
        <p:spPr>
          <a:xfrm>
            <a:off x="548640" y="5029200"/>
            <a:ext cx="11064240" cy="868680"/>
          </a:xfrm>
          <a:prstGeom prst="roundRect">
            <a:avLst>
              <a:gd name="adj" fmla="val 8421"/>
            </a:avLst>
          </a:prstGeom>
          <a:solidFill>
            <a:srgbClr val="EEF3FC"/>
          </a:solidFill>
          <a:ln/>
          <a:effectLst>
            <a:outerShdw sx="100000" sy="100000" kx="0" ky="0" algn="bl" rotWithShape="0" blurRad="114300" dist="38100" dir="5400000">
              <a:srgbClr val="1A1F36">
                <a:alpha val="16000"/>
              </a:srgbClr>
            </a:outerShdw>
          </a:effectLst>
        </p:spPr>
      </p:sp>
      <p:sp>
        <p:nvSpPr>
          <p:cNvPr id="26" name="Shape 21"/>
          <p:cNvSpPr/>
          <p:nvPr/>
        </p:nvSpPr>
        <p:spPr>
          <a:xfrm>
            <a:off x="777240" y="5212080"/>
            <a:ext cx="502920" cy="502920"/>
          </a:xfrm>
          <a:prstGeom prst="ellipse">
            <a:avLst/>
          </a:prstGeom>
          <a:solidFill>
            <a:srgbClr val="1E2761"/>
          </a:solidFill>
          <a:ln/>
        </p:spPr>
      </p:sp>
      <p:sp>
        <p:nvSpPr>
          <p:cNvPr id="27" name="Text 22"/>
          <p:cNvSpPr/>
          <p:nvPr/>
        </p:nvSpPr>
        <p:spPr>
          <a:xfrm>
            <a:off x="777240" y="5212080"/>
            <a:ext cx="502920" cy="502920"/>
          </a:xfrm>
          <a:prstGeom prst="rect">
            <a:avLst/>
          </a:prstGeom>
          <a:noFill/>
          <a:ln/>
        </p:spPr>
        <p:txBody>
          <a:bodyPr wrap="square" lIns="0" tIns="0" rIns="0" bIns="0"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3.4</a:t>
            </a:r>
            <a:endParaRPr lang="en-US" sz="1300" dirty="0"/>
          </a:p>
        </p:txBody>
      </p:sp>
      <p:pic>
        <p:nvPicPr>
          <p:cNvPr id="28" name="Image 3" descr="preencoded.png">    </p:cNvPr>
          <p:cNvPicPr>
            <a:picLocks noChangeAspect="1"/>
          </p:cNvPicPr>
          <p:nvPr/>
        </p:nvPicPr>
        <p:blipFill>
          <a:blip r:embed="rId4"/>
          <a:stretch>
            <a:fillRect/>
          </a:stretch>
        </p:blipFill>
        <p:spPr>
          <a:xfrm>
            <a:off x="1508760" y="5285232"/>
            <a:ext cx="365760" cy="365760"/>
          </a:xfrm>
          <a:prstGeom prst="rect">
            <a:avLst/>
          </a:prstGeom>
        </p:spPr>
      </p:pic>
      <p:sp>
        <p:nvSpPr>
          <p:cNvPr id="29" name="Text 23"/>
          <p:cNvSpPr/>
          <p:nvPr/>
        </p:nvSpPr>
        <p:spPr>
          <a:xfrm>
            <a:off x="2057400" y="5029200"/>
            <a:ext cx="2377440" cy="868680"/>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아키텍처 산출물</a:t>
            </a:r>
            <a:endParaRPr lang="en-US" sz="1650" dirty="0"/>
          </a:p>
        </p:txBody>
      </p:sp>
      <p:sp>
        <p:nvSpPr>
          <p:cNvPr id="30" name="Text 24"/>
          <p:cNvSpPr/>
          <p:nvPr/>
        </p:nvSpPr>
        <p:spPr>
          <a:xfrm>
            <a:off x="4480560" y="5029200"/>
            <a:ext cx="6949440" cy="868680"/>
          </a:xfrm>
          <a:prstGeom prst="rect">
            <a:avLst/>
          </a:prstGeom>
          <a:noFill/>
          <a:ln/>
        </p:spPr>
        <p:txBody>
          <a:bodyPr wrap="square" lIns="0" tIns="0" rIns="0" bIns="0" rtlCol="0" anchor="ctr"/>
          <a:lstStyle/>
          <a:p>
            <a:pPr indent="0" marL="0">
              <a:lnSpc>
                <a:spcPct val="100000"/>
              </a:lnSpc>
              <a:buNone/>
            </a:pPr>
            <a:r>
              <a:rPr lang="en-US" sz="1300" dirty="0">
                <a:solidFill>
                  <a:srgbClr val="1A1F36"/>
                </a:solidFill>
                <a:latin typeface="Calibri" pitchFamily="34" charset="0"/>
                <a:ea typeface="Calibri" pitchFamily="34" charset="-122"/>
                <a:cs typeface="Calibri" pitchFamily="34" charset="-120"/>
              </a:rPr>
              <a:t>system·sequence·data·db-schema·security·deployment + ADR, mermaid 포함</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§3.2 EVIDENCE</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예시 — '스코프 준수'를 명령으로 증명</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Text 4"/>
          <p:cNvSpPr/>
          <p:nvPr/>
        </p:nvSpPr>
        <p:spPr>
          <a:xfrm>
            <a:off x="548640" y="1508760"/>
            <a:ext cx="10972800" cy="457200"/>
          </a:xfrm>
          <a:prstGeom prst="rect">
            <a:avLst/>
          </a:prstGeom>
          <a:noFill/>
          <a:ln/>
        </p:spPr>
        <p:txBody>
          <a:bodyPr wrap="square" lIns="0" tIns="0" rIns="0" bIns="0" rtlCol="0" anchor="ctr"/>
          <a:lstStyle/>
          <a:p>
            <a:pPr indent="0" marL="0">
              <a:buNone/>
            </a:pPr>
            <a:r>
              <a:rPr lang="en-US" sz="1450" dirty="0">
                <a:solidFill>
                  <a:srgbClr val="1A1F36"/>
                </a:solidFill>
                <a:latin typeface="Calibri" pitchFamily="34" charset="0"/>
                <a:ea typeface="Calibri" pitchFamily="34" charset="-122"/>
                <a:cs typeface="Calibri" pitchFamily="34" charset="-120"/>
              </a:rPr>
              <a:t>할당된 영역 밖 파일을 건드렸는지, 사람이 눈으로 보지 않고 diff로 판정한다.</a:t>
            </a:r>
            <a:endParaRPr lang="en-US" sz="1450" dirty="0"/>
          </a:p>
        </p:txBody>
      </p:sp>
      <p:sp>
        <p:nvSpPr>
          <p:cNvPr id="7" name="Shape 5"/>
          <p:cNvSpPr/>
          <p:nvPr/>
        </p:nvSpPr>
        <p:spPr>
          <a:xfrm>
            <a:off x="548640" y="2057400"/>
            <a:ext cx="7315200" cy="3749040"/>
          </a:xfrm>
          <a:prstGeom prst="roundRect">
            <a:avLst>
              <a:gd name="adj" fmla="val 1951"/>
            </a:avLst>
          </a:prstGeom>
          <a:solidFill>
            <a:srgbClr val="16203F"/>
          </a:solidFill>
          <a:ln/>
          <a:effectLst>
            <a:outerShdw sx="100000" sy="100000" kx="0" ky="0" algn="bl" rotWithShape="0" blurRad="114300" dist="38100" dir="5400000">
              <a:srgbClr val="1A1F36">
                <a:alpha val="16000"/>
              </a:srgbClr>
            </a:outerShdw>
          </a:effectLst>
        </p:spPr>
      </p:sp>
      <p:sp>
        <p:nvSpPr>
          <p:cNvPr id="8" name="Text 6"/>
          <p:cNvSpPr/>
          <p:nvPr/>
        </p:nvSpPr>
        <p:spPr>
          <a:xfrm>
            <a:off x="822960" y="2286000"/>
            <a:ext cx="6858000" cy="3291840"/>
          </a:xfrm>
          <a:prstGeom prst="rect">
            <a:avLst/>
          </a:prstGeom>
          <a:noFill/>
          <a:ln/>
        </p:spPr>
        <p:txBody>
          <a:bodyPr wrap="square" lIns="0" tIns="0" rIns="0" bIns="0" rtlCol="0" anchor="ctr"/>
          <a:lstStyle/>
          <a:p>
            <a:pPr indent="0" marL="0">
              <a:lnSpc>
                <a:spcPct val="122000"/>
              </a:lnSpc>
              <a:buNone/>
            </a:pPr>
            <a:r>
              <a:rPr lang="en-US" sz="1300" dirty="0">
                <a:solidFill>
                  <a:srgbClr val="8FE3CE"/>
                </a:solidFill>
                <a:latin typeface="Consolas" pitchFamily="34" charset="0"/>
                <a:ea typeface="Consolas" pitchFamily="34" charset="-122"/>
                <a:cs typeface="Consolas" pitchFamily="34" charset="-120"/>
              </a:rPr>
              <a:t>SCOPE='backend/'</a:t>
            </a:r>
            <a:endParaRPr lang="en-US" sz="1300" dirty="0"/>
          </a:p>
          <a:p>
            <a:pPr indent="0" marL="0">
              <a:lnSpc>
                <a:spcPct val="122000"/>
              </a:lnSpc>
              <a:buNone/>
            </a:pPr>
            <a:r>
              <a:rPr lang="en-US" sz="1300" dirty="0">
                <a:solidFill>
                  <a:srgbClr val="CADCFC"/>
                </a:solidFill>
                <a:latin typeface="Consolas" pitchFamily="34" charset="0"/>
                <a:ea typeface="Consolas" pitchFamily="34" charset="-122"/>
                <a:cs typeface="Consolas" pitchFamily="34" charset="-120"/>
              </a:rPr>
              <a:t>name_status=$(git diff --cached --name-status -M)</a:t>
            </a:r>
            <a:endParaRPr lang="en-US" sz="1300" dirty="0"/>
          </a:p>
          <a:p>
            <a:pPr indent="0" marL="0">
              <a:lnSpc>
                <a:spcPct val="122000"/>
              </a:lnSpc>
              <a:buNone/>
            </a:pPr>
            <a:r>
              <a:rPr lang="en-US" sz="1300" dirty="0">
                <a:solidFill>
                  <a:srgbClr val="CADCFC"/>
                </a:solidFill>
                <a:latin typeface="Consolas" pitchFamily="34" charset="0"/>
                <a:ea typeface="Consolas" pitchFamily="34" charset="-122"/>
                <a:cs typeface="Consolas" pitchFamily="34" charset="-120"/>
              </a:rPr>
              <a:t>violations=$(printf '%s\n' "$name_status" \</a:t>
            </a:r>
            <a:endParaRPr lang="en-US" sz="1300" dirty="0"/>
          </a:p>
          <a:p>
            <a:pPr indent="0" marL="0">
              <a:lnSpc>
                <a:spcPct val="122000"/>
              </a:lnSpc>
              <a:buNone/>
            </a:pPr>
            <a:r>
              <a:rPr lang="en-US" sz="1300" dirty="0">
                <a:solidFill>
                  <a:srgbClr val="CADCFC"/>
                </a:solidFill>
                <a:latin typeface="Consolas" pitchFamily="34" charset="0"/>
                <a:ea typeface="Consolas" pitchFamily="34" charset="-122"/>
                <a:cs typeface="Consolas" pitchFamily="34" charset="-120"/>
              </a:rPr>
              <a:t>  | awk -v scope="$SCOPE" '</a:t>
            </a:r>
            <a:endParaRPr lang="en-US" sz="1300" dirty="0"/>
          </a:p>
          <a:p>
            <a:pPr indent="0" marL="0">
              <a:lnSpc>
                <a:spcPct val="122000"/>
              </a:lnSpc>
              <a:buNone/>
            </a:pPr>
            <a:r>
              <a:rPr lang="en-US" sz="1300" dirty="0">
                <a:solidFill>
                  <a:srgbClr val="CADCFC"/>
                </a:solidFill>
                <a:latin typeface="Consolas" pitchFamily="34" charset="0"/>
                <a:ea typeface="Consolas" pitchFamily="34" charset="-122"/>
                <a:cs typeface="Consolas" pitchFamily="34" charset="-120"/>
              </a:rPr>
              <a:t>      NF&gt;=2 &amp;&amp; index($2,scope)!=1 { print $2 }')</a:t>
            </a:r>
            <a:endParaRPr lang="en-US" sz="1300" dirty="0"/>
          </a:p>
          <a:p>
            <a:pPr indent="0" marL="0">
              <a:lnSpc>
                <a:spcPct val="122000"/>
              </a:lnSpc>
              <a:buNone/>
            </a:pPr>
            <a:r>
              <a:rPr lang="en-US" sz="800" dirty="0">
                <a:solidFill>
                  <a:srgbClr val="000000"/>
                </a:solidFill>
                <a:latin typeface="Consolas" pitchFamily="34" charset="0"/>
                <a:ea typeface="Consolas" pitchFamily="34" charset="-122"/>
                <a:cs typeface="Consolas" pitchFamily="34" charset="-120"/>
              </a:rPr>
              <a:t> </a:t>
            </a:r>
            <a:endParaRPr lang="en-US" sz="1300" dirty="0"/>
          </a:p>
          <a:p>
            <a:pPr indent="0" marL="0">
              <a:lnSpc>
                <a:spcPct val="122000"/>
              </a:lnSpc>
              <a:buNone/>
            </a:pPr>
            <a:r>
              <a:rPr lang="en-US" sz="1300" dirty="0">
                <a:solidFill>
                  <a:srgbClr val="CADCFC"/>
                </a:solidFill>
                <a:latin typeface="Consolas" pitchFamily="34" charset="0"/>
                <a:ea typeface="Consolas" pitchFamily="34" charset="-122"/>
                <a:cs typeface="Consolas" pitchFamily="34" charset="-120"/>
              </a:rPr>
              <a:t>[ -z "$violations" ] \</a:t>
            </a:r>
            <a:endParaRPr lang="en-US" sz="1300" dirty="0"/>
          </a:p>
          <a:p>
            <a:pPr indent="0" marL="0">
              <a:lnSpc>
                <a:spcPct val="122000"/>
              </a:lnSpc>
              <a:buNone/>
            </a:pPr>
            <a:r>
              <a:rPr lang="en-US" sz="1300" dirty="0">
                <a:solidFill>
                  <a:srgbClr val="8FE3CE"/>
                </a:solidFill>
                <a:latin typeface="Consolas" pitchFamily="34" charset="0"/>
                <a:ea typeface="Consolas" pitchFamily="34" charset="-122"/>
                <a:cs typeface="Consolas" pitchFamily="34" charset="-120"/>
              </a:rPr>
              <a:t>  &amp;&amp; echo "[PASS] 스코프 준수" \</a:t>
            </a:r>
            <a:endParaRPr lang="en-US" sz="1300" dirty="0"/>
          </a:p>
          <a:p>
            <a:pPr indent="0" marL="0">
              <a:lnSpc>
                <a:spcPct val="122000"/>
              </a:lnSpc>
              <a:buNone/>
            </a:pPr>
            <a:r>
              <a:rPr lang="en-US" sz="1300" dirty="0">
                <a:solidFill>
                  <a:srgbClr val="F2A8B2"/>
                </a:solidFill>
                <a:latin typeface="Consolas" pitchFamily="34" charset="0"/>
                <a:ea typeface="Consolas" pitchFamily="34" charset="-122"/>
                <a:cs typeface="Consolas" pitchFamily="34" charset="-120"/>
              </a:rPr>
              <a:t>  || { echo "[FAIL] 스코프 위반:"; echo "$violations"; }</a:t>
            </a:r>
            <a:endParaRPr lang="en-US" sz="1300" dirty="0"/>
          </a:p>
        </p:txBody>
      </p:sp>
      <p:sp>
        <p:nvSpPr>
          <p:cNvPr id="9" name="Shape 7"/>
          <p:cNvSpPr/>
          <p:nvPr/>
        </p:nvSpPr>
        <p:spPr>
          <a:xfrm>
            <a:off x="8138160" y="2057400"/>
            <a:ext cx="3474720" cy="3749040"/>
          </a:xfrm>
          <a:prstGeom prst="roundRect">
            <a:avLst>
              <a:gd name="adj" fmla="val 2632"/>
            </a:avLst>
          </a:prstGeom>
          <a:solidFill>
            <a:srgbClr val="EEF3FC"/>
          </a:solidFill>
          <a:ln/>
          <a:effectLst>
            <a:outerShdw sx="100000" sy="100000" kx="0" ky="0" algn="bl" rotWithShape="0" blurRad="114300" dist="38100" dir="5400000">
              <a:srgbClr val="1A1F36">
                <a:alpha val="16000"/>
              </a:srgbClr>
            </a:outerShdw>
          </a:effectLst>
        </p:spPr>
      </p:sp>
      <p:sp>
        <p:nvSpPr>
          <p:cNvPr id="10" name="Text 8"/>
          <p:cNvSpPr/>
          <p:nvPr/>
        </p:nvSpPr>
        <p:spPr>
          <a:xfrm>
            <a:off x="8366760" y="2286000"/>
            <a:ext cx="301752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왜 이렇게까지?</a:t>
            </a:r>
            <a:endParaRPr lang="en-US" sz="1600" dirty="0"/>
          </a:p>
        </p:txBody>
      </p:sp>
      <p:sp>
        <p:nvSpPr>
          <p:cNvPr id="11" name="Text 9"/>
          <p:cNvSpPr/>
          <p:nvPr/>
        </p:nvSpPr>
        <p:spPr>
          <a:xfrm>
            <a:off x="8366760" y="2834640"/>
            <a:ext cx="3063240" cy="2834640"/>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250" dirty="0">
                <a:solidFill>
                  <a:srgbClr val="1A1F36"/>
                </a:solidFill>
                <a:latin typeface="Calibri" pitchFamily="34" charset="0"/>
                <a:ea typeface="Calibri" pitchFamily="34" charset="-122"/>
                <a:cs typeface="Calibri" pitchFamily="34" charset="-120"/>
              </a:rPr>
              <a:t>rename 양쪽 경로(-M)까지 검사해 '몰래 옮기기' 사각지대 차단</a:t>
            </a:r>
            <a:endParaRPr lang="en-US" sz="1250" dirty="0"/>
          </a:p>
          <a:p>
            <a:pPr marL="342900" indent="-342900">
              <a:lnSpc>
                <a:spcPct val="110000"/>
              </a:lnSpc>
              <a:spcAft>
                <a:spcPts val="800"/>
              </a:spcAft>
              <a:buSzPct val="100000"/>
              <a:buChar char="•"/>
            </a:pPr>
            <a:r>
              <a:rPr lang="en-US" sz="1250" dirty="0">
                <a:solidFill>
                  <a:srgbClr val="1A1F36"/>
                </a:solidFill>
                <a:latin typeface="Calibri" pitchFamily="34" charset="0"/>
                <a:ea typeface="Calibri" pitchFamily="34" charset="-122"/>
                <a:cs typeface="Calibri" pitchFamily="34" charset="-120"/>
              </a:rPr>
              <a:t>출력이 비면 통과, 경로가 찍히면 위반 — 판정이 명확</a:t>
            </a:r>
            <a:endParaRPr lang="en-US" sz="1250" dirty="0"/>
          </a:p>
          <a:p>
            <a:pPr marL="342900" indent="-342900">
              <a:lnSpc>
                <a:spcPct val="110000"/>
              </a:lnSpc>
              <a:spcAft>
                <a:spcPts val="800"/>
              </a:spcAft>
              <a:buSzPct val="100000"/>
              <a:buChar char="•"/>
            </a:pPr>
            <a:r>
              <a:rPr lang="en-US" sz="1250" dirty="0">
                <a:solidFill>
                  <a:srgbClr val="1A1F36"/>
                </a:solidFill>
                <a:latin typeface="Calibri" pitchFamily="34" charset="0"/>
                <a:ea typeface="Calibri" pitchFamily="34" charset="-122"/>
                <a:cs typeface="Calibri" pitchFamily="34" charset="-120"/>
              </a:rPr>
              <a:t>git 저장소 아니면 §4 이스케이프로 분기</a:t>
            </a:r>
            <a:endParaRPr lang="en-US" sz="1250" dirty="0"/>
          </a:p>
          <a:p>
            <a:pPr marL="342900" indent="-342900">
              <a:lnSpc>
                <a:spcPct val="110000"/>
              </a:lnSpc>
              <a:buSzPct val="100000"/>
              <a:buChar char="•"/>
            </a:pPr>
            <a:r>
              <a:rPr lang="en-US" sz="1250" dirty="0">
                <a:solidFill>
                  <a:srgbClr val="1A1F36"/>
                </a:solidFill>
                <a:latin typeface="Calibri" pitchFamily="34" charset="0"/>
                <a:ea typeface="Calibri" pitchFamily="34" charset="-122"/>
                <a:cs typeface="Calibri" pitchFamily="34" charset="-120"/>
              </a:rPr>
              <a:t>임시코드·커버리지도 같은 방식으로 게이트</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§4 ESCALATION</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이스케이프 밸브 — 멈춰야 할 때 멈추기</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Text 4"/>
          <p:cNvSpPr/>
          <p:nvPr/>
        </p:nvSpPr>
        <p:spPr>
          <a:xfrm>
            <a:off x="548640" y="1508760"/>
            <a:ext cx="10972800" cy="457200"/>
          </a:xfrm>
          <a:prstGeom prst="rect">
            <a:avLst/>
          </a:prstGeom>
          <a:noFill/>
          <a:ln/>
        </p:spPr>
        <p:txBody>
          <a:bodyPr wrap="square" lIns="0" tIns="0" rIns="0" bIns="0" rtlCol="0" anchor="ctr"/>
          <a:lstStyle/>
          <a:p>
            <a:pPr indent="0" marL="0">
              <a:buNone/>
            </a:pPr>
            <a:r>
              <a:rPr lang="en-US" sz="1500" i="1" dirty="0">
                <a:solidFill>
                  <a:srgbClr val="1A1F36"/>
                </a:solidFill>
                <a:latin typeface="Calibri" pitchFamily="34" charset="0"/>
                <a:ea typeface="Calibri" pitchFamily="34" charset="-122"/>
                <a:cs typeface="Calibri" pitchFamily="34" charset="-120"/>
              </a:rPr>
              <a:t>다음 상황에선 추측하지 말고 즉시 작업을 중단하고 인간에게 묻는다.</a:t>
            </a:r>
            <a:endParaRPr lang="en-US" sz="1500" dirty="0"/>
          </a:p>
        </p:txBody>
      </p:sp>
      <p:sp>
        <p:nvSpPr>
          <p:cNvPr id="7" name="Shape 5"/>
          <p:cNvSpPr/>
          <p:nvPr/>
        </p:nvSpPr>
        <p:spPr>
          <a:xfrm>
            <a:off x="548640" y="2240280"/>
            <a:ext cx="3520440" cy="1600200"/>
          </a:xfrm>
          <a:prstGeom prst="roundRect">
            <a:avLst>
              <a:gd name="adj" fmla="val 5714"/>
            </a:avLst>
          </a:prstGeom>
          <a:solidFill>
            <a:srgbClr val="FFFFFF"/>
          </a:solidFill>
          <a:ln w="15240">
            <a:solidFill>
              <a:srgbClr val="F0DCC0"/>
            </a:solidFill>
            <a:prstDash val="solid"/>
          </a:ln>
          <a:effectLst>
            <a:outerShdw sx="100000" sy="100000" kx="0" ky="0" algn="bl" rotWithShape="0" blurRad="114300" dist="38100" dir="5400000">
              <a:srgbClr val="1A1F36">
                <a:alpha val="16000"/>
              </a:srgbClr>
            </a:outerShdw>
          </a:effectLst>
        </p:spPr>
      </p:sp>
      <p:sp>
        <p:nvSpPr>
          <p:cNvPr id="8" name="Shape 6"/>
          <p:cNvSpPr/>
          <p:nvPr/>
        </p:nvSpPr>
        <p:spPr>
          <a:xfrm>
            <a:off x="777240" y="2514600"/>
            <a:ext cx="640080" cy="640080"/>
          </a:xfrm>
          <a:prstGeom prst="ellipse">
            <a:avLst/>
          </a:prstGeom>
          <a:solidFill>
            <a:srgbClr val="E8A13A"/>
          </a:solidFill>
          <a:ln/>
        </p:spPr>
      </p:sp>
      <p:pic>
        <p:nvPicPr>
          <p:cNvPr id="9" name="Image 0" descr="preencoded.png">    </p:cNvPr>
          <p:cNvPicPr>
            <a:picLocks noChangeAspect="1"/>
          </p:cNvPicPr>
          <p:nvPr/>
        </p:nvPicPr>
        <p:blipFill>
          <a:blip r:embed="rId1"/>
          <a:stretch>
            <a:fillRect/>
          </a:stretch>
        </p:blipFill>
        <p:spPr>
          <a:xfrm>
            <a:off x="932688" y="2670048"/>
            <a:ext cx="329184" cy="329184"/>
          </a:xfrm>
          <a:prstGeom prst="rect">
            <a:avLst/>
          </a:prstGeom>
        </p:spPr>
      </p:pic>
      <p:sp>
        <p:nvSpPr>
          <p:cNvPr id="10" name="Text 7"/>
          <p:cNvSpPr/>
          <p:nvPr/>
        </p:nvSpPr>
        <p:spPr>
          <a:xfrm>
            <a:off x="1554480" y="2496312"/>
            <a:ext cx="2377440" cy="6400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무한 루프</a:t>
            </a:r>
            <a:endParaRPr lang="en-US" sz="1600" dirty="0"/>
          </a:p>
        </p:txBody>
      </p:sp>
      <p:sp>
        <p:nvSpPr>
          <p:cNvPr id="11" name="Text 8"/>
          <p:cNvSpPr/>
          <p:nvPr/>
        </p:nvSpPr>
        <p:spPr>
          <a:xfrm>
            <a:off x="804672" y="3172968"/>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같은 실패·에러가 3번 이상 반복되면 중단</a:t>
            </a:r>
            <a:endParaRPr lang="en-US" sz="1150" dirty="0"/>
          </a:p>
        </p:txBody>
      </p:sp>
      <p:sp>
        <p:nvSpPr>
          <p:cNvPr id="12" name="Shape 9"/>
          <p:cNvSpPr/>
          <p:nvPr/>
        </p:nvSpPr>
        <p:spPr>
          <a:xfrm>
            <a:off x="4270248" y="2240280"/>
            <a:ext cx="3520440" cy="1600200"/>
          </a:xfrm>
          <a:prstGeom prst="roundRect">
            <a:avLst>
              <a:gd name="adj" fmla="val 5714"/>
            </a:avLst>
          </a:prstGeom>
          <a:solidFill>
            <a:srgbClr val="FFFFFF"/>
          </a:solidFill>
          <a:ln w="15240">
            <a:solidFill>
              <a:srgbClr val="F0DCC0"/>
            </a:solidFill>
            <a:prstDash val="solid"/>
          </a:ln>
          <a:effectLst>
            <a:outerShdw sx="100000" sy="100000" kx="0" ky="0" algn="bl" rotWithShape="0" blurRad="114300" dist="38100" dir="5400000">
              <a:srgbClr val="1A1F36">
                <a:alpha val="16000"/>
              </a:srgbClr>
            </a:outerShdw>
          </a:effectLst>
        </p:spPr>
      </p:sp>
      <p:sp>
        <p:nvSpPr>
          <p:cNvPr id="13" name="Shape 10"/>
          <p:cNvSpPr/>
          <p:nvPr/>
        </p:nvSpPr>
        <p:spPr>
          <a:xfrm>
            <a:off x="4498848" y="2514600"/>
            <a:ext cx="640080" cy="640080"/>
          </a:xfrm>
          <a:prstGeom prst="ellipse">
            <a:avLst/>
          </a:prstGeom>
          <a:solidFill>
            <a:srgbClr val="E8A13A"/>
          </a:solidFill>
          <a:ln/>
        </p:spPr>
      </p:sp>
      <p:pic>
        <p:nvPicPr>
          <p:cNvPr id="14" name="Image 1" descr="preencoded.png">    </p:cNvPr>
          <p:cNvPicPr>
            <a:picLocks noChangeAspect="1"/>
          </p:cNvPicPr>
          <p:nvPr/>
        </p:nvPicPr>
        <p:blipFill>
          <a:blip r:embed="rId2"/>
          <a:stretch>
            <a:fillRect/>
          </a:stretch>
        </p:blipFill>
        <p:spPr>
          <a:xfrm>
            <a:off x="4654296" y="2670048"/>
            <a:ext cx="329184" cy="329184"/>
          </a:xfrm>
          <a:prstGeom prst="rect">
            <a:avLst/>
          </a:prstGeom>
        </p:spPr>
      </p:pic>
      <p:sp>
        <p:nvSpPr>
          <p:cNvPr id="15" name="Text 11"/>
          <p:cNvSpPr/>
          <p:nvPr/>
        </p:nvSpPr>
        <p:spPr>
          <a:xfrm>
            <a:off x="5276088" y="2496312"/>
            <a:ext cx="2377440" cy="6400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권한·보안</a:t>
            </a:r>
            <a:endParaRPr lang="en-US" sz="1600" dirty="0"/>
          </a:p>
        </p:txBody>
      </p:sp>
      <p:sp>
        <p:nvSpPr>
          <p:cNvPr id="16" name="Text 12"/>
          <p:cNvSpPr/>
          <p:nvPr/>
        </p:nvSpPr>
        <p:spPr>
          <a:xfrm>
            <a:off x="4526280" y="3172968"/>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시크릿(.env), DB 마이그레이션, CI/CD 설정 변경 시</a:t>
            </a:r>
            <a:endParaRPr lang="en-US" sz="1150" dirty="0"/>
          </a:p>
        </p:txBody>
      </p:sp>
      <p:sp>
        <p:nvSpPr>
          <p:cNvPr id="17" name="Shape 13"/>
          <p:cNvSpPr/>
          <p:nvPr/>
        </p:nvSpPr>
        <p:spPr>
          <a:xfrm>
            <a:off x="7991856" y="2240280"/>
            <a:ext cx="3520440" cy="1600200"/>
          </a:xfrm>
          <a:prstGeom prst="roundRect">
            <a:avLst>
              <a:gd name="adj" fmla="val 5714"/>
            </a:avLst>
          </a:prstGeom>
          <a:solidFill>
            <a:srgbClr val="FFFFFF"/>
          </a:solidFill>
          <a:ln w="15240">
            <a:solidFill>
              <a:srgbClr val="F0DCC0"/>
            </a:solidFill>
            <a:prstDash val="solid"/>
          </a:ln>
          <a:effectLst>
            <a:outerShdw sx="100000" sy="100000" kx="0" ky="0" algn="bl" rotWithShape="0" blurRad="114300" dist="38100" dir="5400000">
              <a:srgbClr val="1A1F36">
                <a:alpha val="16000"/>
              </a:srgbClr>
            </a:outerShdw>
          </a:effectLst>
        </p:spPr>
      </p:sp>
      <p:sp>
        <p:nvSpPr>
          <p:cNvPr id="18" name="Shape 14"/>
          <p:cNvSpPr/>
          <p:nvPr/>
        </p:nvSpPr>
        <p:spPr>
          <a:xfrm>
            <a:off x="8220456" y="2514600"/>
            <a:ext cx="640080" cy="640080"/>
          </a:xfrm>
          <a:prstGeom prst="ellipse">
            <a:avLst/>
          </a:prstGeom>
          <a:solidFill>
            <a:srgbClr val="E8A13A"/>
          </a:solidFill>
          <a:ln/>
        </p:spPr>
      </p:sp>
      <p:pic>
        <p:nvPicPr>
          <p:cNvPr id="19" name="Image 2" descr="preencoded.png">    </p:cNvPr>
          <p:cNvPicPr>
            <a:picLocks noChangeAspect="1"/>
          </p:cNvPicPr>
          <p:nvPr/>
        </p:nvPicPr>
        <p:blipFill>
          <a:blip r:embed="rId3"/>
          <a:stretch>
            <a:fillRect/>
          </a:stretch>
        </p:blipFill>
        <p:spPr>
          <a:xfrm>
            <a:off x="8375904" y="2670048"/>
            <a:ext cx="329184" cy="329184"/>
          </a:xfrm>
          <a:prstGeom prst="rect">
            <a:avLst/>
          </a:prstGeom>
        </p:spPr>
      </p:pic>
      <p:sp>
        <p:nvSpPr>
          <p:cNvPr id="20" name="Text 15"/>
          <p:cNvSpPr/>
          <p:nvPr/>
        </p:nvSpPr>
        <p:spPr>
          <a:xfrm>
            <a:off x="8997696" y="2496312"/>
            <a:ext cx="2377440" cy="6400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모호성</a:t>
            </a:r>
            <a:endParaRPr lang="en-US" sz="1600" dirty="0"/>
          </a:p>
        </p:txBody>
      </p:sp>
      <p:sp>
        <p:nvSpPr>
          <p:cNvPr id="21" name="Text 16"/>
          <p:cNvSpPr/>
          <p:nvPr/>
        </p:nvSpPr>
        <p:spPr>
          <a:xfrm>
            <a:off x="8247888" y="3172968"/>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권한·암호화 등 미정의 요구나 승인 계획과 충돌 시</a:t>
            </a:r>
            <a:endParaRPr lang="en-US" sz="1150" dirty="0"/>
          </a:p>
        </p:txBody>
      </p:sp>
      <p:sp>
        <p:nvSpPr>
          <p:cNvPr id="22" name="Shape 17"/>
          <p:cNvSpPr/>
          <p:nvPr/>
        </p:nvSpPr>
        <p:spPr>
          <a:xfrm>
            <a:off x="548640" y="4023360"/>
            <a:ext cx="3520440" cy="1600200"/>
          </a:xfrm>
          <a:prstGeom prst="roundRect">
            <a:avLst>
              <a:gd name="adj" fmla="val 5714"/>
            </a:avLst>
          </a:prstGeom>
          <a:solidFill>
            <a:srgbClr val="FFFFFF"/>
          </a:solidFill>
          <a:ln w="15240">
            <a:solidFill>
              <a:srgbClr val="F0DCC0"/>
            </a:solidFill>
            <a:prstDash val="solid"/>
          </a:ln>
          <a:effectLst>
            <a:outerShdw sx="100000" sy="100000" kx="0" ky="0" algn="bl" rotWithShape="0" blurRad="114300" dist="38100" dir="5400000">
              <a:srgbClr val="1A1F36">
                <a:alpha val="16000"/>
              </a:srgbClr>
            </a:outerShdw>
          </a:effectLst>
        </p:spPr>
      </p:sp>
      <p:sp>
        <p:nvSpPr>
          <p:cNvPr id="23" name="Shape 18"/>
          <p:cNvSpPr/>
          <p:nvPr/>
        </p:nvSpPr>
        <p:spPr>
          <a:xfrm>
            <a:off x="777240" y="4297680"/>
            <a:ext cx="640080" cy="640080"/>
          </a:xfrm>
          <a:prstGeom prst="ellipse">
            <a:avLst/>
          </a:prstGeom>
          <a:solidFill>
            <a:srgbClr val="E8A13A"/>
          </a:solidFill>
          <a:ln/>
        </p:spPr>
      </p:sp>
      <p:pic>
        <p:nvPicPr>
          <p:cNvPr id="24" name="Image 3" descr="preencoded.png">    </p:cNvPr>
          <p:cNvPicPr>
            <a:picLocks noChangeAspect="1"/>
          </p:cNvPicPr>
          <p:nvPr/>
        </p:nvPicPr>
        <p:blipFill>
          <a:blip r:embed="rId4"/>
          <a:stretch>
            <a:fillRect/>
          </a:stretch>
        </p:blipFill>
        <p:spPr>
          <a:xfrm>
            <a:off x="932688" y="4453128"/>
            <a:ext cx="329184" cy="329184"/>
          </a:xfrm>
          <a:prstGeom prst="rect">
            <a:avLst/>
          </a:prstGeom>
        </p:spPr>
      </p:pic>
      <p:sp>
        <p:nvSpPr>
          <p:cNvPr id="25" name="Text 19"/>
          <p:cNvSpPr/>
          <p:nvPr/>
        </p:nvSpPr>
        <p:spPr>
          <a:xfrm>
            <a:off x="1554480" y="4279392"/>
            <a:ext cx="2377440" cy="6400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환경 미비</a:t>
            </a:r>
            <a:endParaRPr lang="en-US" sz="1600" dirty="0"/>
          </a:p>
        </p:txBody>
      </p:sp>
      <p:sp>
        <p:nvSpPr>
          <p:cNvPr id="26" name="Text 20"/>
          <p:cNvSpPr/>
          <p:nvPr/>
        </p:nvSpPr>
        <p:spPr>
          <a:xfrm>
            <a:off x="804672" y="4956048"/>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git 미초기화, 선언된 명령이 실제로 없을 때</a:t>
            </a:r>
            <a:endParaRPr lang="en-US" sz="1150" dirty="0"/>
          </a:p>
        </p:txBody>
      </p:sp>
      <p:sp>
        <p:nvSpPr>
          <p:cNvPr id="27" name="Shape 21"/>
          <p:cNvSpPr/>
          <p:nvPr/>
        </p:nvSpPr>
        <p:spPr>
          <a:xfrm>
            <a:off x="4270248" y="4023360"/>
            <a:ext cx="3520440" cy="1600200"/>
          </a:xfrm>
          <a:prstGeom prst="roundRect">
            <a:avLst>
              <a:gd name="adj" fmla="val 5714"/>
            </a:avLst>
          </a:prstGeom>
          <a:solidFill>
            <a:srgbClr val="FFFFFF"/>
          </a:solidFill>
          <a:ln w="15240">
            <a:solidFill>
              <a:srgbClr val="F0DCC0"/>
            </a:solidFill>
            <a:prstDash val="solid"/>
          </a:ln>
          <a:effectLst>
            <a:outerShdw sx="100000" sy="100000" kx="0" ky="0" algn="bl" rotWithShape="0" blurRad="114300" dist="38100" dir="5400000">
              <a:srgbClr val="1A1F36">
                <a:alpha val="16000"/>
              </a:srgbClr>
            </a:outerShdw>
          </a:effectLst>
        </p:spPr>
      </p:sp>
      <p:sp>
        <p:nvSpPr>
          <p:cNvPr id="28" name="Shape 22"/>
          <p:cNvSpPr/>
          <p:nvPr/>
        </p:nvSpPr>
        <p:spPr>
          <a:xfrm>
            <a:off x="4498848" y="4297680"/>
            <a:ext cx="640080" cy="640080"/>
          </a:xfrm>
          <a:prstGeom prst="ellipse">
            <a:avLst/>
          </a:prstGeom>
          <a:solidFill>
            <a:srgbClr val="E8A13A"/>
          </a:solidFill>
          <a:ln/>
        </p:spPr>
      </p:sp>
      <p:pic>
        <p:nvPicPr>
          <p:cNvPr id="29" name="Image 4" descr="preencoded.png">    </p:cNvPr>
          <p:cNvPicPr>
            <a:picLocks noChangeAspect="1"/>
          </p:cNvPicPr>
          <p:nvPr/>
        </p:nvPicPr>
        <p:blipFill>
          <a:blip r:embed="rId5"/>
          <a:stretch>
            <a:fillRect/>
          </a:stretch>
        </p:blipFill>
        <p:spPr>
          <a:xfrm>
            <a:off x="4654296" y="4453128"/>
            <a:ext cx="329184" cy="329184"/>
          </a:xfrm>
          <a:prstGeom prst="rect">
            <a:avLst/>
          </a:prstGeom>
        </p:spPr>
      </p:pic>
      <p:sp>
        <p:nvSpPr>
          <p:cNvPr id="30" name="Text 23"/>
          <p:cNvSpPr/>
          <p:nvPr/>
        </p:nvSpPr>
        <p:spPr>
          <a:xfrm>
            <a:off x="5276088" y="4279392"/>
            <a:ext cx="2377440" cy="6400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보호 파일</a:t>
            </a:r>
            <a:endParaRPr lang="en-US" sz="1600" dirty="0"/>
          </a:p>
        </p:txBody>
      </p:sp>
      <p:sp>
        <p:nvSpPr>
          <p:cNvPr id="31" name="Text 24"/>
          <p:cNvSpPr/>
          <p:nvPr/>
        </p:nvSpPr>
        <p:spPr>
          <a:xfrm>
            <a:off x="4526280" y="4956048"/>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AGENTS.md, 승인된 수락기준, 보호 대상 파일 수정 시</a:t>
            </a:r>
            <a:endParaRPr lang="en-US" sz="1150" dirty="0"/>
          </a:p>
        </p:txBody>
      </p:sp>
      <p:sp>
        <p:nvSpPr>
          <p:cNvPr id="32" name="Shape 25"/>
          <p:cNvSpPr/>
          <p:nvPr/>
        </p:nvSpPr>
        <p:spPr>
          <a:xfrm>
            <a:off x="7991856" y="4023360"/>
            <a:ext cx="3520440" cy="1600200"/>
          </a:xfrm>
          <a:prstGeom prst="roundRect">
            <a:avLst>
              <a:gd name="adj" fmla="val 5714"/>
            </a:avLst>
          </a:prstGeom>
          <a:solidFill>
            <a:srgbClr val="FFFFFF"/>
          </a:solidFill>
          <a:ln w="15240">
            <a:solidFill>
              <a:srgbClr val="F0DCC0"/>
            </a:solidFill>
            <a:prstDash val="solid"/>
          </a:ln>
          <a:effectLst>
            <a:outerShdw sx="100000" sy="100000" kx="0" ky="0" algn="bl" rotWithShape="0" blurRad="114300" dist="38100" dir="5400000">
              <a:srgbClr val="1A1F36">
                <a:alpha val="16000"/>
              </a:srgbClr>
            </a:outerShdw>
          </a:effectLst>
        </p:spPr>
      </p:sp>
      <p:sp>
        <p:nvSpPr>
          <p:cNvPr id="33" name="Shape 26"/>
          <p:cNvSpPr/>
          <p:nvPr/>
        </p:nvSpPr>
        <p:spPr>
          <a:xfrm>
            <a:off x="8220456" y="4297680"/>
            <a:ext cx="640080" cy="640080"/>
          </a:xfrm>
          <a:prstGeom prst="ellipse">
            <a:avLst/>
          </a:prstGeom>
          <a:solidFill>
            <a:srgbClr val="E8A13A"/>
          </a:solidFill>
          <a:ln/>
        </p:spPr>
      </p:sp>
      <p:pic>
        <p:nvPicPr>
          <p:cNvPr id="34" name="Image 5" descr="preencoded.png">    </p:cNvPr>
          <p:cNvPicPr>
            <a:picLocks noChangeAspect="1"/>
          </p:cNvPicPr>
          <p:nvPr/>
        </p:nvPicPr>
        <p:blipFill>
          <a:blip r:embed="rId6"/>
          <a:stretch>
            <a:fillRect/>
          </a:stretch>
        </p:blipFill>
        <p:spPr>
          <a:xfrm>
            <a:off x="8375904" y="4453128"/>
            <a:ext cx="329184" cy="329184"/>
          </a:xfrm>
          <a:prstGeom prst="rect">
            <a:avLst/>
          </a:prstGeom>
        </p:spPr>
      </p:pic>
      <p:sp>
        <p:nvSpPr>
          <p:cNvPr id="35" name="Text 27"/>
          <p:cNvSpPr/>
          <p:nvPr/>
        </p:nvSpPr>
        <p:spPr>
          <a:xfrm>
            <a:off x="8997696" y="4279392"/>
            <a:ext cx="2377440" cy="6400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교착 방지</a:t>
            </a:r>
            <a:endParaRPr lang="en-US" sz="1600" dirty="0"/>
          </a:p>
        </p:txBody>
      </p:sp>
      <p:sp>
        <p:nvSpPr>
          <p:cNvPr id="36" name="Text 28"/>
          <p:cNvSpPr/>
          <p:nvPr/>
        </p:nvSpPr>
        <p:spPr>
          <a:xfrm>
            <a:off x="8247888" y="4956048"/>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지정 인간 승인자만 해소 · 24h 무응답 시 BLOCKED</a:t>
            </a:r>
            <a:endParaRPr lang="en-US" sz="1150" dirty="0"/>
          </a:p>
        </p:txBody>
      </p:sp>
      <p:sp>
        <p:nvSpPr>
          <p:cNvPr id="37" name="Text 29"/>
          <p:cNvSpPr/>
          <p:nvPr/>
        </p:nvSpPr>
        <p:spPr>
          <a:xfrm>
            <a:off x="548640" y="5897880"/>
            <a:ext cx="10972800" cy="411480"/>
          </a:xfrm>
          <a:prstGeom prst="rect">
            <a:avLst/>
          </a:prstGeom>
          <a:noFill/>
          <a:ln/>
        </p:spPr>
        <p:txBody>
          <a:bodyPr wrap="square" lIns="0" tIns="0" rIns="0" bIns="0" rtlCol="0" anchor="ctr"/>
          <a:lstStyle/>
          <a:p>
            <a:pPr algn="ctr" indent="0" marL="0">
              <a:buNone/>
            </a:pPr>
            <a:r>
              <a:rPr lang="en-US" sz="1300" b="1" dirty="0">
                <a:solidFill>
                  <a:srgbClr val="E0586B"/>
                </a:solidFill>
                <a:latin typeface="Calibri" pitchFamily="34" charset="0"/>
                <a:ea typeface="Calibri" pitchFamily="34" charset="-122"/>
                <a:cs typeface="Calibri" pitchFamily="34" charset="-120"/>
              </a:rPr>
              <a:t>에이전트·서브에이전트, 검토 대상 산출물의 작성자는 인간 승인자를 대체할 수 없다.</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2C39A"/>
        </a:solidFill>
      </p:bgPr>
    </p:bg>
    <p:spTree>
      <p:nvGrpSpPr>
        <p:cNvPr id="1" name=""/>
        <p:cNvGrpSpPr/>
        <p:nvPr/>
      </p:nvGrpSpPr>
      <p:grpSpPr>
        <a:xfrm>
          <a:off x="0" y="0"/>
          <a:ext cx="0" cy="0"/>
          <a:chOff x="0" y="0"/>
          <a:chExt cx="0" cy="0"/>
        </a:xfrm>
      </p:grpSpPr>
      <p:sp>
        <p:nvSpPr>
          <p:cNvPr id="2" name="Shape 0"/>
          <p:cNvSpPr/>
          <p:nvPr/>
        </p:nvSpPr>
        <p:spPr>
          <a:xfrm>
            <a:off x="10332720" y="365760"/>
            <a:ext cx="1371600" cy="457200"/>
          </a:xfrm>
          <a:prstGeom prst="roundRect">
            <a:avLst>
              <a:gd name="adj" fmla="val 50000"/>
            </a:avLst>
          </a:prstGeom>
          <a:solidFill>
            <a:srgbClr val="FFFFFF"/>
          </a:solidFill>
          <a:ln/>
        </p:spPr>
      </p:sp>
      <p:sp>
        <p:nvSpPr>
          <p:cNvPr id="3" name="Text 1"/>
          <p:cNvSpPr/>
          <p:nvPr/>
        </p:nvSpPr>
        <p:spPr>
          <a:xfrm>
            <a:off x="10332720" y="365760"/>
            <a:ext cx="1371600" cy="457200"/>
          </a:xfrm>
          <a:prstGeom prst="rect">
            <a:avLst/>
          </a:prstGeom>
          <a:noFill/>
          <a:ln/>
        </p:spPr>
        <p:txBody>
          <a:bodyPr wrap="square" lIns="0" tIns="0" rIns="0" bIns="0" rtlCol="0" anchor="ctr"/>
          <a:lstStyle/>
          <a:p>
            <a:pPr algn="ctr" indent="0" marL="0">
              <a:buNone/>
            </a:pPr>
            <a:r>
              <a:rPr lang="en-US" sz="1300" b="1" dirty="0">
                <a:solidFill>
                  <a:srgbClr val="0B8C70"/>
                </a:solidFill>
                <a:latin typeface="Calibri" pitchFamily="34" charset="0"/>
                <a:ea typeface="Calibri" pitchFamily="34" charset="-122"/>
                <a:cs typeface="Calibri" pitchFamily="34" charset="-120"/>
              </a:rPr>
              <a:t>실습</a:t>
            </a:r>
            <a:endParaRPr lang="en-US" sz="1300" dirty="0"/>
          </a:p>
        </p:txBody>
      </p:sp>
      <p:pic>
        <p:nvPicPr>
          <p:cNvPr id="4" name="Image 0" descr="preencoded.png">    </p:cNvPr>
          <p:cNvPicPr>
            <a:picLocks noChangeAspect="1"/>
          </p:cNvPicPr>
          <p:nvPr/>
        </p:nvPicPr>
        <p:blipFill>
          <a:blip r:embed="rId1"/>
          <a:stretch>
            <a:fillRect/>
          </a:stretch>
        </p:blipFill>
        <p:spPr>
          <a:xfrm>
            <a:off x="640080" y="685800"/>
            <a:ext cx="868680" cy="868680"/>
          </a:xfrm>
          <a:prstGeom prst="rect">
            <a:avLst/>
          </a:prstGeom>
        </p:spPr>
      </p:pic>
      <p:sp>
        <p:nvSpPr>
          <p:cNvPr id="5" name="Text 2"/>
          <p:cNvSpPr/>
          <p:nvPr/>
        </p:nvSpPr>
        <p:spPr>
          <a:xfrm>
            <a:off x="1691640" y="640080"/>
            <a:ext cx="7315200" cy="548640"/>
          </a:xfrm>
          <a:prstGeom prst="rect">
            <a:avLst/>
          </a:prstGeom>
          <a:noFill/>
          <a:ln/>
        </p:spPr>
        <p:txBody>
          <a:bodyPr wrap="square" lIns="0" tIns="0" rIns="0" bIns="0" rtlCol="0" anchor="ctr"/>
          <a:lstStyle/>
          <a:p>
            <a:pPr indent="0" marL="0">
              <a:buNone/>
            </a:pPr>
            <a:r>
              <a:rPr lang="en-US" sz="1600" b="1" spc="200" kern="0" dirty="0">
                <a:solidFill>
                  <a:srgbClr val="0B5B49"/>
                </a:solidFill>
                <a:latin typeface="Calibri" pitchFamily="34" charset="0"/>
                <a:ea typeface="Calibri" pitchFamily="34" charset="-122"/>
                <a:cs typeface="Calibri" pitchFamily="34" charset="-120"/>
              </a:rPr>
              <a:t>미니실습 1</a:t>
            </a:r>
            <a:endParaRPr lang="en-US" sz="1600" dirty="0"/>
          </a:p>
        </p:txBody>
      </p:sp>
      <p:sp>
        <p:nvSpPr>
          <p:cNvPr id="6" name="Text 3"/>
          <p:cNvSpPr/>
          <p:nvPr/>
        </p:nvSpPr>
        <p:spPr>
          <a:xfrm>
            <a:off x="1691640" y="1097280"/>
            <a:ext cx="100584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우리 규칙을 '기계검증 명령'으로 바꾸기</a:t>
            </a:r>
            <a:endParaRPr lang="en-US" sz="3000" dirty="0"/>
          </a:p>
        </p:txBody>
      </p:sp>
      <p:sp>
        <p:nvSpPr>
          <p:cNvPr id="7" name="Shape 4"/>
          <p:cNvSpPr/>
          <p:nvPr/>
        </p:nvSpPr>
        <p:spPr>
          <a:xfrm>
            <a:off x="640080" y="2148840"/>
            <a:ext cx="6766560" cy="4114800"/>
          </a:xfrm>
          <a:prstGeom prst="roundRect">
            <a:avLst>
              <a:gd name="adj" fmla="val 2667"/>
            </a:avLst>
          </a:prstGeom>
          <a:solidFill>
            <a:srgbClr val="FFFFFF"/>
          </a:solidFill>
          <a:ln/>
          <a:effectLst>
            <a:outerShdw sx="100000" sy="100000" kx="0" ky="0" algn="bl" rotWithShape="0" blurRad="114300" dist="38100" dir="5400000">
              <a:srgbClr val="1A1F36">
                <a:alpha val="16000"/>
              </a:srgbClr>
            </a:outerShdw>
          </a:effectLst>
        </p:spPr>
      </p:sp>
      <p:sp>
        <p:nvSpPr>
          <p:cNvPr id="8" name="Text 5"/>
          <p:cNvSpPr/>
          <p:nvPr/>
        </p:nvSpPr>
        <p:spPr>
          <a:xfrm>
            <a:off x="914400" y="2377440"/>
            <a:ext cx="621792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진행 방법 (강사 데모 → 개별 작성)</a:t>
            </a:r>
            <a:endParaRPr lang="en-US" sz="1700" dirty="0"/>
          </a:p>
        </p:txBody>
      </p:sp>
      <p:sp>
        <p:nvSpPr>
          <p:cNvPr id="9" name="Text 6"/>
          <p:cNvSpPr/>
          <p:nvPr/>
        </p:nvSpPr>
        <p:spPr>
          <a:xfrm>
            <a:off x="914400" y="2926080"/>
            <a:ext cx="6309360" cy="3200400"/>
          </a:xfrm>
          <a:prstGeom prst="rect">
            <a:avLst/>
          </a:prstGeom>
          <a:noFill/>
          <a:ln/>
        </p:spPr>
        <p:txBody>
          <a:bodyPr wrap="square" lIns="0" tIns="0" rIns="0" bIns="0" rtlCol="0" anchor="ctr"/>
          <a:lstStyle/>
          <a:p>
            <a:pPr indent="0" marL="0">
              <a:lnSpc>
                <a:spcPct val="110000"/>
              </a:lnSpc>
              <a:spcAft>
                <a:spcPts val="800"/>
              </a:spcAft>
              <a:buNone/>
            </a:pPr>
            <a:r>
              <a:rPr lang="en-US" sz="1400" dirty="0">
                <a:solidFill>
                  <a:srgbClr val="1A1F36"/>
                </a:solidFill>
                <a:latin typeface="Calibri" pitchFamily="34" charset="0"/>
                <a:ea typeface="Calibri" pitchFamily="34" charset="-122"/>
                <a:cs typeface="Calibri" pitchFamily="34" charset="-120"/>
              </a:rPr>
              <a:t>1.  팀에서 자주 쓰는 주관적 '완료' 문장 1개를 고른다 (예: "리뷰 다 반영했다")</a:t>
            </a:r>
            <a:endParaRPr lang="en-US" sz="1400" dirty="0"/>
          </a:p>
          <a:p>
            <a:pPr indent="0" marL="0">
              <a:lnSpc>
                <a:spcPct val="110000"/>
              </a:lnSpc>
              <a:spcAft>
                <a:spcPts val="800"/>
              </a:spcAft>
              <a:buNone/>
            </a:pPr>
            <a:r>
              <a:rPr lang="en-US" sz="1400" dirty="0">
                <a:solidFill>
                  <a:srgbClr val="1A1F36"/>
                </a:solidFill>
                <a:latin typeface="Calibri" pitchFamily="34" charset="0"/>
                <a:ea typeface="Calibri" pitchFamily="34" charset="-122"/>
                <a:cs typeface="Calibri" pitchFamily="34" charset="-120"/>
              </a:rPr>
              <a:t>2.  그 문장을 통과/실패가 명확한 명령으로 다시 쓴다 (grep · 테스트 · diff)</a:t>
            </a:r>
            <a:endParaRPr lang="en-US" sz="1400" dirty="0"/>
          </a:p>
          <a:p>
            <a:pPr indent="0" marL="0">
              <a:lnSpc>
                <a:spcPct val="110000"/>
              </a:lnSpc>
              <a:spcAft>
                <a:spcPts val="800"/>
              </a:spcAft>
              <a:buNone/>
            </a:pPr>
            <a:r>
              <a:rPr lang="en-US" sz="1400" dirty="0">
                <a:solidFill>
                  <a:srgbClr val="1A1F36"/>
                </a:solidFill>
                <a:latin typeface="Calibri" pitchFamily="34" charset="0"/>
                <a:ea typeface="Calibri" pitchFamily="34" charset="-122"/>
                <a:cs typeface="Calibri" pitchFamily="34" charset="-120"/>
              </a:rPr>
              <a:t>3.  통과 조건을 '종료 코드 0 / 빈 출력' 형태로 정의한다</a:t>
            </a:r>
            <a:endParaRPr lang="en-US" sz="1400" dirty="0"/>
          </a:p>
          <a:p>
            <a:pPr indent="0" marL="0">
              <a:lnSpc>
                <a:spcPct val="110000"/>
              </a:lnSpc>
              <a:spcAft>
                <a:spcPts val="800"/>
              </a:spcAft>
              <a:buNone/>
            </a:pPr>
            <a:r>
              <a:rPr lang="en-US" sz="1400" dirty="0">
                <a:solidFill>
                  <a:srgbClr val="1A1F36"/>
                </a:solidFill>
                <a:latin typeface="Calibri" pitchFamily="34" charset="0"/>
                <a:ea typeface="Calibri" pitchFamily="34" charset="-122"/>
                <a:cs typeface="Calibri" pitchFamily="34" charset="-120"/>
              </a:rPr>
              <a:t>4.  실패 시 어디로 분기하는지(§4 이스케이프) 한 줄 적는다</a:t>
            </a:r>
            <a:endParaRPr lang="en-US" sz="1400" dirty="0"/>
          </a:p>
          <a:p>
            <a:pPr indent="0" marL="0">
              <a:lnSpc>
                <a:spcPct val="110000"/>
              </a:lnSpc>
              <a:buNone/>
            </a:pPr>
            <a:r>
              <a:rPr lang="en-US" sz="1400" dirty="0">
                <a:solidFill>
                  <a:srgbClr val="1A1F36"/>
                </a:solidFill>
                <a:latin typeface="Calibri" pitchFamily="34" charset="0"/>
                <a:ea typeface="Calibri" pitchFamily="34" charset="-122"/>
                <a:cs typeface="Calibri" pitchFamily="34" charset="-120"/>
              </a:rPr>
              <a:t>5.  옆 사람과 교환해 '이 명령이 정말 판정 가능한가' 서로 검증</a:t>
            </a:r>
            <a:endParaRPr lang="en-US" sz="1400" dirty="0"/>
          </a:p>
        </p:txBody>
      </p:sp>
      <p:sp>
        <p:nvSpPr>
          <p:cNvPr id="10" name="Shape 7"/>
          <p:cNvSpPr/>
          <p:nvPr/>
        </p:nvSpPr>
        <p:spPr>
          <a:xfrm>
            <a:off x="7635240" y="2148840"/>
            <a:ext cx="3886200" cy="4114800"/>
          </a:xfrm>
          <a:prstGeom prst="roundRect">
            <a:avLst>
              <a:gd name="adj" fmla="val 2824"/>
            </a:avLst>
          </a:prstGeom>
          <a:solidFill>
            <a:srgbClr val="1E2761"/>
          </a:solidFill>
          <a:ln/>
          <a:effectLst>
            <a:outerShdw sx="100000" sy="100000" kx="0" ky="0" algn="bl" rotWithShape="0" blurRad="114300" dist="38100" dir="5400000">
              <a:srgbClr val="1A1F36">
                <a:alpha val="16000"/>
              </a:srgbClr>
            </a:outerShdw>
          </a:effectLst>
        </p:spPr>
      </p:sp>
      <p:sp>
        <p:nvSpPr>
          <p:cNvPr id="11" name="Text 8"/>
          <p:cNvSpPr/>
          <p:nvPr/>
        </p:nvSpPr>
        <p:spPr>
          <a:xfrm>
            <a:off x="7863840" y="2377440"/>
            <a:ext cx="3383280" cy="411480"/>
          </a:xfrm>
          <a:prstGeom prst="rect">
            <a:avLst/>
          </a:prstGeom>
          <a:noFill/>
          <a:ln/>
        </p:spPr>
        <p:txBody>
          <a:bodyPr wrap="square" lIns="0" tIns="0" rIns="0" bIns="0" rtlCol="0" anchor="ctr"/>
          <a:lstStyle/>
          <a:p>
            <a:pPr indent="0" marL="0">
              <a:buNone/>
            </a:pPr>
            <a:r>
              <a:rPr lang="en-US" sz="1600" b="1" dirty="0">
                <a:solidFill>
                  <a:srgbClr val="02C39A"/>
                </a:solidFill>
                <a:latin typeface="Cambria" pitchFamily="34" charset="0"/>
                <a:ea typeface="Cambria" pitchFamily="34" charset="-122"/>
                <a:cs typeface="Cambria" pitchFamily="34" charset="-120"/>
              </a:rPr>
              <a:t>예시 변환</a:t>
            </a:r>
            <a:endParaRPr lang="en-US" sz="1600" dirty="0"/>
          </a:p>
        </p:txBody>
      </p:sp>
      <p:sp>
        <p:nvSpPr>
          <p:cNvPr id="12" name="Text 9"/>
          <p:cNvSpPr/>
          <p:nvPr/>
        </p:nvSpPr>
        <p:spPr>
          <a:xfrm>
            <a:off x="7863840" y="2880360"/>
            <a:ext cx="3429000" cy="3291840"/>
          </a:xfrm>
          <a:prstGeom prst="rect">
            <a:avLst/>
          </a:prstGeom>
          <a:noFill/>
          <a:ln/>
        </p:spPr>
        <p:txBody>
          <a:bodyPr wrap="square" lIns="0" tIns="0" rIns="0" bIns="0" rtlCol="0" anchor="ctr"/>
          <a:lstStyle/>
          <a:p>
            <a:pPr indent="0" marL="0">
              <a:lnSpc>
                <a:spcPct val="108000"/>
              </a:lnSpc>
              <a:spcAft>
                <a:spcPts val="600"/>
              </a:spcAft>
              <a:buNone/>
            </a:pPr>
            <a:r>
              <a:rPr lang="en-US" sz="1250" i="1" dirty="0">
                <a:solidFill>
                  <a:srgbClr val="CADCFC"/>
                </a:solidFill>
                <a:latin typeface="Calibri" pitchFamily="34" charset="0"/>
                <a:ea typeface="Calibri" pitchFamily="34" charset="-122"/>
                <a:cs typeface="Calibri" pitchFamily="34" charset="-120"/>
              </a:rPr>
              <a:t>"임시 코드 없어요"</a:t>
            </a:r>
            <a:endParaRPr lang="en-US" sz="1250" dirty="0"/>
          </a:p>
          <a:p>
            <a:pPr indent="0" marL="0">
              <a:lnSpc>
                <a:spcPct val="108000"/>
              </a:lnSpc>
              <a:spcAft>
                <a:spcPts val="600"/>
              </a:spcAft>
              <a:buNone/>
            </a:pPr>
            <a:r>
              <a:rPr lang="en-US" sz="1250" dirty="0">
                <a:solidFill>
                  <a:srgbClr val="02C39A"/>
                </a:solidFill>
                <a:latin typeface="Calibri" pitchFamily="34" charset="0"/>
                <a:ea typeface="Calibri" pitchFamily="34" charset="-122"/>
                <a:cs typeface="Calibri" pitchFamily="34" charset="-120"/>
              </a:rPr>
              <a:t>↓</a:t>
            </a:r>
            <a:endParaRPr lang="en-US" sz="1250" dirty="0"/>
          </a:p>
          <a:p>
            <a:pPr indent="0" marL="0">
              <a:lnSpc>
                <a:spcPct val="108000"/>
              </a:lnSpc>
              <a:spcAft>
                <a:spcPts val="1400"/>
              </a:spcAft>
              <a:buNone/>
            </a:pPr>
            <a:r>
              <a:rPr lang="en-US" sz="1250" dirty="0">
                <a:solidFill>
                  <a:srgbClr val="FFFFFF"/>
                </a:solidFill>
                <a:latin typeface="Calibri" pitchFamily="34" charset="0"/>
                <a:ea typeface="Calibri" pitchFamily="34" charset="-122"/>
                <a:cs typeface="Calibri" pitchFamily="34" charset="-120"/>
              </a:rPr>
              <a:t>git diff --cached | awk … /TODO|FIXME|HACK/ → 매칭 0건이면 통과</a:t>
            </a:r>
            <a:endParaRPr lang="en-US" sz="1250" dirty="0"/>
          </a:p>
          <a:p>
            <a:pPr indent="0" marL="0">
              <a:lnSpc>
                <a:spcPct val="108000"/>
              </a:lnSpc>
              <a:spcAft>
                <a:spcPts val="600"/>
              </a:spcAft>
              <a:buNone/>
            </a:pPr>
            <a:r>
              <a:rPr lang="en-US" sz="1250" i="1" dirty="0">
                <a:solidFill>
                  <a:srgbClr val="CADCFC"/>
                </a:solidFill>
                <a:latin typeface="Calibri" pitchFamily="34" charset="0"/>
                <a:ea typeface="Calibri" pitchFamily="34" charset="-122"/>
                <a:cs typeface="Calibri" pitchFamily="34" charset="-120"/>
              </a:rPr>
              <a:t>"커버리지 충분"</a:t>
            </a:r>
            <a:endParaRPr lang="en-US" sz="1250" dirty="0"/>
          </a:p>
          <a:p>
            <a:pPr indent="0" marL="0">
              <a:lnSpc>
                <a:spcPct val="108000"/>
              </a:lnSpc>
              <a:spcAft>
                <a:spcPts val="600"/>
              </a:spcAft>
              <a:buNone/>
            </a:pPr>
            <a:r>
              <a:rPr lang="en-US" sz="1250" dirty="0">
                <a:solidFill>
                  <a:srgbClr val="02C39A"/>
                </a:solidFill>
                <a:latin typeface="Calibri" pitchFamily="34" charset="0"/>
                <a:ea typeface="Calibri" pitchFamily="34" charset="-122"/>
                <a:cs typeface="Calibri" pitchFamily="34" charset="-120"/>
              </a:rPr>
              <a:t>↓</a:t>
            </a:r>
            <a:endParaRPr lang="en-US" sz="1250" dirty="0"/>
          </a:p>
          <a:p>
            <a:pPr indent="0" marL="0">
              <a:lnSpc>
                <a:spcPct val="108000"/>
              </a:lnSpc>
              <a:buNone/>
            </a:pPr>
            <a:r>
              <a:rPr lang="en-US" sz="1250" dirty="0">
                <a:solidFill>
                  <a:srgbClr val="FFFFFF"/>
                </a:solidFill>
                <a:latin typeface="Calibri" pitchFamily="34" charset="0"/>
                <a:ea typeface="Calibri" pitchFamily="34" charset="-122"/>
                <a:cs typeface="Calibri" pitchFamily="34" charset="-120"/>
              </a:rPr>
              <a:t>pytest --cov --cov-fail-under=80 → 미달 시 non-zero exit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394960" y="1417320"/>
            <a:ext cx="1371600" cy="1371600"/>
          </a:xfrm>
          <a:prstGeom prst="ellipse">
            <a:avLst/>
          </a:prstGeom>
          <a:solidFill>
            <a:srgbClr val="2A3A7C"/>
          </a:solidFill>
          <a:ln/>
        </p:spPr>
      </p:sp>
      <p:pic>
        <p:nvPicPr>
          <p:cNvPr id="3" name="Image 0" descr="preencoded.png">    </p:cNvPr>
          <p:cNvPicPr>
            <a:picLocks noChangeAspect="1"/>
          </p:cNvPicPr>
          <p:nvPr/>
        </p:nvPicPr>
        <p:blipFill>
          <a:blip r:embed="rId1"/>
          <a:stretch>
            <a:fillRect/>
          </a:stretch>
        </p:blipFill>
        <p:spPr>
          <a:xfrm>
            <a:off x="5715000" y="1737360"/>
            <a:ext cx="731520" cy="731520"/>
          </a:xfrm>
          <a:prstGeom prst="rect">
            <a:avLst/>
          </a:prstGeom>
        </p:spPr>
      </p:pic>
      <p:sp>
        <p:nvSpPr>
          <p:cNvPr id="4" name="Text 1"/>
          <p:cNvSpPr/>
          <p:nvPr/>
        </p:nvSpPr>
        <p:spPr>
          <a:xfrm>
            <a:off x="914400" y="2971800"/>
            <a:ext cx="10332720"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중간 질의응답</a:t>
            </a:r>
            <a:endParaRPr lang="en-US" sz="3800" dirty="0"/>
          </a:p>
        </p:txBody>
      </p:sp>
      <p:sp>
        <p:nvSpPr>
          <p:cNvPr id="5" name="Text 2"/>
          <p:cNvSpPr/>
          <p:nvPr/>
        </p:nvSpPr>
        <p:spPr>
          <a:xfrm>
            <a:off x="914400" y="3886200"/>
            <a:ext cx="10332720" cy="548640"/>
          </a:xfrm>
          <a:prstGeom prst="rect">
            <a:avLst/>
          </a:prstGeom>
          <a:noFill/>
          <a:ln/>
        </p:spPr>
        <p:txBody>
          <a:bodyPr wrap="square" lIns="0" tIns="0" rIns="0" bIns="0" rtlCol="0" anchor="ctr"/>
          <a:lstStyle/>
          <a:p>
            <a:pPr algn="ctr" indent="0" marL="0">
              <a:buNone/>
            </a:pPr>
            <a:r>
              <a:rPr lang="en-US" sz="1700" dirty="0">
                <a:solidFill>
                  <a:srgbClr val="CADCFC"/>
                </a:solidFill>
                <a:latin typeface="Calibri" pitchFamily="34" charset="0"/>
                <a:ea typeface="Calibri" pitchFamily="34" charset="-122"/>
                <a:cs typeface="Calibri" pitchFamily="34" charset="-120"/>
              </a:rPr>
              <a:t>Part 1까지의 거버넌스·완료의 정의에 대해 궁금한 점을 나눠 주세요</a:t>
            </a:r>
            <a:endParaRPr lang="en-US" sz="1700" dirty="0"/>
          </a:p>
        </p:txBody>
      </p:sp>
      <p:sp>
        <p:nvSpPr>
          <p:cNvPr id="6" name="Shape 3"/>
          <p:cNvSpPr/>
          <p:nvPr/>
        </p:nvSpPr>
        <p:spPr>
          <a:xfrm>
            <a:off x="1234440" y="4892040"/>
            <a:ext cx="3154680" cy="868680"/>
          </a:xfrm>
          <a:prstGeom prst="roundRect">
            <a:avLst>
              <a:gd name="adj" fmla="val 10526"/>
            </a:avLst>
          </a:prstGeom>
          <a:solidFill>
            <a:srgbClr val="2A3A7C"/>
          </a:solidFill>
          <a:ln/>
        </p:spPr>
      </p:sp>
      <p:sp>
        <p:nvSpPr>
          <p:cNvPr id="7" name="Text 4"/>
          <p:cNvSpPr/>
          <p:nvPr/>
        </p:nvSpPr>
        <p:spPr>
          <a:xfrm>
            <a:off x="1371600" y="4892040"/>
            <a:ext cx="2880360" cy="868680"/>
          </a:xfrm>
          <a:prstGeom prst="rect">
            <a:avLst/>
          </a:prstGeom>
          <a:noFill/>
          <a:ln/>
        </p:spPr>
        <p:txBody>
          <a:bodyPr wrap="square" lIns="0" tIns="0" rIns="0" bIns="0" rtlCol="0" anchor="ctr"/>
          <a:lstStyle/>
          <a:p>
            <a:pPr algn="ctr" indent="0" marL="0">
              <a:buNone/>
            </a:pPr>
            <a:r>
              <a:rPr lang="en-US" sz="1300" i="1" dirty="0">
                <a:solidFill>
                  <a:srgbClr val="CADCFC"/>
                </a:solidFill>
                <a:latin typeface="Calibri" pitchFamily="34" charset="0"/>
                <a:ea typeface="Calibri" pitchFamily="34" charset="-122"/>
                <a:cs typeface="Calibri" pitchFamily="34" charset="-120"/>
              </a:rPr>
              <a:t>우리 스택엔 어떤 명령을 선언하지?</a:t>
            </a:r>
            <a:endParaRPr lang="en-US" sz="1300" dirty="0"/>
          </a:p>
        </p:txBody>
      </p:sp>
      <p:sp>
        <p:nvSpPr>
          <p:cNvPr id="8" name="Shape 5"/>
          <p:cNvSpPr/>
          <p:nvPr/>
        </p:nvSpPr>
        <p:spPr>
          <a:xfrm>
            <a:off x="4572000" y="4892040"/>
            <a:ext cx="3154680" cy="868680"/>
          </a:xfrm>
          <a:prstGeom prst="roundRect">
            <a:avLst>
              <a:gd name="adj" fmla="val 10526"/>
            </a:avLst>
          </a:prstGeom>
          <a:solidFill>
            <a:srgbClr val="2A3A7C"/>
          </a:solidFill>
          <a:ln/>
        </p:spPr>
      </p:sp>
      <p:sp>
        <p:nvSpPr>
          <p:cNvPr id="9" name="Text 6"/>
          <p:cNvSpPr/>
          <p:nvPr/>
        </p:nvSpPr>
        <p:spPr>
          <a:xfrm>
            <a:off x="4709160" y="4892040"/>
            <a:ext cx="2880360" cy="868680"/>
          </a:xfrm>
          <a:prstGeom prst="rect">
            <a:avLst/>
          </a:prstGeom>
          <a:noFill/>
          <a:ln/>
        </p:spPr>
        <p:txBody>
          <a:bodyPr wrap="square" lIns="0" tIns="0" rIns="0" bIns="0" rtlCol="0" anchor="ctr"/>
          <a:lstStyle/>
          <a:p>
            <a:pPr algn="ctr" indent="0" marL="0">
              <a:buNone/>
            </a:pPr>
            <a:r>
              <a:rPr lang="en-US" sz="1300" i="1" dirty="0">
                <a:solidFill>
                  <a:srgbClr val="CADCFC"/>
                </a:solidFill>
                <a:latin typeface="Calibri" pitchFamily="34" charset="0"/>
                <a:ea typeface="Calibri" pitchFamily="34" charset="-122"/>
                <a:cs typeface="Calibri" pitchFamily="34" charset="-120"/>
              </a:rPr>
              <a:t>자기검토 무효를 어떻게 강제하나?</a:t>
            </a:r>
            <a:endParaRPr lang="en-US" sz="1300" dirty="0"/>
          </a:p>
        </p:txBody>
      </p:sp>
      <p:sp>
        <p:nvSpPr>
          <p:cNvPr id="10" name="Shape 7"/>
          <p:cNvSpPr/>
          <p:nvPr/>
        </p:nvSpPr>
        <p:spPr>
          <a:xfrm>
            <a:off x="7909560" y="4892040"/>
            <a:ext cx="3154680" cy="868680"/>
          </a:xfrm>
          <a:prstGeom prst="roundRect">
            <a:avLst>
              <a:gd name="adj" fmla="val 10526"/>
            </a:avLst>
          </a:prstGeom>
          <a:solidFill>
            <a:srgbClr val="2A3A7C"/>
          </a:solidFill>
          <a:ln/>
        </p:spPr>
      </p:sp>
      <p:sp>
        <p:nvSpPr>
          <p:cNvPr id="11" name="Text 8"/>
          <p:cNvSpPr/>
          <p:nvPr/>
        </p:nvSpPr>
        <p:spPr>
          <a:xfrm>
            <a:off x="8046720" y="4892040"/>
            <a:ext cx="2880360" cy="868680"/>
          </a:xfrm>
          <a:prstGeom prst="rect">
            <a:avLst/>
          </a:prstGeom>
          <a:noFill/>
          <a:ln/>
        </p:spPr>
        <p:txBody>
          <a:bodyPr wrap="square" lIns="0" tIns="0" rIns="0" bIns="0" rtlCol="0" anchor="ctr"/>
          <a:lstStyle/>
          <a:p>
            <a:pPr algn="ctr" indent="0" marL="0">
              <a:buNone/>
            </a:pPr>
            <a:r>
              <a:rPr lang="en-US" sz="1300" i="1" dirty="0">
                <a:solidFill>
                  <a:srgbClr val="CADCFC"/>
                </a:solidFill>
                <a:latin typeface="Calibri" pitchFamily="34" charset="0"/>
                <a:ea typeface="Calibri" pitchFamily="34" charset="-122"/>
                <a:cs typeface="Calibri" pitchFamily="34" charset="-120"/>
              </a:rPr>
              <a:t>인간 승인은 어디까지 필요한가?</a:t>
            </a:r>
            <a:endParaRPr lang="en-US" sz="1300" dirty="0"/>
          </a:p>
        </p:txBody>
      </p:sp>
      <p:sp>
        <p:nvSpPr>
          <p:cNvPr id="12" name="Shape 9"/>
          <p:cNvSpPr/>
          <p:nvPr/>
        </p:nvSpPr>
        <p:spPr>
          <a:xfrm>
            <a:off x="10332720" y="365760"/>
            <a:ext cx="1371600" cy="457200"/>
          </a:xfrm>
          <a:prstGeom prst="roundRect">
            <a:avLst>
              <a:gd name="adj" fmla="val 50000"/>
            </a:avLst>
          </a:prstGeom>
          <a:solidFill>
            <a:srgbClr val="E8A13A"/>
          </a:solidFill>
          <a:ln/>
        </p:spPr>
      </p:sp>
      <p:sp>
        <p:nvSpPr>
          <p:cNvPr id="13" name="Text 10"/>
          <p:cNvSpPr/>
          <p:nvPr/>
        </p:nvSpPr>
        <p:spPr>
          <a:xfrm>
            <a:off x="10332720" y="365760"/>
            <a:ext cx="1371600" cy="45720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Q&amp;A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82880" y="1463040"/>
            <a:ext cx="5486400" cy="4114800"/>
          </a:xfrm>
          <a:prstGeom prst="rect">
            <a:avLst/>
          </a:prstGeom>
          <a:noFill/>
          <a:ln/>
        </p:spPr>
        <p:txBody>
          <a:bodyPr wrap="square" lIns="0" tIns="0" rIns="0" bIns="0" rtlCol="0" anchor="ctr"/>
          <a:lstStyle/>
          <a:p>
            <a:pPr algn="l" indent="0" marL="0">
              <a:buNone/>
            </a:pPr>
            <a:r>
              <a:rPr lang="en-US" sz="23000" b="1" dirty="0">
                <a:solidFill>
                  <a:srgbClr val="2A3A7C"/>
                </a:solidFill>
                <a:latin typeface="Cambria" pitchFamily="34" charset="0"/>
                <a:ea typeface="Cambria" pitchFamily="34" charset="-122"/>
                <a:cs typeface="Cambria" pitchFamily="34" charset="-120"/>
              </a:rPr>
              <a:t>PART 2</a:t>
            </a:r>
            <a:endParaRPr lang="en-US" sz="23000" dirty="0"/>
          </a:p>
        </p:txBody>
      </p:sp>
      <p:sp>
        <p:nvSpPr>
          <p:cNvPr id="3" name="Text 1"/>
          <p:cNvSpPr/>
          <p:nvPr/>
        </p:nvSpPr>
        <p:spPr>
          <a:xfrm>
            <a:off x="822960" y="2194560"/>
            <a:ext cx="5486400" cy="548640"/>
          </a:xfrm>
          <a:prstGeom prst="rect">
            <a:avLst/>
          </a:prstGeom>
          <a:noFill/>
          <a:ln/>
        </p:spPr>
        <p:txBody>
          <a:bodyPr wrap="square" lIns="0" tIns="0" rIns="0" bIns="0" rtlCol="0" anchor="ctr"/>
          <a:lstStyle/>
          <a:p>
            <a:pPr indent="0" marL="0">
              <a:buNone/>
            </a:pPr>
            <a:r>
              <a:rPr lang="en-US" sz="1800" b="1" spc="300" kern="0" dirty="0">
                <a:solidFill>
                  <a:srgbClr val="02C39A"/>
                </a:solidFill>
                <a:latin typeface="Calibri" pitchFamily="34" charset="0"/>
                <a:ea typeface="Calibri" pitchFamily="34" charset="-122"/>
                <a:cs typeface="Calibri" pitchFamily="34" charset="-120"/>
              </a:rPr>
              <a:t>Part 2</a:t>
            </a:r>
            <a:endParaRPr lang="en-US" sz="1800" dirty="0"/>
          </a:p>
        </p:txBody>
      </p:sp>
      <p:sp>
        <p:nvSpPr>
          <p:cNvPr id="4" name="Text 2"/>
          <p:cNvSpPr/>
          <p:nvPr/>
        </p:nvSpPr>
        <p:spPr>
          <a:xfrm>
            <a:off x="822960" y="2697480"/>
            <a:ext cx="1005840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계획 &amp; 다중모델 교차검증</a:t>
            </a:r>
            <a:endParaRPr lang="en-US" sz="4400" dirty="0"/>
          </a:p>
        </p:txBody>
      </p:sp>
      <p:sp>
        <p:nvSpPr>
          <p:cNvPr id="5" name="Text 3"/>
          <p:cNvSpPr/>
          <p:nvPr/>
        </p:nvSpPr>
        <p:spPr>
          <a:xfrm>
            <a:off x="868680" y="4114800"/>
            <a:ext cx="9601200" cy="109728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코드를 한 줄도 쓰기 전에, 계획을 어떻게 검증하는가</a:t>
            </a:r>
            <a:endParaRPr lang="en-US" sz="1800" dirty="0"/>
          </a:p>
        </p:txBody>
      </p:sp>
      <p:sp>
        <p:nvSpPr>
          <p:cNvPr id="6" name="Shape 4"/>
          <p:cNvSpPr/>
          <p:nvPr/>
        </p:nvSpPr>
        <p:spPr>
          <a:xfrm>
            <a:off x="868680" y="5212080"/>
            <a:ext cx="1828800" cy="457200"/>
          </a:xfrm>
          <a:prstGeom prst="roundRect">
            <a:avLst>
              <a:gd name="adj" fmla="val 50000"/>
            </a:avLst>
          </a:prstGeom>
          <a:solidFill>
            <a:srgbClr val="02C39A"/>
          </a:solidFill>
          <a:ln/>
        </p:spPr>
      </p:sp>
      <p:sp>
        <p:nvSpPr>
          <p:cNvPr id="7" name="Text 5"/>
          <p:cNvSpPr/>
          <p:nvPr/>
        </p:nvSpPr>
        <p:spPr>
          <a:xfrm>
            <a:off x="868680" y="5212080"/>
            <a:ext cx="1828800" cy="45720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강의</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§3.1 PLAN COMPLETED</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계획 완료 절차 — 4단계 게이트</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Shape 4"/>
          <p:cNvSpPr/>
          <p:nvPr/>
        </p:nvSpPr>
        <p:spPr>
          <a:xfrm>
            <a:off x="548640" y="1920240"/>
            <a:ext cx="2468880" cy="3383280"/>
          </a:xfrm>
          <a:prstGeom prst="roundRect">
            <a:avLst>
              <a:gd name="adj" fmla="val 370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7" name="Shape 5"/>
          <p:cNvSpPr/>
          <p:nvPr/>
        </p:nvSpPr>
        <p:spPr>
          <a:xfrm>
            <a:off x="1417320" y="2240280"/>
            <a:ext cx="731520" cy="731520"/>
          </a:xfrm>
          <a:prstGeom prst="ellipse">
            <a:avLst/>
          </a:prstGeom>
          <a:solidFill>
            <a:srgbClr val="2A3A7C"/>
          </a:solidFill>
          <a:ln/>
        </p:spPr>
      </p:sp>
      <p:pic>
        <p:nvPicPr>
          <p:cNvPr id="8" name="Image 0" descr="preencoded.png">    </p:cNvPr>
          <p:cNvPicPr>
            <a:picLocks noChangeAspect="1"/>
          </p:cNvPicPr>
          <p:nvPr/>
        </p:nvPicPr>
        <p:blipFill>
          <a:blip r:embed="rId1"/>
          <a:stretch>
            <a:fillRect/>
          </a:stretch>
        </p:blipFill>
        <p:spPr>
          <a:xfrm>
            <a:off x="1600200" y="2423160"/>
            <a:ext cx="365760" cy="365760"/>
          </a:xfrm>
          <a:prstGeom prst="rect">
            <a:avLst/>
          </a:prstGeom>
        </p:spPr>
      </p:pic>
      <p:sp>
        <p:nvSpPr>
          <p:cNvPr id="9" name="Text 6"/>
          <p:cNvSpPr/>
          <p:nvPr/>
        </p:nvSpPr>
        <p:spPr>
          <a:xfrm>
            <a:off x="640080" y="3108960"/>
            <a:ext cx="2286000" cy="548640"/>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1. 초안</a:t>
            </a:r>
            <a:endParaRPr lang="en-US" sz="1550" dirty="0"/>
          </a:p>
        </p:txBody>
      </p:sp>
      <p:sp>
        <p:nvSpPr>
          <p:cNvPr id="10" name="Text 7"/>
          <p:cNvSpPr/>
          <p:nvPr/>
        </p:nvSpPr>
        <p:spPr>
          <a:xfrm>
            <a:off x="731520" y="3703320"/>
            <a:ext cx="2103120" cy="1508760"/>
          </a:xfrm>
          <a:prstGeom prst="rect">
            <a:avLst/>
          </a:prstGeom>
          <a:noFill/>
          <a:ln/>
        </p:spPr>
        <p:txBody>
          <a:bodyPr wrap="square" lIns="0" tIns="0" rIns="0" bIns="0" rtlCol="0" anchor="ctr"/>
          <a:lstStyle/>
          <a:p>
            <a:pPr algn="ctr" indent="0" marL="0">
              <a:lnSpc>
                <a:spcPct val="108000"/>
              </a:lnSpc>
              <a:buNone/>
            </a:pPr>
            <a:r>
              <a:rPr lang="en-US" sz="1200" dirty="0">
                <a:solidFill>
                  <a:srgbClr val="5A6480"/>
                </a:solidFill>
                <a:latin typeface="Calibri" pitchFamily="34" charset="0"/>
                <a:ea typeface="Calibri" pitchFamily="34" charset="-122"/>
                <a:cs typeface="Calibri" pitchFamily="34" charset="-120"/>
              </a:rPr>
              <a:t>Primary Planner가 요구사항·수락기준·아키텍처·Phase 분해 작성</a:t>
            </a:r>
            <a:endParaRPr lang="en-US" sz="1200" dirty="0"/>
          </a:p>
        </p:txBody>
      </p:sp>
      <p:pic>
        <p:nvPicPr>
          <p:cNvPr id="11" name="Image 1" descr="preencoded.png">    </p:cNvPr>
          <p:cNvPicPr>
            <a:picLocks noChangeAspect="1"/>
          </p:cNvPicPr>
          <p:nvPr/>
        </p:nvPicPr>
        <p:blipFill>
          <a:blip r:embed="rId2"/>
          <a:stretch>
            <a:fillRect/>
          </a:stretch>
        </p:blipFill>
        <p:spPr>
          <a:xfrm>
            <a:off x="3035808" y="3337560"/>
            <a:ext cx="310896" cy="310896"/>
          </a:xfrm>
          <a:prstGeom prst="rect">
            <a:avLst/>
          </a:prstGeom>
        </p:spPr>
      </p:pic>
      <p:sp>
        <p:nvSpPr>
          <p:cNvPr id="12" name="Shape 8"/>
          <p:cNvSpPr/>
          <p:nvPr/>
        </p:nvSpPr>
        <p:spPr>
          <a:xfrm>
            <a:off x="3337560" y="1920240"/>
            <a:ext cx="2468880" cy="3383280"/>
          </a:xfrm>
          <a:prstGeom prst="roundRect">
            <a:avLst>
              <a:gd name="adj" fmla="val 370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3" name="Shape 9"/>
          <p:cNvSpPr/>
          <p:nvPr/>
        </p:nvSpPr>
        <p:spPr>
          <a:xfrm>
            <a:off x="4206240" y="2240280"/>
            <a:ext cx="731520" cy="731520"/>
          </a:xfrm>
          <a:prstGeom prst="ellipse">
            <a:avLst/>
          </a:prstGeom>
          <a:solidFill>
            <a:srgbClr val="02C39A"/>
          </a:solidFill>
          <a:ln/>
        </p:spPr>
      </p:sp>
      <p:pic>
        <p:nvPicPr>
          <p:cNvPr id="14" name="Image 2" descr="preencoded.png">    </p:cNvPr>
          <p:cNvPicPr>
            <a:picLocks noChangeAspect="1"/>
          </p:cNvPicPr>
          <p:nvPr/>
        </p:nvPicPr>
        <p:blipFill>
          <a:blip r:embed="rId3"/>
          <a:stretch>
            <a:fillRect/>
          </a:stretch>
        </p:blipFill>
        <p:spPr>
          <a:xfrm>
            <a:off x="4389120" y="2423160"/>
            <a:ext cx="365760" cy="365760"/>
          </a:xfrm>
          <a:prstGeom prst="rect">
            <a:avLst/>
          </a:prstGeom>
        </p:spPr>
      </p:pic>
      <p:sp>
        <p:nvSpPr>
          <p:cNvPr id="15" name="Text 10"/>
          <p:cNvSpPr/>
          <p:nvPr/>
        </p:nvSpPr>
        <p:spPr>
          <a:xfrm>
            <a:off x="3429000" y="3108960"/>
            <a:ext cx="2286000" cy="548640"/>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2. 교차검증</a:t>
            </a:r>
            <a:endParaRPr lang="en-US" sz="1550" dirty="0"/>
          </a:p>
        </p:txBody>
      </p:sp>
      <p:sp>
        <p:nvSpPr>
          <p:cNvPr id="16" name="Text 11"/>
          <p:cNvSpPr/>
          <p:nvPr/>
        </p:nvSpPr>
        <p:spPr>
          <a:xfrm>
            <a:off x="3520440" y="3703320"/>
            <a:ext cx="2103120" cy="1508760"/>
          </a:xfrm>
          <a:prstGeom prst="rect">
            <a:avLst/>
          </a:prstGeom>
          <a:noFill/>
          <a:ln/>
        </p:spPr>
        <p:txBody>
          <a:bodyPr wrap="square" lIns="0" tIns="0" rIns="0" bIns="0" rtlCol="0" anchor="ctr"/>
          <a:lstStyle/>
          <a:p>
            <a:pPr algn="ctr" indent="0" marL="0">
              <a:lnSpc>
                <a:spcPct val="108000"/>
              </a:lnSpc>
              <a:buNone/>
            </a:pPr>
            <a:r>
              <a:rPr lang="en-US" sz="1200" dirty="0">
                <a:solidFill>
                  <a:srgbClr val="5A6480"/>
                </a:solidFill>
                <a:latin typeface="Calibri" pitchFamily="34" charset="0"/>
                <a:ea typeface="Calibri" pitchFamily="34" charset="-122"/>
                <a:cs typeface="Calibri" pitchFamily="34" charset="-120"/>
              </a:rPr>
              <a:t>독립 모델/세션의 Cross-Reviewer가 초안만 받아 비판적 검토</a:t>
            </a:r>
            <a:endParaRPr lang="en-US" sz="1200" dirty="0"/>
          </a:p>
        </p:txBody>
      </p:sp>
      <p:pic>
        <p:nvPicPr>
          <p:cNvPr id="17" name="Image 3" descr="preencoded.png">    </p:cNvPr>
          <p:cNvPicPr>
            <a:picLocks noChangeAspect="1"/>
          </p:cNvPicPr>
          <p:nvPr/>
        </p:nvPicPr>
        <p:blipFill>
          <a:blip r:embed="rId4"/>
          <a:stretch>
            <a:fillRect/>
          </a:stretch>
        </p:blipFill>
        <p:spPr>
          <a:xfrm>
            <a:off x="5824728" y="3337560"/>
            <a:ext cx="310896" cy="310896"/>
          </a:xfrm>
          <a:prstGeom prst="rect">
            <a:avLst/>
          </a:prstGeom>
        </p:spPr>
      </p:pic>
      <p:sp>
        <p:nvSpPr>
          <p:cNvPr id="18" name="Shape 12"/>
          <p:cNvSpPr/>
          <p:nvPr/>
        </p:nvSpPr>
        <p:spPr>
          <a:xfrm>
            <a:off x="6126480" y="1920240"/>
            <a:ext cx="2468880" cy="3383280"/>
          </a:xfrm>
          <a:prstGeom prst="roundRect">
            <a:avLst>
              <a:gd name="adj" fmla="val 370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9" name="Shape 13"/>
          <p:cNvSpPr/>
          <p:nvPr/>
        </p:nvSpPr>
        <p:spPr>
          <a:xfrm>
            <a:off x="6995160" y="2240280"/>
            <a:ext cx="731520" cy="731520"/>
          </a:xfrm>
          <a:prstGeom prst="ellipse">
            <a:avLst/>
          </a:prstGeom>
          <a:solidFill>
            <a:srgbClr val="E8A13A"/>
          </a:solidFill>
          <a:ln/>
        </p:spPr>
      </p:sp>
      <p:pic>
        <p:nvPicPr>
          <p:cNvPr id="20" name="Image 4" descr="preencoded.png">    </p:cNvPr>
          <p:cNvPicPr>
            <a:picLocks noChangeAspect="1"/>
          </p:cNvPicPr>
          <p:nvPr/>
        </p:nvPicPr>
        <p:blipFill>
          <a:blip r:embed="rId5"/>
          <a:stretch>
            <a:fillRect/>
          </a:stretch>
        </p:blipFill>
        <p:spPr>
          <a:xfrm>
            <a:off x="7178040" y="2423160"/>
            <a:ext cx="365760" cy="365760"/>
          </a:xfrm>
          <a:prstGeom prst="rect">
            <a:avLst/>
          </a:prstGeom>
        </p:spPr>
      </p:pic>
      <p:sp>
        <p:nvSpPr>
          <p:cNvPr id="21" name="Text 14"/>
          <p:cNvSpPr/>
          <p:nvPr/>
        </p:nvSpPr>
        <p:spPr>
          <a:xfrm>
            <a:off x="6217920" y="3108960"/>
            <a:ext cx="2286000" cy="548640"/>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3. 통합·이의처리</a:t>
            </a:r>
            <a:endParaRPr lang="en-US" sz="1550" dirty="0"/>
          </a:p>
        </p:txBody>
      </p:sp>
      <p:sp>
        <p:nvSpPr>
          <p:cNvPr id="22" name="Text 15"/>
          <p:cNvSpPr/>
          <p:nvPr/>
        </p:nvSpPr>
        <p:spPr>
          <a:xfrm>
            <a:off x="6309360" y="3703320"/>
            <a:ext cx="2103120" cy="1508760"/>
          </a:xfrm>
          <a:prstGeom prst="rect">
            <a:avLst/>
          </a:prstGeom>
          <a:noFill/>
          <a:ln/>
        </p:spPr>
        <p:txBody>
          <a:bodyPr wrap="square" lIns="0" tIns="0" rIns="0" bIns="0" rtlCol="0" anchor="ctr"/>
          <a:lstStyle/>
          <a:p>
            <a:pPr algn="ctr" indent="0" marL="0">
              <a:lnSpc>
                <a:spcPct val="108000"/>
              </a:lnSpc>
              <a:buNone/>
            </a:pPr>
            <a:r>
              <a:rPr lang="en-US" sz="1200" dirty="0">
                <a:solidFill>
                  <a:srgbClr val="5A6480"/>
                </a:solidFill>
                <a:latin typeface="Calibri" pitchFamily="34" charset="0"/>
                <a:ea typeface="Calibri" pitchFamily="34" charset="-122"/>
                <a:cs typeface="Calibri" pitchFamily="34" charset="-120"/>
              </a:rPr>
              <a:t>Accepted / Rejected / Escalated로 분류, Rejected는 근거 명시</a:t>
            </a:r>
            <a:endParaRPr lang="en-US" sz="1200" dirty="0"/>
          </a:p>
        </p:txBody>
      </p:sp>
      <p:pic>
        <p:nvPicPr>
          <p:cNvPr id="23" name="Image 5" descr="preencoded.png">    </p:cNvPr>
          <p:cNvPicPr>
            <a:picLocks noChangeAspect="1"/>
          </p:cNvPicPr>
          <p:nvPr/>
        </p:nvPicPr>
        <p:blipFill>
          <a:blip r:embed="rId6"/>
          <a:stretch>
            <a:fillRect/>
          </a:stretch>
        </p:blipFill>
        <p:spPr>
          <a:xfrm>
            <a:off x="8613648" y="3337560"/>
            <a:ext cx="310896" cy="310896"/>
          </a:xfrm>
          <a:prstGeom prst="rect">
            <a:avLst/>
          </a:prstGeom>
        </p:spPr>
      </p:pic>
      <p:sp>
        <p:nvSpPr>
          <p:cNvPr id="24" name="Shape 16"/>
          <p:cNvSpPr/>
          <p:nvPr/>
        </p:nvSpPr>
        <p:spPr>
          <a:xfrm>
            <a:off x="8915400" y="1920240"/>
            <a:ext cx="2468880" cy="3383280"/>
          </a:xfrm>
          <a:prstGeom prst="roundRect">
            <a:avLst>
              <a:gd name="adj" fmla="val 370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25" name="Shape 17"/>
          <p:cNvSpPr/>
          <p:nvPr/>
        </p:nvSpPr>
        <p:spPr>
          <a:xfrm>
            <a:off x="9784080" y="2240280"/>
            <a:ext cx="731520" cy="731520"/>
          </a:xfrm>
          <a:prstGeom prst="ellipse">
            <a:avLst/>
          </a:prstGeom>
          <a:solidFill>
            <a:srgbClr val="E0586B"/>
          </a:solidFill>
          <a:ln/>
        </p:spPr>
      </p:sp>
      <p:pic>
        <p:nvPicPr>
          <p:cNvPr id="26" name="Image 6" descr="preencoded.png">    </p:cNvPr>
          <p:cNvPicPr>
            <a:picLocks noChangeAspect="1"/>
          </p:cNvPicPr>
          <p:nvPr/>
        </p:nvPicPr>
        <p:blipFill>
          <a:blip r:embed="rId7"/>
          <a:stretch>
            <a:fillRect/>
          </a:stretch>
        </p:blipFill>
        <p:spPr>
          <a:xfrm>
            <a:off x="9966960" y="2423160"/>
            <a:ext cx="365760" cy="365760"/>
          </a:xfrm>
          <a:prstGeom prst="rect">
            <a:avLst/>
          </a:prstGeom>
        </p:spPr>
      </p:pic>
      <p:sp>
        <p:nvSpPr>
          <p:cNvPr id="27" name="Text 18"/>
          <p:cNvSpPr/>
          <p:nvPr/>
        </p:nvSpPr>
        <p:spPr>
          <a:xfrm>
            <a:off x="9006840" y="3108960"/>
            <a:ext cx="2286000" cy="548640"/>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4. 인간 승인</a:t>
            </a:r>
            <a:endParaRPr lang="en-US" sz="1550" dirty="0"/>
          </a:p>
        </p:txBody>
      </p:sp>
      <p:sp>
        <p:nvSpPr>
          <p:cNvPr id="28" name="Text 19"/>
          <p:cNvSpPr/>
          <p:nvPr/>
        </p:nvSpPr>
        <p:spPr>
          <a:xfrm>
            <a:off x="9098280" y="3703320"/>
            <a:ext cx="2103120" cy="1508760"/>
          </a:xfrm>
          <a:prstGeom prst="rect">
            <a:avLst/>
          </a:prstGeom>
          <a:noFill/>
          <a:ln/>
        </p:spPr>
        <p:txBody>
          <a:bodyPr wrap="square" lIns="0" tIns="0" rIns="0" bIns="0" rtlCol="0" anchor="ctr"/>
          <a:lstStyle/>
          <a:p>
            <a:pPr algn="ctr" indent="0" marL="0">
              <a:lnSpc>
                <a:spcPct val="108000"/>
              </a:lnSpc>
              <a:buNone/>
            </a:pPr>
            <a:r>
              <a:rPr lang="en-US" sz="1200" dirty="0">
                <a:solidFill>
                  <a:srgbClr val="5A6480"/>
                </a:solidFill>
                <a:latin typeface="Calibri" pitchFamily="34" charset="0"/>
                <a:ea typeface="Calibri" pitchFamily="34" charset="-122"/>
                <a:cs typeface="Calibri" pitchFamily="34" charset="-120"/>
              </a:rPr>
              <a:t>저장된 계획을 인간이 검토·승인하기 전까지 구현 금지</a:t>
            </a:r>
            <a:endParaRPr lang="en-US" sz="1200" dirty="0"/>
          </a:p>
        </p:txBody>
      </p:sp>
      <p:sp>
        <p:nvSpPr>
          <p:cNvPr id="29" name="Text 20"/>
          <p:cNvSpPr/>
          <p:nvPr/>
        </p:nvSpPr>
        <p:spPr>
          <a:xfrm>
            <a:off x="548640" y="5577840"/>
            <a:ext cx="10972800" cy="457200"/>
          </a:xfrm>
          <a:prstGeom prst="rect">
            <a:avLst/>
          </a:prstGeom>
          <a:noFill/>
          <a:ln/>
        </p:spPr>
        <p:txBody>
          <a:bodyPr wrap="square" lIns="0" tIns="0" rIns="0" bIns="0" rtlCol="0" anchor="ctr"/>
          <a:lstStyle/>
          <a:p>
            <a:pPr algn="ctr" indent="0" marL="0">
              <a:buNone/>
            </a:pPr>
            <a:r>
              <a:rPr lang="en-US" sz="1400" i="1" dirty="0">
                <a:solidFill>
                  <a:srgbClr val="2A3A7C"/>
                </a:solidFill>
                <a:latin typeface="Calibri" pitchFamily="34" charset="0"/>
                <a:ea typeface="Calibri" pitchFamily="34" charset="-122"/>
                <a:cs typeface="Calibri" pitchFamily="34" charset="-120"/>
              </a:rPr>
              <a:t>차단성(blocking)·보안 지적은 인간 승인자가 판정하기 전까지 절대 구현으로 넘어갈 수 없다.</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CROSS-REVIEW</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교차검증을 '진짜'로 만드는 3가지 장치</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Shape 4"/>
          <p:cNvSpPr/>
          <p:nvPr/>
        </p:nvSpPr>
        <p:spPr>
          <a:xfrm>
            <a:off x="548640" y="1828800"/>
            <a:ext cx="3611880" cy="3840480"/>
          </a:xfrm>
          <a:prstGeom prst="roundRect">
            <a:avLst>
              <a:gd name="adj" fmla="val 2532"/>
            </a:avLst>
          </a:prstGeom>
          <a:solidFill>
            <a:srgbClr val="EEF3FC"/>
          </a:solidFill>
          <a:ln/>
          <a:effectLst>
            <a:outerShdw sx="100000" sy="100000" kx="0" ky="0" algn="bl" rotWithShape="0" blurRad="114300" dist="38100" dir="5400000">
              <a:srgbClr val="1A1F36">
                <a:alpha val="16000"/>
              </a:srgbClr>
            </a:outerShdw>
          </a:effectLst>
        </p:spPr>
      </p:sp>
      <p:sp>
        <p:nvSpPr>
          <p:cNvPr id="7" name="Shape 5"/>
          <p:cNvSpPr/>
          <p:nvPr/>
        </p:nvSpPr>
        <p:spPr>
          <a:xfrm>
            <a:off x="1847088" y="2194560"/>
            <a:ext cx="1005840" cy="1005840"/>
          </a:xfrm>
          <a:prstGeom prst="ellipse">
            <a:avLst/>
          </a:prstGeom>
          <a:solidFill>
            <a:srgbClr val="2A3A7C"/>
          </a:solidFill>
          <a:ln/>
        </p:spPr>
      </p:sp>
      <p:pic>
        <p:nvPicPr>
          <p:cNvPr id="8" name="Image 0" descr="preencoded.png">    </p:cNvPr>
          <p:cNvPicPr>
            <a:picLocks noChangeAspect="1"/>
          </p:cNvPicPr>
          <p:nvPr/>
        </p:nvPicPr>
        <p:blipFill>
          <a:blip r:embed="rId1"/>
          <a:stretch>
            <a:fillRect/>
          </a:stretch>
        </p:blipFill>
        <p:spPr>
          <a:xfrm>
            <a:off x="2121408" y="2468880"/>
            <a:ext cx="457200" cy="457200"/>
          </a:xfrm>
          <a:prstGeom prst="rect">
            <a:avLst/>
          </a:prstGeom>
        </p:spPr>
      </p:pic>
      <p:sp>
        <p:nvSpPr>
          <p:cNvPr id="9" name="Text 6"/>
          <p:cNvSpPr/>
          <p:nvPr/>
        </p:nvSpPr>
        <p:spPr>
          <a:xfrm>
            <a:off x="731520" y="3337560"/>
            <a:ext cx="3246120" cy="502920"/>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독립성</a:t>
            </a:r>
            <a:endParaRPr lang="en-US" sz="1900" dirty="0"/>
          </a:p>
        </p:txBody>
      </p:sp>
      <p:sp>
        <p:nvSpPr>
          <p:cNvPr id="10" name="Text 7"/>
          <p:cNvSpPr/>
          <p:nvPr/>
        </p:nvSpPr>
        <p:spPr>
          <a:xfrm>
            <a:off x="868680" y="3931920"/>
            <a:ext cx="2971800" cy="1645920"/>
          </a:xfrm>
          <a:prstGeom prst="rect">
            <a:avLst/>
          </a:prstGeom>
          <a:noFill/>
          <a:ln/>
        </p:spPr>
        <p:txBody>
          <a:bodyPr wrap="square" lIns="0" tIns="0" rIns="0" bIns="0" rtlCol="0" anchor="ctr"/>
          <a:lstStyle/>
          <a:p>
            <a:pPr algn="ctr" indent="0" marL="0">
              <a:lnSpc>
                <a:spcPct val="112000"/>
              </a:lnSpc>
              <a:buNone/>
            </a:pPr>
            <a:r>
              <a:rPr lang="en-US" sz="1300" dirty="0">
                <a:solidFill>
                  <a:srgbClr val="5A6480"/>
                </a:solidFill>
                <a:latin typeface="Calibri" pitchFamily="34" charset="0"/>
                <a:ea typeface="Calibri" pitchFamily="34" charset="-122"/>
                <a:cs typeface="Calibri" pitchFamily="34" charset="-120"/>
              </a:rPr>
              <a:t>Cross-Reviewer는 Planner와 다른 모델/세션. 초안만 입력받고 다른 리뷰어 결과는 못 본다(group-think 방지).</a:t>
            </a:r>
            <a:endParaRPr lang="en-US" sz="1300" dirty="0"/>
          </a:p>
        </p:txBody>
      </p:sp>
      <p:sp>
        <p:nvSpPr>
          <p:cNvPr id="11" name="Shape 8"/>
          <p:cNvSpPr/>
          <p:nvPr/>
        </p:nvSpPr>
        <p:spPr>
          <a:xfrm>
            <a:off x="4297680" y="1828800"/>
            <a:ext cx="3611880" cy="3840480"/>
          </a:xfrm>
          <a:prstGeom prst="roundRect">
            <a:avLst>
              <a:gd name="adj" fmla="val 2532"/>
            </a:avLst>
          </a:prstGeom>
          <a:solidFill>
            <a:srgbClr val="EEF3FC"/>
          </a:solidFill>
          <a:ln/>
          <a:effectLst>
            <a:outerShdw sx="100000" sy="100000" kx="0" ky="0" algn="bl" rotWithShape="0" blurRad="114300" dist="38100" dir="5400000">
              <a:srgbClr val="1A1F36">
                <a:alpha val="16000"/>
              </a:srgbClr>
            </a:outerShdw>
          </a:effectLst>
        </p:spPr>
      </p:sp>
      <p:sp>
        <p:nvSpPr>
          <p:cNvPr id="12" name="Shape 9"/>
          <p:cNvSpPr/>
          <p:nvPr/>
        </p:nvSpPr>
        <p:spPr>
          <a:xfrm>
            <a:off x="5596128" y="2194560"/>
            <a:ext cx="1005840" cy="1005840"/>
          </a:xfrm>
          <a:prstGeom prst="ellipse">
            <a:avLst/>
          </a:prstGeom>
          <a:solidFill>
            <a:srgbClr val="02C39A"/>
          </a:solidFill>
          <a:ln/>
        </p:spPr>
      </p:sp>
      <p:pic>
        <p:nvPicPr>
          <p:cNvPr id="13" name="Image 1" descr="preencoded.png">    </p:cNvPr>
          <p:cNvPicPr>
            <a:picLocks noChangeAspect="1"/>
          </p:cNvPicPr>
          <p:nvPr/>
        </p:nvPicPr>
        <p:blipFill>
          <a:blip r:embed="rId2"/>
          <a:stretch>
            <a:fillRect/>
          </a:stretch>
        </p:blipFill>
        <p:spPr>
          <a:xfrm>
            <a:off x="5870448" y="2468880"/>
            <a:ext cx="457200" cy="457200"/>
          </a:xfrm>
          <a:prstGeom prst="rect">
            <a:avLst/>
          </a:prstGeom>
        </p:spPr>
      </p:pic>
      <p:sp>
        <p:nvSpPr>
          <p:cNvPr id="14" name="Text 10"/>
          <p:cNvSpPr/>
          <p:nvPr/>
        </p:nvSpPr>
        <p:spPr>
          <a:xfrm>
            <a:off x="4480560" y="3337560"/>
            <a:ext cx="3246120" cy="502920"/>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감사 가능성</a:t>
            </a:r>
            <a:endParaRPr lang="en-US" sz="1900" dirty="0"/>
          </a:p>
        </p:txBody>
      </p:sp>
      <p:sp>
        <p:nvSpPr>
          <p:cNvPr id="15" name="Text 11"/>
          <p:cNvSpPr/>
          <p:nvPr/>
        </p:nvSpPr>
        <p:spPr>
          <a:xfrm>
            <a:off x="4617720" y="3931920"/>
            <a:ext cx="2971800" cy="1645920"/>
          </a:xfrm>
          <a:prstGeom prst="rect">
            <a:avLst/>
          </a:prstGeom>
          <a:noFill/>
          <a:ln/>
        </p:spPr>
        <p:txBody>
          <a:bodyPr wrap="square" lIns="0" tIns="0" rIns="0" bIns="0" rtlCol="0" anchor="ctr"/>
          <a:lstStyle/>
          <a:p>
            <a:pPr algn="ctr" indent="0" marL="0">
              <a:lnSpc>
                <a:spcPct val="112000"/>
              </a:lnSpc>
              <a:buNone/>
            </a:pPr>
            <a:r>
              <a:rPr lang="en-US" sz="1300" dirty="0">
                <a:solidFill>
                  <a:srgbClr val="5A6480"/>
                </a:solidFill>
                <a:latin typeface="Calibri" pitchFamily="34" charset="0"/>
                <a:ea typeface="Calibri" pitchFamily="34" charset="-122"/>
                <a:cs typeface="Calibri" pitchFamily="34" charset="-120"/>
              </a:rPr>
              <a:t>reviewer_id · model_id · session_id · 검토 draft의 SHA-256 해시 · 시각을 기록. 자기검토는 무효.</a:t>
            </a:r>
            <a:endParaRPr lang="en-US" sz="1300" dirty="0"/>
          </a:p>
        </p:txBody>
      </p:sp>
      <p:sp>
        <p:nvSpPr>
          <p:cNvPr id="16" name="Shape 12"/>
          <p:cNvSpPr/>
          <p:nvPr/>
        </p:nvSpPr>
        <p:spPr>
          <a:xfrm>
            <a:off x="8046720" y="1828800"/>
            <a:ext cx="3611880" cy="3840480"/>
          </a:xfrm>
          <a:prstGeom prst="roundRect">
            <a:avLst>
              <a:gd name="adj" fmla="val 2532"/>
            </a:avLst>
          </a:prstGeom>
          <a:solidFill>
            <a:srgbClr val="EEF3FC"/>
          </a:solidFill>
          <a:ln/>
          <a:effectLst>
            <a:outerShdw sx="100000" sy="100000" kx="0" ky="0" algn="bl" rotWithShape="0" blurRad="114300" dist="38100" dir="5400000">
              <a:srgbClr val="1A1F36">
                <a:alpha val="16000"/>
              </a:srgbClr>
            </a:outerShdw>
          </a:effectLst>
        </p:spPr>
      </p:sp>
      <p:sp>
        <p:nvSpPr>
          <p:cNvPr id="17" name="Shape 13"/>
          <p:cNvSpPr/>
          <p:nvPr/>
        </p:nvSpPr>
        <p:spPr>
          <a:xfrm>
            <a:off x="9345168" y="2194560"/>
            <a:ext cx="1005840" cy="1005840"/>
          </a:xfrm>
          <a:prstGeom prst="ellipse">
            <a:avLst/>
          </a:prstGeom>
          <a:solidFill>
            <a:srgbClr val="E8A13A"/>
          </a:solidFill>
          <a:ln/>
        </p:spPr>
      </p:sp>
      <p:pic>
        <p:nvPicPr>
          <p:cNvPr id="18" name="Image 2" descr="preencoded.png">    </p:cNvPr>
          <p:cNvPicPr>
            <a:picLocks noChangeAspect="1"/>
          </p:cNvPicPr>
          <p:nvPr/>
        </p:nvPicPr>
        <p:blipFill>
          <a:blip r:embed="rId3"/>
          <a:stretch>
            <a:fillRect/>
          </a:stretch>
        </p:blipFill>
        <p:spPr>
          <a:xfrm>
            <a:off x="9619488" y="2468880"/>
            <a:ext cx="457200" cy="457200"/>
          </a:xfrm>
          <a:prstGeom prst="rect">
            <a:avLst/>
          </a:prstGeom>
        </p:spPr>
      </p:pic>
      <p:sp>
        <p:nvSpPr>
          <p:cNvPr id="19" name="Text 14"/>
          <p:cNvSpPr/>
          <p:nvPr/>
        </p:nvSpPr>
        <p:spPr>
          <a:xfrm>
            <a:off x="8229600" y="3337560"/>
            <a:ext cx="3246120" cy="502920"/>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신선도 바인딩</a:t>
            </a:r>
            <a:endParaRPr lang="en-US" sz="1900" dirty="0"/>
          </a:p>
        </p:txBody>
      </p:sp>
      <p:sp>
        <p:nvSpPr>
          <p:cNvPr id="20" name="Text 15"/>
          <p:cNvSpPr/>
          <p:nvPr/>
        </p:nvSpPr>
        <p:spPr>
          <a:xfrm>
            <a:off x="8366760" y="3931920"/>
            <a:ext cx="2971800" cy="1645920"/>
          </a:xfrm>
          <a:prstGeom prst="rect">
            <a:avLst/>
          </a:prstGeom>
          <a:noFill/>
          <a:ln/>
        </p:spPr>
        <p:txBody>
          <a:bodyPr wrap="square" lIns="0" tIns="0" rIns="0" bIns="0" rtlCol="0" anchor="ctr"/>
          <a:lstStyle/>
          <a:p>
            <a:pPr algn="ctr" indent="0" marL="0">
              <a:lnSpc>
                <a:spcPct val="112000"/>
              </a:lnSpc>
              <a:buNone/>
            </a:pPr>
            <a:r>
              <a:rPr lang="en-US" sz="1300" dirty="0">
                <a:solidFill>
                  <a:srgbClr val="5A6480"/>
                </a:solidFill>
                <a:latin typeface="Calibri" pitchFamily="34" charset="0"/>
                <a:ea typeface="Calibri" pitchFamily="34" charset="-122"/>
                <a:cs typeface="Calibri" pitchFamily="34" charset="-120"/>
              </a:rPr>
              <a:t>리뷰는 그 시점 draft 해시와 묶인다. 내용이 바뀌면 기존 리뷰는 자동 무효화 — 재활용 불가.</a:t>
            </a:r>
            <a:endParaRPr lang="en-US" sz="1300" dirty="0"/>
          </a:p>
        </p:txBody>
      </p:sp>
      <p:sp>
        <p:nvSpPr>
          <p:cNvPr id="21" name="Text 16"/>
          <p:cNvSpPr/>
          <p:nvPr/>
        </p:nvSpPr>
        <p:spPr>
          <a:xfrm>
            <a:off x="548640" y="5897880"/>
            <a:ext cx="10972800" cy="411480"/>
          </a:xfrm>
          <a:prstGeom prst="rect">
            <a:avLst/>
          </a:prstGeom>
          <a:noFill/>
          <a:ln/>
        </p:spPr>
        <p:txBody>
          <a:bodyPr wrap="square" lIns="0" tIns="0" rIns="0" bIns="0" rtlCol="0" anchor="ctr"/>
          <a:lstStyle/>
          <a:p>
            <a:pPr algn="ctr" indent="0" marL="0">
              <a:buNone/>
            </a:pPr>
            <a:r>
              <a:rPr lang="en-US" sz="1350" b="1" dirty="0">
                <a:solidFill>
                  <a:srgbClr val="2A3A7C"/>
                </a:solidFill>
                <a:latin typeface="Calibri" pitchFamily="34" charset="0"/>
                <a:ea typeface="Calibri" pitchFamily="34" charset="-122"/>
                <a:cs typeface="Calibri" pitchFamily="34" charset="-120"/>
              </a:rPr>
              <a:t>리뷰 결과는 오직 Primary Planner에게만 모인다 — 단방향 정보 흐름.</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§3.4 ARTIFACTS</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계획 단계 아키텍처 산출물 (docs/)</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Text 4"/>
          <p:cNvSpPr/>
          <p:nvPr/>
        </p:nvSpPr>
        <p:spPr>
          <a:xfrm>
            <a:off x="548640" y="1508760"/>
            <a:ext cx="10972800" cy="457200"/>
          </a:xfrm>
          <a:prstGeom prst="rect">
            <a:avLst/>
          </a:prstGeom>
          <a:noFill/>
          <a:ln/>
        </p:spPr>
        <p:txBody>
          <a:bodyPr wrap="square" lIns="0" tIns="0" rIns="0" bIns="0" rtlCol="0" anchor="ctr"/>
          <a:lstStyle/>
          <a:p>
            <a:pPr indent="0" marL="0">
              <a:buNone/>
            </a:pPr>
            <a:r>
              <a:rPr lang="en-US" sz="1450" dirty="0">
                <a:solidFill>
                  <a:srgbClr val="1A1F36"/>
                </a:solidFill>
                <a:latin typeface="Calibri" pitchFamily="34" charset="0"/>
                <a:ea typeface="Calibri" pitchFamily="34" charset="-122"/>
                <a:cs typeface="Calibri" pitchFamily="34" charset="-120"/>
              </a:rPr>
              <a:t>코드 작성 전, 모든 산출물을 docs/에 만든다. 다이어그램은 mermaid로 — 존재 여부도 스크립트로 점검한다.</a:t>
            </a:r>
            <a:endParaRPr lang="en-US" sz="1450" dirty="0"/>
          </a:p>
        </p:txBody>
      </p:sp>
      <p:sp>
        <p:nvSpPr>
          <p:cNvPr id="7" name="Shape 5"/>
          <p:cNvSpPr/>
          <p:nvPr/>
        </p:nvSpPr>
        <p:spPr>
          <a:xfrm>
            <a:off x="548640" y="2194560"/>
            <a:ext cx="3520440" cy="1325880"/>
          </a:xfrm>
          <a:prstGeom prst="roundRect">
            <a:avLst>
              <a:gd name="adj" fmla="val 6897"/>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8" name="Shape 6"/>
          <p:cNvSpPr/>
          <p:nvPr/>
        </p:nvSpPr>
        <p:spPr>
          <a:xfrm>
            <a:off x="749808" y="2441448"/>
            <a:ext cx="566928" cy="566928"/>
          </a:xfrm>
          <a:prstGeom prst="ellipse">
            <a:avLst/>
          </a:prstGeom>
          <a:solidFill>
            <a:srgbClr val="2A3A7C"/>
          </a:solidFill>
          <a:ln/>
        </p:spPr>
      </p:sp>
      <p:pic>
        <p:nvPicPr>
          <p:cNvPr id="9" name="Image 0" descr="preencoded.png">    </p:cNvPr>
          <p:cNvPicPr>
            <a:picLocks noChangeAspect="1"/>
          </p:cNvPicPr>
          <p:nvPr/>
        </p:nvPicPr>
        <p:blipFill>
          <a:blip r:embed="rId1"/>
          <a:stretch>
            <a:fillRect/>
          </a:stretch>
        </p:blipFill>
        <p:spPr>
          <a:xfrm>
            <a:off x="886968" y="2578608"/>
            <a:ext cx="292608" cy="292608"/>
          </a:xfrm>
          <a:prstGeom prst="rect">
            <a:avLst/>
          </a:prstGeom>
        </p:spPr>
      </p:pic>
      <p:sp>
        <p:nvSpPr>
          <p:cNvPr id="10" name="Text 7"/>
          <p:cNvSpPr/>
          <p:nvPr/>
        </p:nvSpPr>
        <p:spPr>
          <a:xfrm>
            <a:off x="1481328" y="2395728"/>
            <a:ext cx="2468880" cy="45720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시스템 아키텍처</a:t>
            </a:r>
            <a:endParaRPr lang="en-US" sz="1450" dirty="0"/>
          </a:p>
        </p:txBody>
      </p:sp>
      <p:sp>
        <p:nvSpPr>
          <p:cNvPr id="11" name="Text 8"/>
          <p:cNvSpPr/>
          <p:nvPr/>
        </p:nvSpPr>
        <p:spPr>
          <a:xfrm>
            <a:off x="1481328" y="2852928"/>
            <a:ext cx="2514600" cy="548640"/>
          </a:xfrm>
          <a:prstGeom prst="rect">
            <a:avLst/>
          </a:prstGeom>
          <a:noFill/>
          <a:ln/>
        </p:spPr>
        <p:txBody>
          <a:bodyPr wrap="square" lIns="0" tIns="0" rIns="0" bIns="0" rtlCol="0" anchor="ctr"/>
          <a:lstStyle/>
          <a:p>
            <a:pPr indent="0" marL="0">
              <a:lnSpc>
                <a:spcPct val="100000"/>
              </a:lnSpc>
              <a:buNone/>
            </a:pPr>
            <a:r>
              <a:rPr lang="en-US" sz="1100" dirty="0">
                <a:solidFill>
                  <a:srgbClr val="5A6480"/>
                </a:solidFill>
                <a:latin typeface="Calibri" pitchFamily="34" charset="0"/>
                <a:ea typeface="Calibri" pitchFamily="34" charset="-122"/>
                <a:cs typeface="Calibri" pitchFamily="34" charset="-120"/>
              </a:rPr>
              <a:t>전체 컴포넌트와 관계 (system.md)</a:t>
            </a:r>
            <a:endParaRPr lang="en-US" sz="1100" dirty="0"/>
          </a:p>
        </p:txBody>
      </p:sp>
      <p:sp>
        <p:nvSpPr>
          <p:cNvPr id="12" name="Shape 9"/>
          <p:cNvSpPr/>
          <p:nvPr/>
        </p:nvSpPr>
        <p:spPr>
          <a:xfrm>
            <a:off x="4270248" y="2194560"/>
            <a:ext cx="3520440" cy="1325880"/>
          </a:xfrm>
          <a:prstGeom prst="roundRect">
            <a:avLst>
              <a:gd name="adj" fmla="val 6897"/>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3" name="Shape 10"/>
          <p:cNvSpPr/>
          <p:nvPr/>
        </p:nvSpPr>
        <p:spPr>
          <a:xfrm>
            <a:off x="4471416" y="2441448"/>
            <a:ext cx="566928" cy="566928"/>
          </a:xfrm>
          <a:prstGeom prst="ellipse">
            <a:avLst/>
          </a:prstGeom>
          <a:solidFill>
            <a:srgbClr val="2A3A7C"/>
          </a:solidFill>
          <a:ln/>
        </p:spPr>
      </p:sp>
      <p:pic>
        <p:nvPicPr>
          <p:cNvPr id="14" name="Image 1" descr="preencoded.png">    </p:cNvPr>
          <p:cNvPicPr>
            <a:picLocks noChangeAspect="1"/>
          </p:cNvPicPr>
          <p:nvPr/>
        </p:nvPicPr>
        <p:blipFill>
          <a:blip r:embed="rId2"/>
          <a:stretch>
            <a:fillRect/>
          </a:stretch>
        </p:blipFill>
        <p:spPr>
          <a:xfrm>
            <a:off x="4608576" y="2578608"/>
            <a:ext cx="292608" cy="292608"/>
          </a:xfrm>
          <a:prstGeom prst="rect">
            <a:avLst/>
          </a:prstGeom>
        </p:spPr>
      </p:pic>
      <p:sp>
        <p:nvSpPr>
          <p:cNvPr id="15" name="Text 11"/>
          <p:cNvSpPr/>
          <p:nvPr/>
        </p:nvSpPr>
        <p:spPr>
          <a:xfrm>
            <a:off x="5202936" y="2395728"/>
            <a:ext cx="2468880" cy="45720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시퀀스 다이어그램</a:t>
            </a:r>
            <a:endParaRPr lang="en-US" sz="1450" dirty="0"/>
          </a:p>
        </p:txBody>
      </p:sp>
      <p:sp>
        <p:nvSpPr>
          <p:cNvPr id="16" name="Text 12"/>
          <p:cNvSpPr/>
          <p:nvPr/>
        </p:nvSpPr>
        <p:spPr>
          <a:xfrm>
            <a:off x="5202936" y="2852928"/>
            <a:ext cx="2514600" cy="548640"/>
          </a:xfrm>
          <a:prstGeom prst="rect">
            <a:avLst/>
          </a:prstGeom>
          <a:noFill/>
          <a:ln/>
        </p:spPr>
        <p:txBody>
          <a:bodyPr wrap="square" lIns="0" tIns="0" rIns="0" bIns="0" rtlCol="0" anchor="ctr"/>
          <a:lstStyle/>
          <a:p>
            <a:pPr indent="0" marL="0">
              <a:lnSpc>
                <a:spcPct val="100000"/>
              </a:lnSpc>
              <a:buNone/>
            </a:pPr>
            <a:r>
              <a:rPr lang="en-US" sz="1100" dirty="0">
                <a:solidFill>
                  <a:srgbClr val="5A6480"/>
                </a:solidFill>
                <a:latin typeface="Calibri" pitchFamily="34" charset="0"/>
                <a:ea typeface="Calibri" pitchFamily="34" charset="-122"/>
                <a:cs typeface="Calibri" pitchFamily="34" charset="-120"/>
              </a:rPr>
              <a:t>핵심 플로우 sequenceDiagram</a:t>
            </a:r>
            <a:endParaRPr lang="en-US" sz="1100" dirty="0"/>
          </a:p>
        </p:txBody>
      </p:sp>
      <p:sp>
        <p:nvSpPr>
          <p:cNvPr id="17" name="Shape 13"/>
          <p:cNvSpPr/>
          <p:nvPr/>
        </p:nvSpPr>
        <p:spPr>
          <a:xfrm>
            <a:off x="7991856" y="2194560"/>
            <a:ext cx="3520440" cy="1325880"/>
          </a:xfrm>
          <a:prstGeom prst="roundRect">
            <a:avLst>
              <a:gd name="adj" fmla="val 6897"/>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8" name="Shape 14"/>
          <p:cNvSpPr/>
          <p:nvPr/>
        </p:nvSpPr>
        <p:spPr>
          <a:xfrm>
            <a:off x="8193024" y="2441448"/>
            <a:ext cx="566928" cy="566928"/>
          </a:xfrm>
          <a:prstGeom prst="ellipse">
            <a:avLst/>
          </a:prstGeom>
          <a:solidFill>
            <a:srgbClr val="2A3A7C"/>
          </a:solidFill>
          <a:ln/>
        </p:spPr>
      </p:sp>
      <p:pic>
        <p:nvPicPr>
          <p:cNvPr id="19" name="Image 2" descr="preencoded.png">    </p:cNvPr>
          <p:cNvPicPr>
            <a:picLocks noChangeAspect="1"/>
          </p:cNvPicPr>
          <p:nvPr/>
        </p:nvPicPr>
        <p:blipFill>
          <a:blip r:embed="rId3"/>
          <a:stretch>
            <a:fillRect/>
          </a:stretch>
        </p:blipFill>
        <p:spPr>
          <a:xfrm>
            <a:off x="8330184" y="2578608"/>
            <a:ext cx="292608" cy="292608"/>
          </a:xfrm>
          <a:prstGeom prst="rect">
            <a:avLst/>
          </a:prstGeom>
        </p:spPr>
      </p:pic>
      <p:sp>
        <p:nvSpPr>
          <p:cNvPr id="20" name="Text 15"/>
          <p:cNvSpPr/>
          <p:nvPr/>
        </p:nvSpPr>
        <p:spPr>
          <a:xfrm>
            <a:off x="8924544" y="2395728"/>
            <a:ext cx="2468880" cy="45720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데이터 아키텍처</a:t>
            </a:r>
            <a:endParaRPr lang="en-US" sz="1450" dirty="0"/>
          </a:p>
        </p:txBody>
      </p:sp>
      <p:sp>
        <p:nvSpPr>
          <p:cNvPr id="21" name="Text 16"/>
          <p:cNvSpPr/>
          <p:nvPr/>
        </p:nvSpPr>
        <p:spPr>
          <a:xfrm>
            <a:off x="8924544" y="2852928"/>
            <a:ext cx="2514600" cy="548640"/>
          </a:xfrm>
          <a:prstGeom prst="rect">
            <a:avLst/>
          </a:prstGeom>
          <a:noFill/>
          <a:ln/>
        </p:spPr>
        <p:txBody>
          <a:bodyPr wrap="square" lIns="0" tIns="0" rIns="0" bIns="0" rtlCol="0" anchor="ctr"/>
          <a:lstStyle/>
          <a:p>
            <a:pPr indent="0" marL="0">
              <a:lnSpc>
                <a:spcPct val="100000"/>
              </a:lnSpc>
              <a:buNone/>
            </a:pPr>
            <a:r>
              <a:rPr lang="en-US" sz="1100" dirty="0">
                <a:solidFill>
                  <a:srgbClr val="5A6480"/>
                </a:solidFill>
                <a:latin typeface="Calibri" pitchFamily="34" charset="0"/>
                <a:ea typeface="Calibri" pitchFamily="34" charset="-122"/>
                <a:cs typeface="Calibri" pitchFamily="34" charset="-120"/>
              </a:rPr>
              <a:t>엔티티–저장소 매핑·일관성 (data.md)</a:t>
            </a:r>
            <a:endParaRPr lang="en-US" sz="1100" dirty="0"/>
          </a:p>
        </p:txBody>
      </p:sp>
      <p:sp>
        <p:nvSpPr>
          <p:cNvPr id="22" name="Shape 17"/>
          <p:cNvSpPr/>
          <p:nvPr/>
        </p:nvSpPr>
        <p:spPr>
          <a:xfrm>
            <a:off x="548640" y="3703320"/>
            <a:ext cx="3520440" cy="1325880"/>
          </a:xfrm>
          <a:prstGeom prst="roundRect">
            <a:avLst>
              <a:gd name="adj" fmla="val 6897"/>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23" name="Shape 18"/>
          <p:cNvSpPr/>
          <p:nvPr/>
        </p:nvSpPr>
        <p:spPr>
          <a:xfrm>
            <a:off x="749808" y="3950208"/>
            <a:ext cx="566928" cy="566928"/>
          </a:xfrm>
          <a:prstGeom prst="ellipse">
            <a:avLst/>
          </a:prstGeom>
          <a:solidFill>
            <a:srgbClr val="2A3A7C"/>
          </a:solidFill>
          <a:ln/>
        </p:spPr>
      </p:sp>
      <p:pic>
        <p:nvPicPr>
          <p:cNvPr id="24" name="Image 3" descr="preencoded.png">    </p:cNvPr>
          <p:cNvPicPr>
            <a:picLocks noChangeAspect="1"/>
          </p:cNvPicPr>
          <p:nvPr/>
        </p:nvPicPr>
        <p:blipFill>
          <a:blip r:embed="rId4"/>
          <a:stretch>
            <a:fillRect/>
          </a:stretch>
        </p:blipFill>
        <p:spPr>
          <a:xfrm>
            <a:off x="886968" y="4087368"/>
            <a:ext cx="292608" cy="292608"/>
          </a:xfrm>
          <a:prstGeom prst="rect">
            <a:avLst/>
          </a:prstGeom>
        </p:spPr>
      </p:pic>
      <p:sp>
        <p:nvSpPr>
          <p:cNvPr id="25" name="Text 19"/>
          <p:cNvSpPr/>
          <p:nvPr/>
        </p:nvSpPr>
        <p:spPr>
          <a:xfrm>
            <a:off x="1481328" y="3904488"/>
            <a:ext cx="2468880" cy="45720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DB 스키마 정의서</a:t>
            </a:r>
            <a:endParaRPr lang="en-US" sz="1450" dirty="0"/>
          </a:p>
        </p:txBody>
      </p:sp>
      <p:sp>
        <p:nvSpPr>
          <p:cNvPr id="26" name="Text 20"/>
          <p:cNvSpPr/>
          <p:nvPr/>
        </p:nvSpPr>
        <p:spPr>
          <a:xfrm>
            <a:off x="1481328" y="4361688"/>
            <a:ext cx="2514600" cy="548640"/>
          </a:xfrm>
          <a:prstGeom prst="rect">
            <a:avLst/>
          </a:prstGeom>
          <a:noFill/>
          <a:ln/>
        </p:spPr>
        <p:txBody>
          <a:bodyPr wrap="square" lIns="0" tIns="0" rIns="0" bIns="0" rtlCol="0" anchor="ctr"/>
          <a:lstStyle/>
          <a:p>
            <a:pPr indent="0" marL="0">
              <a:lnSpc>
                <a:spcPct val="100000"/>
              </a:lnSpc>
              <a:buNone/>
            </a:pPr>
            <a:r>
              <a:rPr lang="en-US" sz="1100" dirty="0">
                <a:solidFill>
                  <a:srgbClr val="5A6480"/>
                </a:solidFill>
                <a:latin typeface="Calibri" pitchFamily="34" charset="0"/>
                <a:ea typeface="Calibri" pitchFamily="34" charset="-122"/>
                <a:cs typeface="Calibri" pitchFamily="34" charset="-120"/>
              </a:rPr>
              <a:t>테이블·제약·인덱스·erDiagram</a:t>
            </a:r>
            <a:endParaRPr lang="en-US" sz="1100" dirty="0"/>
          </a:p>
        </p:txBody>
      </p:sp>
      <p:sp>
        <p:nvSpPr>
          <p:cNvPr id="27" name="Shape 21"/>
          <p:cNvSpPr/>
          <p:nvPr/>
        </p:nvSpPr>
        <p:spPr>
          <a:xfrm>
            <a:off x="4270248" y="3703320"/>
            <a:ext cx="3520440" cy="1325880"/>
          </a:xfrm>
          <a:prstGeom prst="roundRect">
            <a:avLst>
              <a:gd name="adj" fmla="val 6897"/>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28" name="Shape 22"/>
          <p:cNvSpPr/>
          <p:nvPr/>
        </p:nvSpPr>
        <p:spPr>
          <a:xfrm>
            <a:off x="4471416" y="3950208"/>
            <a:ext cx="566928" cy="566928"/>
          </a:xfrm>
          <a:prstGeom prst="ellipse">
            <a:avLst/>
          </a:prstGeom>
          <a:solidFill>
            <a:srgbClr val="2A3A7C"/>
          </a:solidFill>
          <a:ln/>
        </p:spPr>
      </p:sp>
      <p:pic>
        <p:nvPicPr>
          <p:cNvPr id="29" name="Image 4" descr="preencoded.png">    </p:cNvPr>
          <p:cNvPicPr>
            <a:picLocks noChangeAspect="1"/>
          </p:cNvPicPr>
          <p:nvPr/>
        </p:nvPicPr>
        <p:blipFill>
          <a:blip r:embed="rId5"/>
          <a:stretch>
            <a:fillRect/>
          </a:stretch>
        </p:blipFill>
        <p:spPr>
          <a:xfrm>
            <a:off x="4608576" y="4087368"/>
            <a:ext cx="292608" cy="292608"/>
          </a:xfrm>
          <a:prstGeom prst="rect">
            <a:avLst/>
          </a:prstGeom>
        </p:spPr>
      </p:pic>
      <p:sp>
        <p:nvSpPr>
          <p:cNvPr id="30" name="Text 23"/>
          <p:cNvSpPr/>
          <p:nvPr/>
        </p:nvSpPr>
        <p:spPr>
          <a:xfrm>
            <a:off x="5202936" y="3904488"/>
            <a:ext cx="2468880" cy="45720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보안 아키텍처</a:t>
            </a:r>
            <a:endParaRPr lang="en-US" sz="1450" dirty="0"/>
          </a:p>
        </p:txBody>
      </p:sp>
      <p:sp>
        <p:nvSpPr>
          <p:cNvPr id="31" name="Text 24"/>
          <p:cNvSpPr/>
          <p:nvPr/>
        </p:nvSpPr>
        <p:spPr>
          <a:xfrm>
            <a:off x="5202936" y="4361688"/>
            <a:ext cx="2514600" cy="548640"/>
          </a:xfrm>
          <a:prstGeom prst="rect">
            <a:avLst/>
          </a:prstGeom>
          <a:noFill/>
          <a:ln/>
        </p:spPr>
        <p:txBody>
          <a:bodyPr wrap="square" lIns="0" tIns="0" rIns="0" bIns="0" rtlCol="0" anchor="ctr"/>
          <a:lstStyle/>
          <a:p>
            <a:pPr indent="0" marL="0">
              <a:lnSpc>
                <a:spcPct val="100000"/>
              </a:lnSpc>
              <a:buNone/>
            </a:pPr>
            <a:r>
              <a:rPr lang="en-US" sz="1100" dirty="0">
                <a:solidFill>
                  <a:srgbClr val="5A6480"/>
                </a:solidFill>
                <a:latin typeface="Calibri" pitchFamily="34" charset="0"/>
                <a:ea typeface="Calibri" pitchFamily="34" charset="-122"/>
                <a:cs typeface="Calibri" pitchFamily="34" charset="-120"/>
              </a:rPr>
              <a:t>인증/인가·신뢰경계·위협모델</a:t>
            </a:r>
            <a:endParaRPr lang="en-US" sz="1100" dirty="0"/>
          </a:p>
        </p:txBody>
      </p:sp>
      <p:sp>
        <p:nvSpPr>
          <p:cNvPr id="32" name="Shape 25"/>
          <p:cNvSpPr/>
          <p:nvPr/>
        </p:nvSpPr>
        <p:spPr>
          <a:xfrm>
            <a:off x="7991856" y="3703320"/>
            <a:ext cx="3520440" cy="1325880"/>
          </a:xfrm>
          <a:prstGeom prst="roundRect">
            <a:avLst>
              <a:gd name="adj" fmla="val 6897"/>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33" name="Shape 26"/>
          <p:cNvSpPr/>
          <p:nvPr/>
        </p:nvSpPr>
        <p:spPr>
          <a:xfrm>
            <a:off x="8193024" y="3950208"/>
            <a:ext cx="566928" cy="566928"/>
          </a:xfrm>
          <a:prstGeom prst="ellipse">
            <a:avLst/>
          </a:prstGeom>
          <a:solidFill>
            <a:srgbClr val="2A3A7C"/>
          </a:solidFill>
          <a:ln/>
        </p:spPr>
      </p:sp>
      <p:pic>
        <p:nvPicPr>
          <p:cNvPr id="34" name="Image 5" descr="preencoded.png">    </p:cNvPr>
          <p:cNvPicPr>
            <a:picLocks noChangeAspect="1"/>
          </p:cNvPicPr>
          <p:nvPr/>
        </p:nvPicPr>
        <p:blipFill>
          <a:blip r:embed="rId6"/>
          <a:stretch>
            <a:fillRect/>
          </a:stretch>
        </p:blipFill>
        <p:spPr>
          <a:xfrm>
            <a:off x="8330184" y="4087368"/>
            <a:ext cx="292608" cy="292608"/>
          </a:xfrm>
          <a:prstGeom prst="rect">
            <a:avLst/>
          </a:prstGeom>
        </p:spPr>
      </p:pic>
      <p:sp>
        <p:nvSpPr>
          <p:cNvPr id="35" name="Text 27"/>
          <p:cNvSpPr/>
          <p:nvPr/>
        </p:nvSpPr>
        <p:spPr>
          <a:xfrm>
            <a:off x="8924544" y="3904488"/>
            <a:ext cx="2468880" cy="45720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배포 아키텍처</a:t>
            </a:r>
            <a:endParaRPr lang="en-US" sz="1450" dirty="0"/>
          </a:p>
        </p:txBody>
      </p:sp>
      <p:sp>
        <p:nvSpPr>
          <p:cNvPr id="36" name="Text 28"/>
          <p:cNvSpPr/>
          <p:nvPr/>
        </p:nvSpPr>
        <p:spPr>
          <a:xfrm>
            <a:off x="8924544" y="4361688"/>
            <a:ext cx="2514600" cy="548640"/>
          </a:xfrm>
          <a:prstGeom prst="rect">
            <a:avLst/>
          </a:prstGeom>
          <a:noFill/>
          <a:ln/>
        </p:spPr>
        <p:txBody>
          <a:bodyPr wrap="square" lIns="0" tIns="0" rIns="0" bIns="0" rtlCol="0" anchor="ctr"/>
          <a:lstStyle/>
          <a:p>
            <a:pPr indent="0" marL="0">
              <a:lnSpc>
                <a:spcPct val="100000"/>
              </a:lnSpc>
              <a:buNone/>
            </a:pPr>
            <a:r>
              <a:rPr lang="en-US" sz="1100" dirty="0">
                <a:solidFill>
                  <a:srgbClr val="5A6480"/>
                </a:solidFill>
                <a:latin typeface="Calibri" pitchFamily="34" charset="0"/>
                <a:ea typeface="Calibri" pitchFamily="34" charset="-122"/>
                <a:cs typeface="Calibri" pitchFamily="34" charset="-120"/>
              </a:rPr>
              <a:t>토폴로지·환경·CI/CD·롤백</a:t>
            </a:r>
            <a:endParaRPr lang="en-US" sz="1100" dirty="0"/>
          </a:p>
        </p:txBody>
      </p:sp>
      <p:sp>
        <p:nvSpPr>
          <p:cNvPr id="37" name="Text 29"/>
          <p:cNvSpPr/>
          <p:nvPr/>
        </p:nvSpPr>
        <p:spPr>
          <a:xfrm>
            <a:off x="548640" y="5349240"/>
            <a:ext cx="10972800" cy="457200"/>
          </a:xfrm>
          <a:prstGeom prst="rect">
            <a:avLst/>
          </a:prstGeom>
          <a:noFill/>
          <a:ln/>
        </p:spPr>
        <p:txBody>
          <a:bodyPr wrap="square" lIns="0" tIns="0" rIns="0" bIns="0" rtlCol="0" anchor="ctr"/>
          <a:lstStyle/>
          <a:p>
            <a:pPr algn="ctr" indent="0" marL="0">
              <a:buNone/>
            </a:pPr>
            <a:r>
              <a:rPr lang="en-US" sz="1350" b="1" dirty="0">
                <a:solidFill>
                  <a:srgbClr val="02C39A"/>
                </a:solidFill>
                <a:latin typeface="Calibri" pitchFamily="34" charset="0"/>
                <a:ea typeface="Calibri" pitchFamily="34" charset="-122"/>
                <a:cs typeface="Calibri" pitchFamily="34" charset="-120"/>
              </a:rPr>
              <a:t>+ ADR  </a:t>
            </a:r>
            <a:pPr algn="ctr" indent="0" marL="0">
              <a:buNone/>
            </a:pPr>
            <a:r>
              <a:rPr lang="en-US" sz="1350" dirty="0">
                <a:solidFill>
                  <a:srgbClr val="1A1F36"/>
                </a:solidFill>
                <a:latin typeface="Calibri" pitchFamily="34" charset="0"/>
                <a:ea typeface="Calibri" pitchFamily="34" charset="-122"/>
                <a:cs typeface="Calibri" pitchFamily="34" charset="-120"/>
              </a:rPr>
              <a:t>주요 결정마다 docs/adr/NNNN-title.md (컨텍스트·결정·대안·결과)</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REAL CASE</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실제 사례 — plan.md, 4번의 검증을 거치다</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Shape 4"/>
          <p:cNvSpPr/>
          <p:nvPr/>
        </p:nvSpPr>
        <p:spPr>
          <a:xfrm>
            <a:off x="548640" y="1783080"/>
            <a:ext cx="11064240" cy="914400"/>
          </a:xfrm>
          <a:prstGeom prst="roundRect">
            <a:avLst>
              <a:gd name="adj" fmla="val 8000"/>
            </a:avLst>
          </a:prstGeom>
          <a:solidFill>
            <a:srgbClr val="EEF3FC"/>
          </a:solidFill>
          <a:ln/>
          <a:effectLst>
            <a:outerShdw sx="100000" sy="100000" kx="0" ky="0" algn="bl" rotWithShape="0" blurRad="114300" dist="38100" dir="5400000">
              <a:srgbClr val="1A1F36">
                <a:alpha val="16000"/>
              </a:srgbClr>
            </a:outerShdw>
          </a:effectLst>
        </p:spPr>
      </p:sp>
      <p:sp>
        <p:nvSpPr>
          <p:cNvPr id="7" name="Shape 5"/>
          <p:cNvSpPr/>
          <p:nvPr/>
        </p:nvSpPr>
        <p:spPr>
          <a:xfrm>
            <a:off x="777240" y="1975104"/>
            <a:ext cx="530352" cy="530352"/>
          </a:xfrm>
          <a:prstGeom prst="ellipse">
            <a:avLst/>
          </a:prstGeom>
          <a:solidFill>
            <a:srgbClr val="E0586B"/>
          </a:solidFill>
          <a:ln/>
        </p:spPr>
      </p:sp>
      <p:sp>
        <p:nvSpPr>
          <p:cNvPr id="8" name="Text 6"/>
          <p:cNvSpPr/>
          <p:nvPr/>
        </p:nvSpPr>
        <p:spPr>
          <a:xfrm>
            <a:off x="777240" y="1975104"/>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v1</a:t>
            </a:r>
            <a:endParaRPr lang="en-US" sz="1500" dirty="0"/>
          </a:p>
        </p:txBody>
      </p:sp>
      <p:sp>
        <p:nvSpPr>
          <p:cNvPr id="9" name="Text 7"/>
          <p:cNvSpPr/>
          <p:nvPr/>
        </p:nvSpPr>
        <p:spPr>
          <a:xfrm>
            <a:off x="1508760" y="1783080"/>
            <a:ext cx="4206240" cy="9144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초안 + codex 교차검증</a:t>
            </a:r>
            <a:endParaRPr lang="en-US" sz="1500" dirty="0"/>
          </a:p>
        </p:txBody>
      </p:sp>
      <p:sp>
        <p:nvSpPr>
          <p:cNvPr id="10" name="Text 8"/>
          <p:cNvSpPr/>
          <p:nvPr/>
        </p:nvSpPr>
        <p:spPr>
          <a:xfrm>
            <a:off x="5806440" y="1783080"/>
            <a:ext cx="5669280" cy="914400"/>
          </a:xfrm>
          <a:prstGeom prst="rect">
            <a:avLst/>
          </a:prstGeom>
          <a:noFill/>
          <a:ln/>
        </p:spPr>
        <p:txBody>
          <a:bodyPr wrap="square" lIns="0" tIns="0" rIns="0" bIns="0" rtlCol="0" anchor="ctr"/>
          <a:lstStyle/>
          <a:p>
            <a:pPr indent="0" marL="0">
              <a:buNone/>
            </a:pPr>
            <a:r>
              <a:rPr lang="en-US" sz="1300" dirty="0">
                <a:solidFill>
                  <a:srgbClr val="1A1F36"/>
                </a:solidFill>
                <a:latin typeface="Calibri" pitchFamily="34" charset="0"/>
                <a:ea typeface="Calibri" pitchFamily="34" charset="-122"/>
                <a:cs typeface="Calibri" pitchFamily="34" charset="-120"/>
              </a:rPr>
              <a:t>총 23건 (blocking 5 · high 10 · medium 8)</a:t>
            </a:r>
            <a:endParaRPr lang="en-US" sz="1300" dirty="0"/>
          </a:p>
        </p:txBody>
      </p:sp>
      <p:sp>
        <p:nvSpPr>
          <p:cNvPr id="11" name="Shape 9"/>
          <p:cNvSpPr/>
          <p:nvPr/>
        </p:nvSpPr>
        <p:spPr>
          <a:xfrm>
            <a:off x="548640" y="2788920"/>
            <a:ext cx="11064240" cy="914400"/>
          </a:xfrm>
          <a:prstGeom prst="roundRect">
            <a:avLst>
              <a:gd name="adj" fmla="val 8000"/>
            </a:avLst>
          </a:prstGeom>
          <a:solidFill>
            <a:srgbClr val="EEF3FC"/>
          </a:solidFill>
          <a:ln/>
          <a:effectLst>
            <a:outerShdw sx="100000" sy="100000" kx="0" ky="0" algn="bl" rotWithShape="0" blurRad="114300" dist="38100" dir="5400000">
              <a:srgbClr val="1A1F36">
                <a:alpha val="16000"/>
              </a:srgbClr>
            </a:outerShdw>
          </a:effectLst>
        </p:spPr>
      </p:sp>
      <p:sp>
        <p:nvSpPr>
          <p:cNvPr id="12" name="Shape 10"/>
          <p:cNvSpPr/>
          <p:nvPr/>
        </p:nvSpPr>
        <p:spPr>
          <a:xfrm>
            <a:off x="777240" y="2980944"/>
            <a:ext cx="530352" cy="530352"/>
          </a:xfrm>
          <a:prstGeom prst="ellipse">
            <a:avLst/>
          </a:prstGeom>
          <a:solidFill>
            <a:srgbClr val="E8A13A"/>
          </a:solidFill>
          <a:ln/>
        </p:spPr>
      </p:sp>
      <p:sp>
        <p:nvSpPr>
          <p:cNvPr id="13" name="Text 11"/>
          <p:cNvSpPr/>
          <p:nvPr/>
        </p:nvSpPr>
        <p:spPr>
          <a:xfrm>
            <a:off x="777240" y="2980944"/>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v2</a:t>
            </a:r>
            <a:endParaRPr lang="en-US" sz="1500" dirty="0"/>
          </a:p>
        </p:txBody>
      </p:sp>
      <p:sp>
        <p:nvSpPr>
          <p:cNvPr id="14" name="Text 12"/>
          <p:cNvSpPr/>
          <p:nvPr/>
        </p:nvSpPr>
        <p:spPr>
          <a:xfrm>
            <a:off x="1508760" y="2788920"/>
            <a:ext cx="4206240" cy="9144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blocking 전건 반영 후 재검증</a:t>
            </a:r>
            <a:endParaRPr lang="en-US" sz="1500" dirty="0"/>
          </a:p>
        </p:txBody>
      </p:sp>
      <p:sp>
        <p:nvSpPr>
          <p:cNvPr id="15" name="Text 13"/>
          <p:cNvSpPr/>
          <p:nvPr/>
        </p:nvSpPr>
        <p:spPr>
          <a:xfrm>
            <a:off x="5806440" y="2788920"/>
            <a:ext cx="5669280" cy="914400"/>
          </a:xfrm>
          <a:prstGeom prst="rect">
            <a:avLst/>
          </a:prstGeom>
          <a:noFill/>
          <a:ln/>
        </p:spPr>
        <p:txBody>
          <a:bodyPr wrap="square" lIns="0" tIns="0" rIns="0" bIns="0" rtlCol="0" anchor="ctr"/>
          <a:lstStyle/>
          <a:p>
            <a:pPr indent="0" marL="0">
              <a:buNone/>
            </a:pPr>
            <a:r>
              <a:rPr lang="en-US" sz="1300" dirty="0">
                <a:solidFill>
                  <a:srgbClr val="1A1F36"/>
                </a:solidFill>
                <a:latin typeface="Calibri" pitchFamily="34" charset="0"/>
                <a:ea typeface="Calibri" pitchFamily="34" charset="-122"/>
                <a:cs typeface="Calibri" pitchFamily="34" charset="-120"/>
              </a:rPr>
              <a:t>신규 blocking 1건 등 7건 추가 발견</a:t>
            </a:r>
            <a:endParaRPr lang="en-US" sz="1300" dirty="0"/>
          </a:p>
        </p:txBody>
      </p:sp>
      <p:sp>
        <p:nvSpPr>
          <p:cNvPr id="16" name="Shape 14"/>
          <p:cNvSpPr/>
          <p:nvPr/>
        </p:nvSpPr>
        <p:spPr>
          <a:xfrm>
            <a:off x="548640" y="3794760"/>
            <a:ext cx="11064240" cy="914400"/>
          </a:xfrm>
          <a:prstGeom prst="roundRect">
            <a:avLst>
              <a:gd name="adj" fmla="val 8000"/>
            </a:avLst>
          </a:prstGeom>
          <a:solidFill>
            <a:srgbClr val="EEF3FC"/>
          </a:solidFill>
          <a:ln/>
          <a:effectLst>
            <a:outerShdw sx="100000" sy="100000" kx="0" ky="0" algn="bl" rotWithShape="0" blurRad="114300" dist="38100" dir="5400000">
              <a:srgbClr val="1A1F36">
                <a:alpha val="16000"/>
              </a:srgbClr>
            </a:outerShdw>
          </a:effectLst>
        </p:spPr>
      </p:sp>
      <p:sp>
        <p:nvSpPr>
          <p:cNvPr id="17" name="Shape 15"/>
          <p:cNvSpPr/>
          <p:nvPr/>
        </p:nvSpPr>
        <p:spPr>
          <a:xfrm>
            <a:off x="777240" y="3986784"/>
            <a:ext cx="530352" cy="530352"/>
          </a:xfrm>
          <a:prstGeom prst="ellipse">
            <a:avLst/>
          </a:prstGeom>
          <a:solidFill>
            <a:srgbClr val="2A3A7C"/>
          </a:solidFill>
          <a:ln/>
        </p:spPr>
      </p:sp>
      <p:sp>
        <p:nvSpPr>
          <p:cNvPr id="18" name="Text 16"/>
          <p:cNvSpPr/>
          <p:nvPr/>
        </p:nvSpPr>
        <p:spPr>
          <a:xfrm>
            <a:off x="777240" y="3986784"/>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v3</a:t>
            </a:r>
            <a:endParaRPr lang="en-US" sz="1500" dirty="0"/>
          </a:p>
        </p:txBody>
      </p:sp>
      <p:sp>
        <p:nvSpPr>
          <p:cNvPr id="19" name="Text 17"/>
          <p:cNvSpPr/>
          <p:nvPr/>
        </p:nvSpPr>
        <p:spPr>
          <a:xfrm>
            <a:off x="1508760" y="3794760"/>
            <a:ext cx="4206240" cy="9144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문서 간 모순 정합 후 재검증</a:t>
            </a:r>
            <a:endParaRPr lang="en-US" sz="1500" dirty="0"/>
          </a:p>
        </p:txBody>
      </p:sp>
      <p:sp>
        <p:nvSpPr>
          <p:cNvPr id="20" name="Text 18"/>
          <p:cNvSpPr/>
          <p:nvPr/>
        </p:nvSpPr>
        <p:spPr>
          <a:xfrm>
            <a:off x="5806440" y="3794760"/>
            <a:ext cx="5669280" cy="914400"/>
          </a:xfrm>
          <a:prstGeom prst="rect">
            <a:avLst/>
          </a:prstGeom>
          <a:noFill/>
          <a:ln/>
        </p:spPr>
        <p:txBody>
          <a:bodyPr wrap="square" lIns="0" tIns="0" rIns="0" bIns="0" rtlCol="0" anchor="ctr"/>
          <a:lstStyle/>
          <a:p>
            <a:pPr indent="0" marL="0">
              <a:buNone/>
            </a:pPr>
            <a:r>
              <a:rPr lang="en-US" sz="1300" dirty="0">
                <a:solidFill>
                  <a:srgbClr val="1A1F36"/>
                </a:solidFill>
                <a:latin typeface="Calibri" pitchFamily="34" charset="0"/>
                <a:ea typeface="Calibri" pitchFamily="34" charset="-122"/>
                <a:cs typeface="Calibri" pitchFamily="34" charset="-120"/>
              </a:rPr>
              <a:t>3건 RESOLVED 확인 · 7건 PARTIAL · 신규 1</a:t>
            </a:r>
            <a:endParaRPr lang="en-US" sz="1300" dirty="0"/>
          </a:p>
        </p:txBody>
      </p:sp>
      <p:sp>
        <p:nvSpPr>
          <p:cNvPr id="21" name="Shape 19"/>
          <p:cNvSpPr/>
          <p:nvPr/>
        </p:nvSpPr>
        <p:spPr>
          <a:xfrm>
            <a:off x="548640" y="4800600"/>
            <a:ext cx="11064240" cy="914400"/>
          </a:xfrm>
          <a:prstGeom prst="roundRect">
            <a:avLst>
              <a:gd name="adj" fmla="val 8000"/>
            </a:avLst>
          </a:prstGeom>
          <a:solidFill>
            <a:srgbClr val="EEF3FC"/>
          </a:solidFill>
          <a:ln/>
          <a:effectLst>
            <a:outerShdw sx="100000" sy="100000" kx="0" ky="0" algn="bl" rotWithShape="0" blurRad="114300" dist="38100" dir="5400000">
              <a:srgbClr val="1A1F36">
                <a:alpha val="16000"/>
              </a:srgbClr>
            </a:outerShdw>
          </a:effectLst>
        </p:spPr>
      </p:sp>
      <p:sp>
        <p:nvSpPr>
          <p:cNvPr id="22" name="Shape 20"/>
          <p:cNvSpPr/>
          <p:nvPr/>
        </p:nvSpPr>
        <p:spPr>
          <a:xfrm>
            <a:off x="777240" y="4992624"/>
            <a:ext cx="530352" cy="530352"/>
          </a:xfrm>
          <a:prstGeom prst="ellipse">
            <a:avLst/>
          </a:prstGeom>
          <a:solidFill>
            <a:srgbClr val="02C39A"/>
          </a:solidFill>
          <a:ln/>
        </p:spPr>
      </p:sp>
      <p:sp>
        <p:nvSpPr>
          <p:cNvPr id="23" name="Text 21"/>
          <p:cNvSpPr/>
          <p:nvPr/>
        </p:nvSpPr>
        <p:spPr>
          <a:xfrm>
            <a:off x="777240" y="4992624"/>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v4</a:t>
            </a:r>
            <a:endParaRPr lang="en-US" sz="1500" dirty="0"/>
          </a:p>
        </p:txBody>
      </p:sp>
      <p:sp>
        <p:nvSpPr>
          <p:cNvPr id="24" name="Text 22"/>
          <p:cNvSpPr/>
          <p:nvPr/>
        </p:nvSpPr>
        <p:spPr>
          <a:xfrm>
            <a:off x="1508760" y="4800600"/>
            <a:ext cx="4206240" cy="91440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잔여 모순 해소 → 인간 최종 승인</a:t>
            </a:r>
            <a:endParaRPr lang="en-US" sz="1500" dirty="0"/>
          </a:p>
        </p:txBody>
      </p:sp>
      <p:sp>
        <p:nvSpPr>
          <p:cNvPr id="25" name="Text 23"/>
          <p:cNvSpPr/>
          <p:nvPr/>
        </p:nvSpPr>
        <p:spPr>
          <a:xfrm>
            <a:off x="5806440" y="4800600"/>
            <a:ext cx="5669280" cy="914400"/>
          </a:xfrm>
          <a:prstGeom prst="rect">
            <a:avLst/>
          </a:prstGeom>
          <a:noFill/>
          <a:ln/>
        </p:spPr>
        <p:txBody>
          <a:bodyPr wrap="square" lIns="0" tIns="0" rIns="0" bIns="0" rtlCol="0" anchor="ctr"/>
          <a:lstStyle/>
          <a:p>
            <a:pPr indent="0" marL="0">
              <a:buNone/>
            </a:pPr>
            <a:r>
              <a:rPr lang="en-US" sz="1300" dirty="0">
                <a:solidFill>
                  <a:srgbClr val="1A1F36"/>
                </a:solidFill>
                <a:latin typeface="Calibri" pitchFamily="34" charset="0"/>
                <a:ea typeface="Calibri" pitchFamily="34" charset="-122"/>
                <a:cs typeface="Calibri" pitchFamily="34" charset="-120"/>
              </a:rPr>
              <a:t>blocking 전건 종료, 구현 단계로 진입 승인</a:t>
            </a:r>
            <a:endParaRPr lang="en-US" sz="1300" dirty="0"/>
          </a:p>
        </p:txBody>
      </p:sp>
      <p:sp>
        <p:nvSpPr>
          <p:cNvPr id="26" name="Text 24"/>
          <p:cNvSpPr/>
          <p:nvPr/>
        </p:nvSpPr>
        <p:spPr>
          <a:xfrm>
            <a:off x="548640" y="5943600"/>
            <a:ext cx="10972800" cy="457200"/>
          </a:xfrm>
          <a:prstGeom prst="rect">
            <a:avLst/>
          </a:prstGeom>
          <a:noFill/>
          <a:ln/>
        </p:spPr>
        <p:txBody>
          <a:bodyPr wrap="square" lIns="0" tIns="0" rIns="0" bIns="0" rtlCol="0" anchor="ctr"/>
          <a:lstStyle/>
          <a:p>
            <a:pPr algn="ctr" indent="0" marL="0">
              <a:buNone/>
            </a:pPr>
            <a:r>
              <a:rPr lang="en-US" sz="1300" i="1" dirty="0">
                <a:solidFill>
                  <a:srgbClr val="5A6480"/>
                </a:solidFill>
                <a:latin typeface="Calibri" pitchFamily="34" charset="0"/>
                <a:ea typeface="Calibri" pitchFamily="34" charset="-122"/>
                <a:cs typeface="Calibri" pitchFamily="34" charset="-120"/>
              </a:rPr>
              <a:t>교차검증 → 이의처리 → 재검증 → 인간 승인. '신선도 바인딩' 때문에 문서가 바뀔 때마다 리뷰가 다시 돌았다.</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82880" y="1463040"/>
            <a:ext cx="5486400" cy="4114800"/>
          </a:xfrm>
          <a:prstGeom prst="rect">
            <a:avLst/>
          </a:prstGeom>
          <a:noFill/>
          <a:ln/>
        </p:spPr>
        <p:txBody>
          <a:bodyPr wrap="square" lIns="0" tIns="0" rIns="0" bIns="0" rtlCol="0" anchor="ctr"/>
          <a:lstStyle/>
          <a:p>
            <a:pPr algn="l" indent="0" marL="0">
              <a:buNone/>
            </a:pPr>
            <a:r>
              <a:rPr lang="en-US" sz="23000" b="1" dirty="0">
                <a:solidFill>
                  <a:srgbClr val="2A3A7C"/>
                </a:solidFill>
                <a:latin typeface="Cambria" pitchFamily="34" charset="0"/>
                <a:ea typeface="Cambria" pitchFamily="34" charset="-122"/>
                <a:cs typeface="Cambria" pitchFamily="34" charset="-120"/>
              </a:rPr>
              <a:t>PART 3</a:t>
            </a:r>
            <a:endParaRPr lang="en-US" sz="23000" dirty="0"/>
          </a:p>
        </p:txBody>
      </p:sp>
      <p:sp>
        <p:nvSpPr>
          <p:cNvPr id="3" name="Text 1"/>
          <p:cNvSpPr/>
          <p:nvPr/>
        </p:nvSpPr>
        <p:spPr>
          <a:xfrm>
            <a:off x="822960" y="2194560"/>
            <a:ext cx="5486400" cy="548640"/>
          </a:xfrm>
          <a:prstGeom prst="rect">
            <a:avLst/>
          </a:prstGeom>
          <a:noFill/>
          <a:ln/>
        </p:spPr>
        <p:txBody>
          <a:bodyPr wrap="square" lIns="0" tIns="0" rIns="0" bIns="0" rtlCol="0" anchor="ctr"/>
          <a:lstStyle/>
          <a:p>
            <a:pPr indent="0" marL="0">
              <a:buNone/>
            </a:pPr>
            <a:r>
              <a:rPr lang="en-US" sz="1800" b="1" spc="300" kern="0" dirty="0">
                <a:solidFill>
                  <a:srgbClr val="02C39A"/>
                </a:solidFill>
                <a:latin typeface="Calibri" pitchFamily="34" charset="0"/>
                <a:ea typeface="Calibri" pitchFamily="34" charset="-122"/>
                <a:cs typeface="Calibri" pitchFamily="34" charset="-120"/>
              </a:rPr>
              <a:t>Part 3</a:t>
            </a:r>
            <a:endParaRPr lang="en-US" sz="1800" dirty="0"/>
          </a:p>
        </p:txBody>
      </p:sp>
      <p:sp>
        <p:nvSpPr>
          <p:cNvPr id="4" name="Text 2"/>
          <p:cNvSpPr/>
          <p:nvPr/>
        </p:nvSpPr>
        <p:spPr>
          <a:xfrm>
            <a:off x="822960" y="2697480"/>
            <a:ext cx="1005840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Phase 워크플로우 &amp; codex 리뷰</a:t>
            </a:r>
            <a:endParaRPr lang="en-US" sz="4400" dirty="0"/>
          </a:p>
        </p:txBody>
      </p:sp>
      <p:sp>
        <p:nvSpPr>
          <p:cNvPr id="5" name="Text 3"/>
          <p:cNvSpPr/>
          <p:nvPr/>
        </p:nvSpPr>
        <p:spPr>
          <a:xfrm>
            <a:off x="868680" y="4114800"/>
            <a:ext cx="9601200" cy="109728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큰 작업을 검증 가능한 작은 단위로 쪼개 굴린다</a:t>
            </a:r>
            <a:endParaRPr lang="en-US" sz="1800" dirty="0"/>
          </a:p>
        </p:txBody>
      </p:sp>
      <p:sp>
        <p:nvSpPr>
          <p:cNvPr id="6" name="Shape 4"/>
          <p:cNvSpPr/>
          <p:nvPr/>
        </p:nvSpPr>
        <p:spPr>
          <a:xfrm>
            <a:off x="868680" y="5212080"/>
            <a:ext cx="1828800" cy="457200"/>
          </a:xfrm>
          <a:prstGeom prst="roundRect">
            <a:avLst>
              <a:gd name="adj" fmla="val 50000"/>
            </a:avLst>
          </a:prstGeom>
          <a:solidFill>
            <a:srgbClr val="02C39A"/>
          </a:solidFill>
          <a:ln/>
        </p:spPr>
      </p:sp>
      <p:sp>
        <p:nvSpPr>
          <p:cNvPr id="7" name="Text 5"/>
          <p:cNvSpPr/>
          <p:nvPr/>
        </p:nvSpPr>
        <p:spPr>
          <a:xfrm>
            <a:off x="868680" y="5212080"/>
            <a:ext cx="1828800" cy="45720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강의</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§6.2 CLOSED GATE</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Phase별 6단계 닫힌 게이트</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Text 4"/>
          <p:cNvSpPr/>
          <p:nvPr/>
        </p:nvSpPr>
        <p:spPr>
          <a:xfrm>
            <a:off x="548640" y="1508760"/>
            <a:ext cx="10972800" cy="457200"/>
          </a:xfrm>
          <a:prstGeom prst="rect">
            <a:avLst/>
          </a:prstGeom>
          <a:noFill/>
          <a:ln/>
        </p:spPr>
        <p:txBody>
          <a:bodyPr wrap="square" lIns="0" tIns="0" rIns="0" bIns="0" rtlCol="0" anchor="ctr"/>
          <a:lstStyle/>
          <a:p>
            <a:pPr indent="0" marL="0">
              <a:buNone/>
            </a:pPr>
            <a:r>
              <a:rPr lang="en-US" sz="1500" i="1" dirty="0">
                <a:solidFill>
                  <a:srgbClr val="1A1F36"/>
                </a:solidFill>
                <a:latin typeface="Calibri" pitchFamily="34" charset="0"/>
                <a:ea typeface="Calibri" pitchFamily="34" charset="-122"/>
                <a:cs typeface="Calibri" pitchFamily="34" charset="-120"/>
              </a:rPr>
              <a:t>모든 게이트를 통과해야 해당 Phase가 종료된다. 하나라도 막히면 다음으로 못 간다.</a:t>
            </a:r>
            <a:endParaRPr lang="en-US" sz="1500" dirty="0"/>
          </a:p>
        </p:txBody>
      </p:sp>
      <p:sp>
        <p:nvSpPr>
          <p:cNvPr id="7" name="Shape 5"/>
          <p:cNvSpPr/>
          <p:nvPr/>
        </p:nvSpPr>
        <p:spPr>
          <a:xfrm>
            <a:off x="548640" y="2194560"/>
            <a:ext cx="3520440" cy="1600200"/>
          </a:xfrm>
          <a:prstGeom prst="roundRect">
            <a:avLst>
              <a:gd name="adj" fmla="val 571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8" name="Shape 6"/>
          <p:cNvSpPr/>
          <p:nvPr/>
        </p:nvSpPr>
        <p:spPr>
          <a:xfrm>
            <a:off x="777240" y="2468880"/>
            <a:ext cx="640080" cy="640080"/>
          </a:xfrm>
          <a:prstGeom prst="ellipse">
            <a:avLst/>
          </a:prstGeom>
          <a:solidFill>
            <a:srgbClr val="2A3A7C"/>
          </a:solidFill>
          <a:ln/>
        </p:spPr>
      </p:sp>
      <p:pic>
        <p:nvPicPr>
          <p:cNvPr id="9" name="Image 0" descr="preencoded.png">    </p:cNvPr>
          <p:cNvPicPr>
            <a:picLocks noChangeAspect="1"/>
          </p:cNvPicPr>
          <p:nvPr/>
        </p:nvPicPr>
        <p:blipFill>
          <a:blip r:embed="rId1"/>
          <a:stretch>
            <a:fillRect/>
          </a:stretch>
        </p:blipFill>
        <p:spPr>
          <a:xfrm>
            <a:off x="932688" y="2624328"/>
            <a:ext cx="329184" cy="329184"/>
          </a:xfrm>
          <a:prstGeom prst="rect">
            <a:avLst/>
          </a:prstGeom>
        </p:spPr>
      </p:pic>
      <p:sp>
        <p:nvSpPr>
          <p:cNvPr id="10" name="Text 7"/>
          <p:cNvSpPr/>
          <p:nvPr/>
        </p:nvSpPr>
        <p:spPr>
          <a:xfrm>
            <a:off x="1554480" y="2450592"/>
            <a:ext cx="2423160" cy="6400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1. 구현</a:t>
            </a:r>
            <a:endParaRPr lang="en-US" sz="1600" dirty="0"/>
          </a:p>
        </p:txBody>
      </p:sp>
      <p:sp>
        <p:nvSpPr>
          <p:cNvPr id="11" name="Text 8"/>
          <p:cNvSpPr/>
          <p:nvPr/>
        </p:nvSpPr>
        <p:spPr>
          <a:xfrm>
            <a:off x="804672" y="3127248"/>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할당 스코프 준수하며 Phase 작업 구현</a:t>
            </a:r>
            <a:endParaRPr lang="en-US" sz="1150" dirty="0"/>
          </a:p>
        </p:txBody>
      </p:sp>
      <p:sp>
        <p:nvSpPr>
          <p:cNvPr id="12" name="Shape 9"/>
          <p:cNvSpPr/>
          <p:nvPr/>
        </p:nvSpPr>
        <p:spPr>
          <a:xfrm>
            <a:off x="4270248" y="2194560"/>
            <a:ext cx="3520440" cy="1600200"/>
          </a:xfrm>
          <a:prstGeom prst="roundRect">
            <a:avLst>
              <a:gd name="adj" fmla="val 571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3" name="Shape 10"/>
          <p:cNvSpPr/>
          <p:nvPr/>
        </p:nvSpPr>
        <p:spPr>
          <a:xfrm>
            <a:off x="4498848" y="2468880"/>
            <a:ext cx="640080" cy="640080"/>
          </a:xfrm>
          <a:prstGeom prst="ellipse">
            <a:avLst/>
          </a:prstGeom>
          <a:solidFill>
            <a:srgbClr val="02C39A"/>
          </a:solidFill>
          <a:ln/>
        </p:spPr>
      </p:sp>
      <p:pic>
        <p:nvPicPr>
          <p:cNvPr id="14" name="Image 1" descr="preencoded.png">    </p:cNvPr>
          <p:cNvPicPr>
            <a:picLocks noChangeAspect="1"/>
          </p:cNvPicPr>
          <p:nvPr/>
        </p:nvPicPr>
        <p:blipFill>
          <a:blip r:embed="rId2"/>
          <a:stretch>
            <a:fillRect/>
          </a:stretch>
        </p:blipFill>
        <p:spPr>
          <a:xfrm>
            <a:off x="4654296" y="2624328"/>
            <a:ext cx="329184" cy="329184"/>
          </a:xfrm>
          <a:prstGeom prst="rect">
            <a:avLst/>
          </a:prstGeom>
        </p:spPr>
      </p:pic>
      <p:sp>
        <p:nvSpPr>
          <p:cNvPr id="15" name="Text 11"/>
          <p:cNvSpPr/>
          <p:nvPr/>
        </p:nvSpPr>
        <p:spPr>
          <a:xfrm>
            <a:off x="5276088" y="2450592"/>
            <a:ext cx="2423160" cy="6400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2. 테스트</a:t>
            </a:r>
            <a:endParaRPr lang="en-US" sz="1600" dirty="0"/>
          </a:p>
        </p:txBody>
      </p:sp>
      <p:sp>
        <p:nvSpPr>
          <p:cNvPr id="16" name="Text 12"/>
          <p:cNvSpPr/>
          <p:nvPr/>
        </p:nvSpPr>
        <p:spPr>
          <a:xfrm>
            <a:off x="4526280" y="3127248"/>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테스트·린트·커버리지 게이트 통과</a:t>
            </a:r>
            <a:endParaRPr lang="en-US" sz="1150" dirty="0"/>
          </a:p>
        </p:txBody>
      </p:sp>
      <p:sp>
        <p:nvSpPr>
          <p:cNvPr id="17" name="Shape 13"/>
          <p:cNvSpPr/>
          <p:nvPr/>
        </p:nvSpPr>
        <p:spPr>
          <a:xfrm>
            <a:off x="7991856" y="2194560"/>
            <a:ext cx="3520440" cy="1600200"/>
          </a:xfrm>
          <a:prstGeom prst="roundRect">
            <a:avLst>
              <a:gd name="adj" fmla="val 571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8" name="Shape 14"/>
          <p:cNvSpPr/>
          <p:nvPr/>
        </p:nvSpPr>
        <p:spPr>
          <a:xfrm>
            <a:off x="8220456" y="2468880"/>
            <a:ext cx="640080" cy="640080"/>
          </a:xfrm>
          <a:prstGeom prst="ellipse">
            <a:avLst/>
          </a:prstGeom>
          <a:solidFill>
            <a:srgbClr val="E8A13A"/>
          </a:solidFill>
          <a:ln/>
        </p:spPr>
      </p:sp>
      <p:pic>
        <p:nvPicPr>
          <p:cNvPr id="19" name="Image 2" descr="preencoded.png">    </p:cNvPr>
          <p:cNvPicPr>
            <a:picLocks noChangeAspect="1"/>
          </p:cNvPicPr>
          <p:nvPr/>
        </p:nvPicPr>
        <p:blipFill>
          <a:blip r:embed="rId3"/>
          <a:stretch>
            <a:fillRect/>
          </a:stretch>
        </p:blipFill>
        <p:spPr>
          <a:xfrm>
            <a:off x="8375904" y="2624328"/>
            <a:ext cx="329184" cy="329184"/>
          </a:xfrm>
          <a:prstGeom prst="rect">
            <a:avLst/>
          </a:prstGeom>
        </p:spPr>
      </p:pic>
      <p:sp>
        <p:nvSpPr>
          <p:cNvPr id="20" name="Text 15"/>
          <p:cNvSpPr/>
          <p:nvPr/>
        </p:nvSpPr>
        <p:spPr>
          <a:xfrm>
            <a:off x="8997696" y="2450592"/>
            <a:ext cx="2423160" cy="6400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3. codex 리뷰</a:t>
            </a:r>
            <a:endParaRPr lang="en-US" sz="1600" dirty="0"/>
          </a:p>
        </p:txBody>
      </p:sp>
      <p:sp>
        <p:nvSpPr>
          <p:cNvPr id="21" name="Text 16"/>
          <p:cNvSpPr/>
          <p:nvPr/>
        </p:nvSpPr>
        <p:spPr>
          <a:xfrm>
            <a:off x="8247888" y="3127248"/>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codex 플러그인으로 리뷰, ID·severity 기록</a:t>
            </a:r>
            <a:endParaRPr lang="en-US" sz="1150" dirty="0"/>
          </a:p>
        </p:txBody>
      </p:sp>
      <p:sp>
        <p:nvSpPr>
          <p:cNvPr id="22" name="Shape 17"/>
          <p:cNvSpPr/>
          <p:nvPr/>
        </p:nvSpPr>
        <p:spPr>
          <a:xfrm>
            <a:off x="548640" y="3977640"/>
            <a:ext cx="3520440" cy="1600200"/>
          </a:xfrm>
          <a:prstGeom prst="roundRect">
            <a:avLst>
              <a:gd name="adj" fmla="val 571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23" name="Shape 18"/>
          <p:cNvSpPr/>
          <p:nvPr/>
        </p:nvSpPr>
        <p:spPr>
          <a:xfrm>
            <a:off x="777240" y="4251960"/>
            <a:ext cx="640080" cy="640080"/>
          </a:xfrm>
          <a:prstGeom prst="ellipse">
            <a:avLst/>
          </a:prstGeom>
          <a:solidFill>
            <a:srgbClr val="2A3A7C"/>
          </a:solidFill>
          <a:ln/>
        </p:spPr>
      </p:sp>
      <p:pic>
        <p:nvPicPr>
          <p:cNvPr id="24" name="Image 3" descr="preencoded.png">    </p:cNvPr>
          <p:cNvPicPr>
            <a:picLocks noChangeAspect="1"/>
          </p:cNvPicPr>
          <p:nvPr/>
        </p:nvPicPr>
        <p:blipFill>
          <a:blip r:embed="rId4"/>
          <a:stretch>
            <a:fillRect/>
          </a:stretch>
        </p:blipFill>
        <p:spPr>
          <a:xfrm>
            <a:off x="932688" y="4407408"/>
            <a:ext cx="329184" cy="329184"/>
          </a:xfrm>
          <a:prstGeom prst="rect">
            <a:avLst/>
          </a:prstGeom>
        </p:spPr>
      </p:pic>
      <p:sp>
        <p:nvSpPr>
          <p:cNvPr id="25" name="Text 19"/>
          <p:cNvSpPr/>
          <p:nvPr/>
        </p:nvSpPr>
        <p:spPr>
          <a:xfrm>
            <a:off x="1554480" y="4233672"/>
            <a:ext cx="2423160" cy="6400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4. 수정</a:t>
            </a:r>
            <a:endParaRPr lang="en-US" sz="1600" dirty="0"/>
          </a:p>
        </p:txBody>
      </p:sp>
      <p:sp>
        <p:nvSpPr>
          <p:cNvPr id="26" name="Text 20"/>
          <p:cNvSpPr/>
          <p:nvPr/>
        </p:nvSpPr>
        <p:spPr>
          <a:xfrm>
            <a:off x="804672" y="4910328"/>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지적 전건 Fixed/Rejected/Escalated, 재리뷰</a:t>
            </a:r>
            <a:endParaRPr lang="en-US" sz="1150" dirty="0"/>
          </a:p>
        </p:txBody>
      </p:sp>
      <p:sp>
        <p:nvSpPr>
          <p:cNvPr id="27" name="Shape 21"/>
          <p:cNvSpPr/>
          <p:nvPr/>
        </p:nvSpPr>
        <p:spPr>
          <a:xfrm>
            <a:off x="4270248" y="3977640"/>
            <a:ext cx="3520440" cy="1600200"/>
          </a:xfrm>
          <a:prstGeom prst="roundRect">
            <a:avLst>
              <a:gd name="adj" fmla="val 571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28" name="Shape 22"/>
          <p:cNvSpPr/>
          <p:nvPr/>
        </p:nvSpPr>
        <p:spPr>
          <a:xfrm>
            <a:off x="4498848" y="4251960"/>
            <a:ext cx="640080" cy="640080"/>
          </a:xfrm>
          <a:prstGeom prst="ellipse">
            <a:avLst/>
          </a:prstGeom>
          <a:solidFill>
            <a:srgbClr val="02C39A"/>
          </a:solidFill>
          <a:ln/>
        </p:spPr>
      </p:sp>
      <p:pic>
        <p:nvPicPr>
          <p:cNvPr id="29" name="Image 4" descr="preencoded.png">    </p:cNvPr>
          <p:cNvPicPr>
            <a:picLocks noChangeAspect="1"/>
          </p:cNvPicPr>
          <p:nvPr/>
        </p:nvPicPr>
        <p:blipFill>
          <a:blip r:embed="rId5"/>
          <a:stretch>
            <a:fillRect/>
          </a:stretch>
        </p:blipFill>
        <p:spPr>
          <a:xfrm>
            <a:off x="4654296" y="4407408"/>
            <a:ext cx="329184" cy="329184"/>
          </a:xfrm>
          <a:prstGeom prst="rect">
            <a:avLst/>
          </a:prstGeom>
        </p:spPr>
      </p:pic>
      <p:sp>
        <p:nvSpPr>
          <p:cNvPr id="30" name="Text 23"/>
          <p:cNvSpPr/>
          <p:nvPr/>
        </p:nvSpPr>
        <p:spPr>
          <a:xfrm>
            <a:off x="5276088" y="4233672"/>
            <a:ext cx="2423160" cy="6400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5. 회고</a:t>
            </a:r>
            <a:endParaRPr lang="en-US" sz="1600" dirty="0"/>
          </a:p>
        </p:txBody>
      </p:sp>
      <p:sp>
        <p:nvSpPr>
          <p:cNvPr id="31" name="Text 24"/>
          <p:cNvSpPr/>
          <p:nvPr/>
        </p:nvSpPr>
        <p:spPr>
          <a:xfrm>
            <a:off x="4526280" y="4910328"/>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한 일·개선점·Human Check Items 작성</a:t>
            </a:r>
            <a:endParaRPr lang="en-US" sz="1150" dirty="0"/>
          </a:p>
        </p:txBody>
      </p:sp>
      <p:sp>
        <p:nvSpPr>
          <p:cNvPr id="32" name="Shape 25"/>
          <p:cNvSpPr/>
          <p:nvPr/>
        </p:nvSpPr>
        <p:spPr>
          <a:xfrm>
            <a:off x="7991856" y="3977640"/>
            <a:ext cx="3520440" cy="1600200"/>
          </a:xfrm>
          <a:prstGeom prst="roundRect">
            <a:avLst>
              <a:gd name="adj" fmla="val 571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33" name="Shape 26"/>
          <p:cNvSpPr/>
          <p:nvPr/>
        </p:nvSpPr>
        <p:spPr>
          <a:xfrm>
            <a:off x="8220456" y="4251960"/>
            <a:ext cx="640080" cy="640080"/>
          </a:xfrm>
          <a:prstGeom prst="ellipse">
            <a:avLst/>
          </a:prstGeom>
          <a:solidFill>
            <a:srgbClr val="E8A13A"/>
          </a:solidFill>
          <a:ln/>
        </p:spPr>
      </p:sp>
      <p:pic>
        <p:nvPicPr>
          <p:cNvPr id="34" name="Image 5" descr="preencoded.png">    </p:cNvPr>
          <p:cNvPicPr>
            <a:picLocks noChangeAspect="1"/>
          </p:cNvPicPr>
          <p:nvPr/>
        </p:nvPicPr>
        <p:blipFill>
          <a:blip r:embed="rId6"/>
          <a:stretch>
            <a:fillRect/>
          </a:stretch>
        </p:blipFill>
        <p:spPr>
          <a:xfrm>
            <a:off x="8375904" y="4407408"/>
            <a:ext cx="329184" cy="329184"/>
          </a:xfrm>
          <a:prstGeom prst="rect">
            <a:avLst/>
          </a:prstGeom>
        </p:spPr>
      </p:pic>
      <p:sp>
        <p:nvSpPr>
          <p:cNvPr id="35" name="Text 27"/>
          <p:cNvSpPr/>
          <p:nvPr/>
        </p:nvSpPr>
        <p:spPr>
          <a:xfrm>
            <a:off x="8997696" y="4233672"/>
            <a:ext cx="2423160" cy="6400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6. dev 통합</a:t>
            </a:r>
            <a:endParaRPr lang="en-US" sz="1600" dirty="0"/>
          </a:p>
        </p:txBody>
      </p:sp>
      <p:sp>
        <p:nvSpPr>
          <p:cNvPr id="36" name="Text 28"/>
          <p:cNvSpPr/>
          <p:nvPr/>
        </p:nvSpPr>
        <p:spPr>
          <a:xfrm>
            <a:off x="8247888" y="4910328"/>
            <a:ext cx="3108960" cy="594360"/>
          </a:xfrm>
          <a:prstGeom prst="rect">
            <a:avLst/>
          </a:prstGeom>
          <a:noFill/>
          <a:ln/>
        </p:spPr>
        <p:txBody>
          <a:bodyPr wrap="square" lIns="0" tIns="0" rIns="0" bIns="0" rtlCol="0" anchor="ctr"/>
          <a:lstStyle/>
          <a:p>
            <a:pPr indent="0" marL="0">
              <a:lnSpc>
                <a:spcPct val="100000"/>
              </a:lnSpc>
              <a:buNone/>
            </a:pPr>
            <a:r>
              <a:rPr lang="en-US" sz="1150" dirty="0">
                <a:solidFill>
                  <a:srgbClr val="5A6480"/>
                </a:solidFill>
                <a:latin typeface="Calibri" pitchFamily="34" charset="0"/>
                <a:ea typeface="Calibri" pitchFamily="34" charset="-122"/>
                <a:cs typeface="Calibri" pitchFamily="34" charset="-120"/>
              </a:rPr>
              <a:t>검증 통과 후 dev 브랜치 commit &amp; push</a:t>
            </a:r>
            <a:endParaRPr lang="en-US" sz="1150" dirty="0"/>
          </a:p>
        </p:txBody>
      </p:sp>
      <p:sp>
        <p:nvSpPr>
          <p:cNvPr id="37" name="Text 29"/>
          <p:cNvSpPr/>
          <p:nvPr/>
        </p:nvSpPr>
        <p:spPr>
          <a:xfrm>
            <a:off x="548640" y="5852160"/>
            <a:ext cx="10972800" cy="457200"/>
          </a:xfrm>
          <a:prstGeom prst="rect">
            <a:avLst/>
          </a:prstGeom>
          <a:noFill/>
          <a:ln/>
        </p:spPr>
        <p:txBody>
          <a:bodyPr wrap="square" lIns="0" tIns="0" rIns="0" bIns="0" rtlCol="0" anchor="ctr"/>
          <a:lstStyle/>
          <a:p>
            <a:pPr algn="ctr" indent="0" marL="0">
              <a:buNone/>
            </a:pPr>
            <a:r>
              <a:rPr lang="en-US" sz="1250" dirty="0">
                <a:solidFill>
                  <a:srgbClr val="2A3A7C"/>
                </a:solidFill>
                <a:latin typeface="Calibri" pitchFamily="34" charset="0"/>
                <a:ea typeface="Calibri" pitchFamily="34" charset="-122"/>
                <a:cs typeface="Calibri" pitchFamily="34" charset="-120"/>
              </a:rPr>
              <a:t>게이트는 실패 시 0이 아닌 종료 코드로 멈춘다 — 테스트/커버리지, 리뷰·처리 기록, 회고, dev 브랜치까지 스크립트로 점검.</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REVIEW LOOP</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codex 리뷰 → 수정 → 재검증 루프</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Text 4"/>
          <p:cNvSpPr/>
          <p:nvPr/>
        </p:nvSpPr>
        <p:spPr>
          <a:xfrm>
            <a:off x="548640" y="1508760"/>
            <a:ext cx="10972800" cy="457200"/>
          </a:xfrm>
          <a:prstGeom prst="rect">
            <a:avLst/>
          </a:prstGeom>
          <a:noFill/>
          <a:ln/>
        </p:spPr>
        <p:txBody>
          <a:bodyPr wrap="square" lIns="0" tIns="0" rIns="0" bIns="0" rtlCol="0" anchor="ctr"/>
          <a:lstStyle/>
          <a:p>
            <a:pPr indent="0" marL="0">
              <a:buNone/>
            </a:pPr>
            <a:r>
              <a:rPr lang="en-US" sz="1500" i="1" dirty="0">
                <a:solidFill>
                  <a:srgbClr val="1A1F36"/>
                </a:solidFill>
                <a:latin typeface="Calibri" pitchFamily="34" charset="0"/>
                <a:ea typeface="Calibri" pitchFamily="34" charset="-122"/>
                <a:cs typeface="Calibri" pitchFamily="34" charset="-120"/>
              </a:rPr>
              <a:t>"모두 수정했다"는 자기신고로는 검증되지 않는다 — 감사 추적을 남긴다.</a:t>
            </a:r>
            <a:endParaRPr lang="en-US" sz="1500" dirty="0"/>
          </a:p>
        </p:txBody>
      </p:sp>
      <p:sp>
        <p:nvSpPr>
          <p:cNvPr id="7" name="Shape 5"/>
          <p:cNvSpPr/>
          <p:nvPr/>
        </p:nvSpPr>
        <p:spPr>
          <a:xfrm>
            <a:off x="548640" y="2148840"/>
            <a:ext cx="6766560" cy="1143000"/>
          </a:xfrm>
          <a:prstGeom prst="roundRect">
            <a:avLst>
              <a:gd name="adj" fmla="val 8000"/>
            </a:avLst>
          </a:prstGeom>
          <a:solidFill>
            <a:srgbClr val="EEF3FC"/>
          </a:solidFill>
          <a:ln/>
          <a:effectLst>
            <a:outerShdw sx="100000" sy="100000" kx="0" ky="0" algn="bl" rotWithShape="0" blurRad="114300" dist="38100" dir="5400000">
              <a:srgbClr val="1A1F36">
                <a:alpha val="16000"/>
              </a:srgbClr>
            </a:outerShdw>
          </a:effectLst>
        </p:spPr>
      </p:sp>
      <p:sp>
        <p:nvSpPr>
          <p:cNvPr id="8" name="Shape 6"/>
          <p:cNvSpPr/>
          <p:nvPr/>
        </p:nvSpPr>
        <p:spPr>
          <a:xfrm>
            <a:off x="777240" y="2441448"/>
            <a:ext cx="566928" cy="566928"/>
          </a:xfrm>
          <a:prstGeom prst="ellipse">
            <a:avLst/>
          </a:prstGeom>
          <a:solidFill>
            <a:srgbClr val="2A3A7C"/>
          </a:solidFill>
          <a:ln/>
        </p:spPr>
      </p:sp>
      <p:pic>
        <p:nvPicPr>
          <p:cNvPr id="9" name="Image 0" descr="preencoded.png">    </p:cNvPr>
          <p:cNvPicPr>
            <a:picLocks noChangeAspect="1"/>
          </p:cNvPicPr>
          <p:nvPr/>
        </p:nvPicPr>
        <p:blipFill>
          <a:blip r:embed="rId1"/>
          <a:stretch>
            <a:fillRect/>
          </a:stretch>
        </p:blipFill>
        <p:spPr>
          <a:xfrm>
            <a:off x="914400" y="2578608"/>
            <a:ext cx="292608" cy="292608"/>
          </a:xfrm>
          <a:prstGeom prst="rect">
            <a:avLst/>
          </a:prstGeom>
        </p:spPr>
      </p:pic>
      <p:sp>
        <p:nvSpPr>
          <p:cNvPr id="10" name="Text 7"/>
          <p:cNvSpPr/>
          <p:nvPr/>
        </p:nvSpPr>
        <p:spPr>
          <a:xfrm>
            <a:off x="1508760" y="2286000"/>
            <a:ext cx="557784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리뷰 실행</a:t>
            </a:r>
            <a:endParaRPr lang="en-US" sz="1600" dirty="0"/>
          </a:p>
        </p:txBody>
      </p:sp>
      <p:sp>
        <p:nvSpPr>
          <p:cNvPr id="11" name="Text 8"/>
          <p:cNvSpPr/>
          <p:nvPr/>
        </p:nvSpPr>
        <p:spPr>
          <a:xfrm>
            <a:off x="1508760" y="2715768"/>
            <a:ext cx="5669280" cy="502920"/>
          </a:xfrm>
          <a:prstGeom prst="rect">
            <a:avLst/>
          </a:prstGeom>
          <a:noFill/>
          <a:ln/>
        </p:spPr>
        <p:txBody>
          <a:bodyPr wrap="square" lIns="0" tIns="0" rIns="0" bIns="0" rtlCol="0" anchor="ctr"/>
          <a:lstStyle/>
          <a:p>
            <a:pPr indent="0" marL="0">
              <a:buNone/>
            </a:pPr>
            <a:r>
              <a:rPr lang="en-US" sz="1250" dirty="0">
                <a:solidFill>
                  <a:srgbClr val="5A6480"/>
                </a:solidFill>
                <a:latin typeface="Calibri" pitchFamily="34" charset="0"/>
                <a:ea typeface="Calibri" pitchFamily="34" charset="-122"/>
                <a:cs typeface="Calibri" pitchFamily="34" charset="-120"/>
              </a:rPr>
              <a:t>phase-N-codex-review.md 에 ID·severity·파일/라인·요약 기록</a:t>
            </a:r>
            <a:endParaRPr lang="en-US" sz="1250" dirty="0"/>
          </a:p>
        </p:txBody>
      </p:sp>
      <p:sp>
        <p:nvSpPr>
          <p:cNvPr id="12" name="Shape 9"/>
          <p:cNvSpPr/>
          <p:nvPr/>
        </p:nvSpPr>
        <p:spPr>
          <a:xfrm>
            <a:off x="548640" y="3429000"/>
            <a:ext cx="6766560" cy="1143000"/>
          </a:xfrm>
          <a:prstGeom prst="roundRect">
            <a:avLst>
              <a:gd name="adj" fmla="val 8000"/>
            </a:avLst>
          </a:prstGeom>
          <a:solidFill>
            <a:srgbClr val="EEF3FC"/>
          </a:solidFill>
          <a:ln/>
          <a:effectLst>
            <a:outerShdw sx="100000" sy="100000" kx="0" ky="0" algn="bl" rotWithShape="0" blurRad="114300" dist="38100" dir="5400000">
              <a:srgbClr val="1A1F36">
                <a:alpha val="16000"/>
              </a:srgbClr>
            </a:outerShdw>
          </a:effectLst>
        </p:spPr>
      </p:sp>
      <p:sp>
        <p:nvSpPr>
          <p:cNvPr id="13" name="Shape 10"/>
          <p:cNvSpPr/>
          <p:nvPr/>
        </p:nvSpPr>
        <p:spPr>
          <a:xfrm>
            <a:off x="777240" y="3721608"/>
            <a:ext cx="566928" cy="566928"/>
          </a:xfrm>
          <a:prstGeom prst="ellipse">
            <a:avLst/>
          </a:prstGeom>
          <a:solidFill>
            <a:srgbClr val="02C39A"/>
          </a:solidFill>
          <a:ln/>
        </p:spPr>
      </p:sp>
      <p:pic>
        <p:nvPicPr>
          <p:cNvPr id="14" name="Image 1" descr="preencoded.png">    </p:cNvPr>
          <p:cNvPicPr>
            <a:picLocks noChangeAspect="1"/>
          </p:cNvPicPr>
          <p:nvPr/>
        </p:nvPicPr>
        <p:blipFill>
          <a:blip r:embed="rId2"/>
          <a:stretch>
            <a:fillRect/>
          </a:stretch>
        </p:blipFill>
        <p:spPr>
          <a:xfrm>
            <a:off x="914400" y="3858768"/>
            <a:ext cx="292608" cy="292608"/>
          </a:xfrm>
          <a:prstGeom prst="rect">
            <a:avLst/>
          </a:prstGeom>
        </p:spPr>
      </p:pic>
      <p:sp>
        <p:nvSpPr>
          <p:cNvPr id="15" name="Text 11"/>
          <p:cNvSpPr/>
          <p:nvPr/>
        </p:nvSpPr>
        <p:spPr>
          <a:xfrm>
            <a:off x="1508760" y="3566160"/>
            <a:ext cx="557784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처리 기록</a:t>
            </a:r>
            <a:endParaRPr lang="en-US" sz="1600" dirty="0"/>
          </a:p>
        </p:txBody>
      </p:sp>
      <p:sp>
        <p:nvSpPr>
          <p:cNvPr id="16" name="Text 12"/>
          <p:cNvSpPr/>
          <p:nvPr/>
        </p:nvSpPr>
        <p:spPr>
          <a:xfrm>
            <a:off x="1508760" y="3995928"/>
            <a:ext cx="5669280" cy="502920"/>
          </a:xfrm>
          <a:prstGeom prst="rect">
            <a:avLst/>
          </a:prstGeom>
          <a:noFill/>
          <a:ln/>
        </p:spPr>
        <p:txBody>
          <a:bodyPr wrap="square" lIns="0" tIns="0" rIns="0" bIns="0" rtlCol="0" anchor="ctr"/>
          <a:lstStyle/>
          <a:p>
            <a:pPr indent="0" marL="0">
              <a:buNone/>
            </a:pPr>
            <a:r>
              <a:rPr lang="en-US" sz="1250" dirty="0">
                <a:solidFill>
                  <a:srgbClr val="5A6480"/>
                </a:solidFill>
                <a:latin typeface="Calibri" pitchFamily="34" charset="0"/>
                <a:ea typeface="Calibri" pitchFamily="34" charset="-122"/>
                <a:cs typeface="Calibri" pitchFamily="34" charset="-120"/>
              </a:rPr>
              <a:t>phase-N-codex-resolution.md 에 Fixed/Rejected/Escalated</a:t>
            </a:r>
            <a:endParaRPr lang="en-US" sz="1250" dirty="0"/>
          </a:p>
        </p:txBody>
      </p:sp>
      <p:sp>
        <p:nvSpPr>
          <p:cNvPr id="17" name="Shape 13"/>
          <p:cNvSpPr/>
          <p:nvPr/>
        </p:nvSpPr>
        <p:spPr>
          <a:xfrm>
            <a:off x="548640" y="4709160"/>
            <a:ext cx="6766560" cy="1143000"/>
          </a:xfrm>
          <a:prstGeom prst="roundRect">
            <a:avLst>
              <a:gd name="adj" fmla="val 8000"/>
            </a:avLst>
          </a:prstGeom>
          <a:solidFill>
            <a:srgbClr val="EEF3FC"/>
          </a:solidFill>
          <a:ln/>
          <a:effectLst>
            <a:outerShdw sx="100000" sy="100000" kx="0" ky="0" algn="bl" rotWithShape="0" blurRad="114300" dist="38100" dir="5400000">
              <a:srgbClr val="1A1F36">
                <a:alpha val="16000"/>
              </a:srgbClr>
            </a:outerShdw>
          </a:effectLst>
        </p:spPr>
      </p:sp>
      <p:sp>
        <p:nvSpPr>
          <p:cNvPr id="18" name="Shape 14"/>
          <p:cNvSpPr/>
          <p:nvPr/>
        </p:nvSpPr>
        <p:spPr>
          <a:xfrm>
            <a:off x="777240" y="5001768"/>
            <a:ext cx="566928" cy="566928"/>
          </a:xfrm>
          <a:prstGeom prst="ellipse">
            <a:avLst/>
          </a:prstGeom>
          <a:solidFill>
            <a:srgbClr val="E8A13A"/>
          </a:solidFill>
          <a:ln/>
        </p:spPr>
      </p:sp>
      <p:pic>
        <p:nvPicPr>
          <p:cNvPr id="19" name="Image 2" descr="preencoded.png">    </p:cNvPr>
          <p:cNvPicPr>
            <a:picLocks noChangeAspect="1"/>
          </p:cNvPicPr>
          <p:nvPr/>
        </p:nvPicPr>
        <p:blipFill>
          <a:blip r:embed="rId3"/>
          <a:stretch>
            <a:fillRect/>
          </a:stretch>
        </p:blipFill>
        <p:spPr>
          <a:xfrm>
            <a:off x="914400" y="5138928"/>
            <a:ext cx="292608" cy="292608"/>
          </a:xfrm>
          <a:prstGeom prst="rect">
            <a:avLst/>
          </a:prstGeom>
        </p:spPr>
      </p:pic>
      <p:sp>
        <p:nvSpPr>
          <p:cNvPr id="20" name="Text 15"/>
          <p:cNvSpPr/>
          <p:nvPr/>
        </p:nvSpPr>
        <p:spPr>
          <a:xfrm>
            <a:off x="1508760" y="4846320"/>
            <a:ext cx="557784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재검증</a:t>
            </a:r>
            <a:endParaRPr lang="en-US" sz="1600" dirty="0"/>
          </a:p>
        </p:txBody>
      </p:sp>
      <p:sp>
        <p:nvSpPr>
          <p:cNvPr id="21" name="Text 16"/>
          <p:cNvSpPr/>
          <p:nvPr/>
        </p:nvSpPr>
        <p:spPr>
          <a:xfrm>
            <a:off x="1508760" y="5276088"/>
            <a:ext cx="5669280" cy="502920"/>
          </a:xfrm>
          <a:prstGeom prst="rect">
            <a:avLst/>
          </a:prstGeom>
          <a:noFill/>
          <a:ln/>
        </p:spPr>
        <p:txBody>
          <a:bodyPr wrap="square" lIns="0" tIns="0" rIns="0" bIns="0" rtlCol="0" anchor="ctr"/>
          <a:lstStyle/>
          <a:p>
            <a:pPr indent="0" marL="0">
              <a:buNone/>
            </a:pPr>
            <a:r>
              <a:rPr lang="en-US" sz="1250" dirty="0">
                <a:solidFill>
                  <a:srgbClr val="5A6480"/>
                </a:solidFill>
                <a:latin typeface="Calibri" pitchFamily="34" charset="0"/>
                <a:ea typeface="Calibri" pitchFamily="34" charset="-122"/>
                <a:cs typeface="Calibri" pitchFamily="34" charset="-120"/>
              </a:rPr>
              <a:t>codex 재실행 → 미해결 blocking이 0임을 출력 증거로 첨부</a:t>
            </a:r>
            <a:endParaRPr lang="en-US" sz="1250" dirty="0"/>
          </a:p>
        </p:txBody>
      </p:sp>
      <p:sp>
        <p:nvSpPr>
          <p:cNvPr id="22" name="Shape 17"/>
          <p:cNvSpPr/>
          <p:nvPr/>
        </p:nvSpPr>
        <p:spPr>
          <a:xfrm>
            <a:off x="7589520" y="2148840"/>
            <a:ext cx="4023360" cy="3611880"/>
          </a:xfrm>
          <a:prstGeom prst="roundRect">
            <a:avLst>
              <a:gd name="adj" fmla="val 3038"/>
            </a:avLst>
          </a:prstGeom>
          <a:solidFill>
            <a:srgbClr val="1E2761"/>
          </a:solidFill>
          <a:ln/>
          <a:effectLst>
            <a:outerShdw sx="100000" sy="100000" kx="0" ky="0" algn="bl" rotWithShape="0" blurRad="114300" dist="38100" dir="5400000">
              <a:srgbClr val="1A1F36">
                <a:alpha val="16000"/>
              </a:srgbClr>
            </a:outerShdw>
          </a:effectLst>
        </p:spPr>
      </p:sp>
      <p:pic>
        <p:nvPicPr>
          <p:cNvPr id="23" name="Image 3" descr="preencoded.png">    </p:cNvPr>
          <p:cNvPicPr>
            <a:picLocks noChangeAspect="1"/>
          </p:cNvPicPr>
          <p:nvPr/>
        </p:nvPicPr>
        <p:blipFill>
          <a:blip r:embed="rId4"/>
          <a:stretch>
            <a:fillRect/>
          </a:stretch>
        </p:blipFill>
        <p:spPr>
          <a:xfrm>
            <a:off x="7863840" y="2377440"/>
            <a:ext cx="502920" cy="502920"/>
          </a:xfrm>
          <a:prstGeom prst="rect">
            <a:avLst/>
          </a:prstGeom>
        </p:spPr>
      </p:pic>
      <p:sp>
        <p:nvSpPr>
          <p:cNvPr id="24" name="Text 18"/>
          <p:cNvSpPr/>
          <p:nvPr/>
        </p:nvSpPr>
        <p:spPr>
          <a:xfrm>
            <a:off x="8503920" y="2377440"/>
            <a:ext cx="292608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종료 조건</a:t>
            </a:r>
            <a:endParaRPr lang="en-US" sz="1800" dirty="0"/>
          </a:p>
        </p:txBody>
      </p:sp>
      <p:sp>
        <p:nvSpPr>
          <p:cNvPr id="25" name="Text 19"/>
          <p:cNvSpPr/>
          <p:nvPr/>
        </p:nvSpPr>
        <p:spPr>
          <a:xfrm>
            <a:off x="7863840" y="3063240"/>
            <a:ext cx="3520440" cy="2560320"/>
          </a:xfrm>
          <a:prstGeom prst="rect">
            <a:avLst/>
          </a:prstGeom>
          <a:noFill/>
          <a:ln/>
        </p:spPr>
        <p:txBody>
          <a:bodyPr wrap="square" lIns="0" tIns="0" rIns="0" bIns="0" rtlCol="0" anchor="ctr"/>
          <a:lstStyle/>
          <a:p>
            <a:pPr marL="342900" indent="-342900">
              <a:lnSpc>
                <a:spcPct val="1120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Rejected/Escalated 항목은 인간 승인자 판정 전까지 Phase 종료 불가</a:t>
            </a:r>
            <a:endParaRPr lang="en-US" sz="1300" dirty="0"/>
          </a:p>
          <a:p>
            <a:pPr marL="342900" indent="-342900">
              <a:lnSpc>
                <a:spcPct val="1120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미해결 지적이 하나라도 남으면 Phase는 끝나지 않는다</a:t>
            </a:r>
            <a:endParaRPr lang="en-US" sz="1300" dirty="0"/>
          </a:p>
          <a:p>
            <a:pPr marL="342900" indent="-342900">
              <a:lnSpc>
                <a:spcPct val="112000"/>
              </a:lnSpc>
              <a:buSzPct val="100000"/>
              <a:buChar char="•"/>
            </a:pPr>
            <a:r>
              <a:rPr lang="en-US" sz="1300" dirty="0">
                <a:solidFill>
                  <a:srgbClr val="CADCFC"/>
                </a:solidFill>
                <a:latin typeface="Calibri" pitchFamily="34" charset="0"/>
                <a:ea typeface="Calibri" pitchFamily="34" charset="-122"/>
                <a:cs typeface="Calibri" pitchFamily="34" charset="-120"/>
              </a:rPr>
              <a:t>Fixed는 대응 커밋·파일·테스트 증거를 반드시 연결</a:t>
            </a:r>
            <a:endParaRPr lang="en-US" sz="1300" dirty="0"/>
          </a:p>
        </p:txBody>
      </p:sp>
      <p:sp>
        <p:nvSpPr>
          <p:cNvPr id="26" name="Text 20"/>
          <p:cNvSpPr/>
          <p:nvPr/>
        </p:nvSpPr>
        <p:spPr>
          <a:xfrm>
            <a:off x="548640" y="5897880"/>
            <a:ext cx="10972800" cy="411480"/>
          </a:xfrm>
          <a:prstGeom prst="rect">
            <a:avLst/>
          </a:prstGeom>
          <a:noFill/>
          <a:ln/>
        </p:spPr>
        <p:txBody>
          <a:bodyPr wrap="square" lIns="0" tIns="0" rIns="0" bIns="0" rtlCol="0" anchor="ctr"/>
          <a:lstStyle/>
          <a:p>
            <a:pPr algn="ctr" indent="0" marL="0">
              <a:buNone/>
            </a:pPr>
            <a:r>
              <a:rPr lang="en-US" sz="1250" i="1" dirty="0">
                <a:solidFill>
                  <a:srgbClr val="2A3A7C"/>
                </a:solidFill>
                <a:latin typeface="Calibri" pitchFamily="34" charset="0"/>
                <a:ea typeface="Calibri" pitchFamily="34" charset="-122"/>
                <a:cs typeface="Calibri" pitchFamily="34" charset="-120"/>
              </a:rPr>
              <a:t>리뷰는 Implementor와 독립된 모델(gpt-5.x-codex)이 수행 — 만든 사람이 자기 코드를 통과시키지 못한다.</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REAL CASE</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실제 사례 — Phase 4 (첨부파일)에서 일어난 일</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Shape 4"/>
          <p:cNvSpPr/>
          <p:nvPr/>
        </p:nvSpPr>
        <p:spPr>
          <a:xfrm>
            <a:off x="548640" y="1783080"/>
            <a:ext cx="2606040" cy="1600200"/>
          </a:xfrm>
          <a:prstGeom prst="roundRect">
            <a:avLst>
              <a:gd name="adj" fmla="val 571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7" name="Text 5"/>
          <p:cNvSpPr/>
          <p:nvPr/>
        </p:nvSpPr>
        <p:spPr>
          <a:xfrm>
            <a:off x="548640" y="1920240"/>
            <a:ext cx="2606040" cy="868680"/>
          </a:xfrm>
          <a:prstGeom prst="rect">
            <a:avLst/>
          </a:prstGeom>
          <a:noFill/>
          <a:ln/>
        </p:spPr>
        <p:txBody>
          <a:bodyPr wrap="square" lIns="0" tIns="0" rIns="0" bIns="0" rtlCol="0" anchor="ctr"/>
          <a:lstStyle/>
          <a:p>
            <a:pPr algn="ctr" indent="0" marL="0">
              <a:buNone/>
            </a:pPr>
            <a:r>
              <a:rPr lang="en-US" sz="3600" b="1" dirty="0">
                <a:solidFill>
                  <a:srgbClr val="02C39A"/>
                </a:solidFill>
                <a:latin typeface="Cambria" pitchFamily="34" charset="0"/>
                <a:ea typeface="Cambria" pitchFamily="34" charset="-122"/>
                <a:cs typeface="Cambria" pitchFamily="34" charset="-120"/>
              </a:rPr>
              <a:t>96</a:t>
            </a:r>
            <a:endParaRPr lang="en-US" sz="3600" dirty="0"/>
          </a:p>
        </p:txBody>
      </p:sp>
      <p:sp>
        <p:nvSpPr>
          <p:cNvPr id="8" name="Text 6"/>
          <p:cNvSpPr/>
          <p:nvPr/>
        </p:nvSpPr>
        <p:spPr>
          <a:xfrm>
            <a:off x="548640" y="2834640"/>
            <a:ext cx="2606040" cy="411480"/>
          </a:xfrm>
          <a:prstGeom prst="rect">
            <a:avLst/>
          </a:prstGeom>
          <a:noFill/>
          <a:ln/>
        </p:spPr>
        <p:txBody>
          <a:bodyPr wrap="square" lIns="0" tIns="0" rIns="0" bIns="0" rtlCol="0" anchor="ctr"/>
          <a:lstStyle/>
          <a:p>
            <a:pPr algn="ctr" indent="0" marL="0">
              <a:buNone/>
            </a:pPr>
            <a:r>
              <a:rPr lang="en-US" sz="1250" b="1" dirty="0">
                <a:solidFill>
                  <a:srgbClr val="5A6480"/>
                </a:solidFill>
                <a:latin typeface="Calibri" pitchFamily="34" charset="0"/>
                <a:ea typeface="Calibri" pitchFamily="34" charset="-122"/>
                <a:cs typeface="Calibri" pitchFamily="34" charset="-120"/>
              </a:rPr>
              <a:t>테스트 통과</a:t>
            </a:r>
            <a:endParaRPr lang="en-US" sz="1250" dirty="0"/>
          </a:p>
        </p:txBody>
      </p:sp>
      <p:sp>
        <p:nvSpPr>
          <p:cNvPr id="9" name="Shape 7"/>
          <p:cNvSpPr/>
          <p:nvPr/>
        </p:nvSpPr>
        <p:spPr>
          <a:xfrm>
            <a:off x="3337560" y="1783080"/>
            <a:ext cx="2606040" cy="1600200"/>
          </a:xfrm>
          <a:prstGeom prst="roundRect">
            <a:avLst>
              <a:gd name="adj" fmla="val 571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0" name="Text 8"/>
          <p:cNvSpPr/>
          <p:nvPr/>
        </p:nvSpPr>
        <p:spPr>
          <a:xfrm>
            <a:off x="3337560" y="1920240"/>
            <a:ext cx="2606040" cy="868680"/>
          </a:xfrm>
          <a:prstGeom prst="rect">
            <a:avLst/>
          </a:prstGeom>
          <a:noFill/>
          <a:ln/>
        </p:spPr>
        <p:txBody>
          <a:bodyPr wrap="square" lIns="0" tIns="0" rIns="0" bIns="0" rtlCol="0" anchor="ctr"/>
          <a:lstStyle/>
          <a:p>
            <a:pPr algn="ctr" indent="0" marL="0">
              <a:buNone/>
            </a:pPr>
            <a:r>
              <a:rPr lang="en-US" sz="3600" b="1" dirty="0">
                <a:solidFill>
                  <a:srgbClr val="2A3A7C"/>
                </a:solidFill>
                <a:latin typeface="Cambria" pitchFamily="34" charset="0"/>
                <a:ea typeface="Cambria" pitchFamily="34" charset="-122"/>
                <a:cs typeface="Cambria" pitchFamily="34" charset="-120"/>
              </a:rPr>
              <a:t>92.84%</a:t>
            </a:r>
            <a:endParaRPr lang="en-US" sz="3600" dirty="0"/>
          </a:p>
        </p:txBody>
      </p:sp>
      <p:sp>
        <p:nvSpPr>
          <p:cNvPr id="11" name="Text 9"/>
          <p:cNvSpPr/>
          <p:nvPr/>
        </p:nvSpPr>
        <p:spPr>
          <a:xfrm>
            <a:off x="3337560" y="2834640"/>
            <a:ext cx="2606040" cy="411480"/>
          </a:xfrm>
          <a:prstGeom prst="rect">
            <a:avLst/>
          </a:prstGeom>
          <a:noFill/>
          <a:ln/>
        </p:spPr>
        <p:txBody>
          <a:bodyPr wrap="square" lIns="0" tIns="0" rIns="0" bIns="0" rtlCol="0" anchor="ctr"/>
          <a:lstStyle/>
          <a:p>
            <a:pPr algn="ctr" indent="0" marL="0">
              <a:buNone/>
            </a:pPr>
            <a:r>
              <a:rPr lang="en-US" sz="1250" b="1" dirty="0">
                <a:solidFill>
                  <a:srgbClr val="5A6480"/>
                </a:solidFill>
                <a:latin typeface="Calibri" pitchFamily="34" charset="0"/>
                <a:ea typeface="Calibri" pitchFamily="34" charset="-122"/>
                <a:cs typeface="Calibri" pitchFamily="34" charset="-120"/>
              </a:rPr>
              <a:t>커버리지 (≥80)</a:t>
            </a:r>
            <a:endParaRPr lang="en-US" sz="1250" dirty="0"/>
          </a:p>
        </p:txBody>
      </p:sp>
      <p:sp>
        <p:nvSpPr>
          <p:cNvPr id="12" name="Shape 10"/>
          <p:cNvSpPr/>
          <p:nvPr/>
        </p:nvSpPr>
        <p:spPr>
          <a:xfrm>
            <a:off x="6126480" y="1783080"/>
            <a:ext cx="2606040" cy="1600200"/>
          </a:xfrm>
          <a:prstGeom prst="roundRect">
            <a:avLst>
              <a:gd name="adj" fmla="val 571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3" name="Text 11"/>
          <p:cNvSpPr/>
          <p:nvPr/>
        </p:nvSpPr>
        <p:spPr>
          <a:xfrm>
            <a:off x="6126480" y="1920240"/>
            <a:ext cx="2606040" cy="868680"/>
          </a:xfrm>
          <a:prstGeom prst="rect">
            <a:avLst/>
          </a:prstGeom>
          <a:noFill/>
          <a:ln/>
        </p:spPr>
        <p:txBody>
          <a:bodyPr wrap="square" lIns="0" tIns="0" rIns="0" bIns="0" rtlCol="0" anchor="ctr"/>
          <a:lstStyle/>
          <a:p>
            <a:pPr algn="ctr" indent="0" marL="0">
              <a:buNone/>
            </a:pPr>
            <a:r>
              <a:rPr lang="en-US" sz="3600" b="1" dirty="0">
                <a:solidFill>
                  <a:srgbClr val="E8A13A"/>
                </a:solidFill>
                <a:latin typeface="Cambria" pitchFamily="34" charset="0"/>
                <a:ea typeface="Cambria" pitchFamily="34" charset="-122"/>
                <a:cs typeface="Cambria" pitchFamily="34" charset="-120"/>
              </a:rPr>
              <a:t>6</a:t>
            </a:r>
            <a:endParaRPr lang="en-US" sz="3600" dirty="0"/>
          </a:p>
        </p:txBody>
      </p:sp>
      <p:sp>
        <p:nvSpPr>
          <p:cNvPr id="14" name="Text 12"/>
          <p:cNvSpPr/>
          <p:nvPr/>
        </p:nvSpPr>
        <p:spPr>
          <a:xfrm>
            <a:off x="6126480" y="2834640"/>
            <a:ext cx="2606040" cy="411480"/>
          </a:xfrm>
          <a:prstGeom prst="rect">
            <a:avLst/>
          </a:prstGeom>
          <a:noFill/>
          <a:ln/>
        </p:spPr>
        <p:txBody>
          <a:bodyPr wrap="square" lIns="0" tIns="0" rIns="0" bIns="0" rtlCol="0" anchor="ctr"/>
          <a:lstStyle/>
          <a:p>
            <a:pPr algn="ctr" indent="0" marL="0">
              <a:buNone/>
            </a:pPr>
            <a:r>
              <a:rPr lang="en-US" sz="1250" b="1" dirty="0">
                <a:solidFill>
                  <a:srgbClr val="5A6480"/>
                </a:solidFill>
                <a:latin typeface="Calibri" pitchFamily="34" charset="0"/>
                <a:ea typeface="Calibri" pitchFamily="34" charset="-122"/>
                <a:cs typeface="Calibri" pitchFamily="34" charset="-120"/>
              </a:rPr>
              <a:t>codex 지적</a:t>
            </a:r>
            <a:endParaRPr lang="en-US" sz="1250" dirty="0"/>
          </a:p>
        </p:txBody>
      </p:sp>
      <p:sp>
        <p:nvSpPr>
          <p:cNvPr id="15" name="Shape 13"/>
          <p:cNvSpPr/>
          <p:nvPr/>
        </p:nvSpPr>
        <p:spPr>
          <a:xfrm>
            <a:off x="8915400" y="1783080"/>
            <a:ext cx="2606040" cy="1600200"/>
          </a:xfrm>
          <a:prstGeom prst="roundRect">
            <a:avLst>
              <a:gd name="adj" fmla="val 5714"/>
            </a:avLst>
          </a:prstGeom>
          <a:solidFill>
            <a:srgbClr val="FFFFFF"/>
          </a:solidFill>
          <a:ln w="12700">
            <a:solidFill>
              <a:srgbClr val="E3E7F2"/>
            </a:solidFill>
            <a:prstDash val="solid"/>
          </a:ln>
          <a:effectLst>
            <a:outerShdw sx="100000" sy="100000" kx="0" ky="0" algn="bl" rotWithShape="0" blurRad="114300" dist="38100" dir="5400000">
              <a:srgbClr val="1A1F36">
                <a:alpha val="16000"/>
              </a:srgbClr>
            </a:outerShdw>
          </a:effectLst>
        </p:spPr>
      </p:sp>
      <p:sp>
        <p:nvSpPr>
          <p:cNvPr id="16" name="Text 14"/>
          <p:cNvSpPr/>
          <p:nvPr/>
        </p:nvSpPr>
        <p:spPr>
          <a:xfrm>
            <a:off x="8915400" y="1920240"/>
            <a:ext cx="2606040" cy="868680"/>
          </a:xfrm>
          <a:prstGeom prst="rect">
            <a:avLst/>
          </a:prstGeom>
          <a:noFill/>
          <a:ln/>
        </p:spPr>
        <p:txBody>
          <a:bodyPr wrap="square" lIns="0" tIns="0" rIns="0" bIns="0" rtlCol="0" anchor="ctr"/>
          <a:lstStyle/>
          <a:p>
            <a:pPr algn="ctr" indent="0" marL="0">
              <a:buNone/>
            </a:pPr>
            <a:r>
              <a:rPr lang="en-US" sz="3600" b="1" dirty="0">
                <a:solidFill>
                  <a:srgbClr val="E0586B"/>
                </a:solidFill>
                <a:latin typeface="Cambria" pitchFamily="34" charset="0"/>
                <a:ea typeface="Cambria" pitchFamily="34" charset="-122"/>
                <a:cs typeface="Cambria" pitchFamily="34" charset="-120"/>
              </a:rPr>
              <a:t>0</a:t>
            </a:r>
            <a:endParaRPr lang="en-US" sz="3600" dirty="0"/>
          </a:p>
        </p:txBody>
      </p:sp>
      <p:sp>
        <p:nvSpPr>
          <p:cNvPr id="17" name="Text 15"/>
          <p:cNvSpPr/>
          <p:nvPr/>
        </p:nvSpPr>
        <p:spPr>
          <a:xfrm>
            <a:off x="8915400" y="2834640"/>
            <a:ext cx="2606040" cy="411480"/>
          </a:xfrm>
          <a:prstGeom prst="rect">
            <a:avLst/>
          </a:prstGeom>
          <a:noFill/>
          <a:ln/>
        </p:spPr>
        <p:txBody>
          <a:bodyPr wrap="square" lIns="0" tIns="0" rIns="0" bIns="0" rtlCol="0" anchor="ctr"/>
          <a:lstStyle/>
          <a:p>
            <a:pPr algn="ctr" indent="0" marL="0">
              <a:buNone/>
            </a:pPr>
            <a:r>
              <a:rPr lang="en-US" sz="1250" b="1" dirty="0">
                <a:solidFill>
                  <a:srgbClr val="5A6480"/>
                </a:solidFill>
                <a:latin typeface="Calibri" pitchFamily="34" charset="0"/>
                <a:ea typeface="Calibri" pitchFamily="34" charset="-122"/>
                <a:cs typeface="Calibri" pitchFamily="34" charset="-120"/>
              </a:rPr>
              <a:t>미해결 blocking</a:t>
            </a:r>
            <a:endParaRPr lang="en-US" sz="1250" dirty="0"/>
          </a:p>
        </p:txBody>
      </p:sp>
      <p:sp>
        <p:nvSpPr>
          <p:cNvPr id="18" name="Shape 16"/>
          <p:cNvSpPr/>
          <p:nvPr/>
        </p:nvSpPr>
        <p:spPr>
          <a:xfrm>
            <a:off x="548640" y="3611880"/>
            <a:ext cx="11064240" cy="2240280"/>
          </a:xfrm>
          <a:prstGeom prst="roundRect">
            <a:avLst>
              <a:gd name="adj" fmla="val 4082"/>
            </a:avLst>
          </a:prstGeom>
          <a:solidFill>
            <a:srgbClr val="EEF3FC"/>
          </a:solidFill>
          <a:ln/>
          <a:effectLst>
            <a:outerShdw sx="100000" sy="100000" kx="0" ky="0" algn="bl" rotWithShape="0" blurRad="114300" dist="38100" dir="5400000">
              <a:srgbClr val="1A1F36">
                <a:alpha val="16000"/>
              </a:srgbClr>
            </a:outerShdw>
          </a:effectLst>
        </p:spPr>
      </p:sp>
      <p:sp>
        <p:nvSpPr>
          <p:cNvPr id="19" name="Text 17"/>
          <p:cNvSpPr/>
          <p:nvPr/>
        </p:nvSpPr>
        <p:spPr>
          <a:xfrm>
            <a:off x="822960" y="3794760"/>
            <a:ext cx="10515600" cy="4114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codex가 실제로 잡아낸 결함 (자기검토였다면 통과했을 것들)</a:t>
            </a:r>
            <a:endParaRPr lang="en-US" sz="1600" dirty="0"/>
          </a:p>
        </p:txBody>
      </p:sp>
      <p:sp>
        <p:nvSpPr>
          <p:cNvPr id="20" name="Text 18"/>
          <p:cNvSpPr/>
          <p:nvPr/>
        </p:nvSpPr>
        <p:spPr>
          <a:xfrm>
            <a:off x="822960" y="4251960"/>
            <a:ext cx="10607040" cy="1508760"/>
          </a:xfrm>
          <a:prstGeom prst="rect">
            <a:avLst/>
          </a:prstGeom>
          <a:noFill/>
          <a:ln/>
        </p:spPr>
        <p:txBody>
          <a:bodyPr wrap="square" lIns="0" tIns="0" rIns="0" bIns="0" rtlCol="0" anchor="ctr"/>
          <a:lstStyle/>
          <a:p>
            <a:pPr indent="0" marL="0">
              <a:lnSpc>
                <a:spcPct val="125000"/>
              </a:lnSpc>
              <a:buNone/>
            </a:pPr>
            <a:r>
              <a:rPr lang="en-US" sz="1300" b="1" dirty="0">
                <a:solidFill>
                  <a:srgbClr val="E0586B"/>
                </a:solidFill>
                <a:latin typeface="Calibri" pitchFamily="34" charset="0"/>
                <a:ea typeface="Calibri" pitchFamily="34" charset="-122"/>
                <a:cs typeface="Calibri" pitchFamily="34" charset="-120"/>
              </a:rPr>
              <a:t>RV4-002 (high)  </a:t>
            </a:r>
            <a:pPr indent="0" marL="0">
              <a:lnSpc>
                <a:spcPct val="125000"/>
              </a:lnSpc>
              <a:buNone/>
            </a:pPr>
            <a:r>
              <a:rPr lang="en-US" sz="1300" dirty="0">
                <a:solidFill>
                  <a:srgbClr val="1A1F36"/>
                </a:solidFill>
                <a:latin typeface="Calibri" pitchFamily="34" charset="0"/>
                <a:ea typeface="Calibri" pitchFamily="34" charset="-122"/>
                <a:cs typeface="Calibri" pitchFamily="34" charset="-120"/>
              </a:rPr>
              <a:t>업로드 크기 상한을 파일 전체를 메모리로 읽은 </a:t>
            </a:r>
            <a:pPr indent="0" marL="0">
              <a:lnSpc>
                <a:spcPct val="125000"/>
              </a:lnSpc>
              <a:buNone/>
            </a:pPr>
            <a:r>
              <a:rPr lang="en-US" sz="1300" b="1" i="1" dirty="0">
                <a:solidFill>
                  <a:srgbClr val="1A1F36"/>
                </a:solidFill>
                <a:latin typeface="Calibri" pitchFamily="34" charset="0"/>
                <a:ea typeface="Calibri" pitchFamily="34" charset="-122"/>
                <a:cs typeface="Calibri" pitchFamily="34" charset="-120"/>
              </a:rPr>
              <a:t>후에야</a:t>
            </a:r>
            <a:pPr indent="0" marL="0">
              <a:lnSpc>
                <a:spcPct val="125000"/>
              </a:lnSpc>
              <a:buNone/>
            </a:pPr>
            <a:r>
              <a:rPr lang="en-US" sz="1300" dirty="0">
                <a:solidFill>
                  <a:srgbClr val="1A1F36"/>
                </a:solidFill>
                <a:latin typeface="Calibri" pitchFamily="34" charset="0"/>
                <a:ea typeface="Calibri" pitchFamily="34" charset="-122"/>
                <a:cs typeface="Calibri" pitchFamily="34" charset="-120"/>
              </a:rPr>
              <a:t> 검사 → 메모리 압박 위험. 버퍼링 전 거부로 수정.</a:t>
            </a:r>
            <a:endParaRPr lang="en-US" sz="1300" dirty="0"/>
          </a:p>
          <a:p>
            <a:pPr indent="0" marL="0">
              <a:lnSpc>
                <a:spcPct val="125000"/>
              </a:lnSpc>
              <a:buNone/>
            </a:pPr>
            <a:r>
              <a:rPr lang="en-US" sz="1300" b="1" dirty="0">
                <a:solidFill>
                  <a:srgbClr val="E0586B"/>
                </a:solidFill>
                <a:latin typeface="Calibri" pitchFamily="34" charset="0"/>
                <a:ea typeface="Calibri" pitchFamily="34" charset="-122"/>
                <a:cs typeface="Calibri" pitchFamily="34" charset="-120"/>
              </a:rPr>
              <a:t>RV4-001 (high)  </a:t>
            </a:r>
            <a:pPr indent="0" marL="0">
              <a:lnSpc>
                <a:spcPct val="125000"/>
              </a:lnSpc>
              <a:buNone/>
            </a:pPr>
            <a:r>
              <a:rPr lang="en-US" sz="1300" dirty="0">
                <a:solidFill>
                  <a:srgbClr val="1A1F36"/>
                </a:solidFill>
                <a:latin typeface="Calibri" pitchFamily="34" charset="0"/>
                <a:ea typeface="Calibri" pitchFamily="34" charset="-122"/>
                <a:cs typeface="Calibri" pitchFamily="34" charset="-120"/>
              </a:rPr>
              <a:t>S3 업로드 실패를 400으로 매핑 → 설계(5xx + PENDING 유지)와 불일치. 5xx 매핑으로 수정.</a:t>
            </a:r>
            <a:endParaRPr lang="en-US" sz="1300" dirty="0"/>
          </a:p>
          <a:p>
            <a:pPr indent="0" marL="0">
              <a:lnSpc>
                <a:spcPct val="125000"/>
              </a:lnSpc>
              <a:buNone/>
            </a:pPr>
            <a:r>
              <a:rPr lang="en-US" sz="1300" b="1" dirty="0">
                <a:solidFill>
                  <a:srgbClr val="E8A13A"/>
                </a:solidFill>
                <a:latin typeface="Calibri" pitchFamily="34" charset="0"/>
                <a:ea typeface="Calibri" pitchFamily="34" charset="-122"/>
                <a:cs typeface="Calibri" pitchFamily="34" charset="-120"/>
              </a:rPr>
              <a:t>RV4-003 (med)  </a:t>
            </a:r>
            <a:pPr indent="0" marL="0">
              <a:lnSpc>
                <a:spcPct val="125000"/>
              </a:lnSpc>
              <a:buNone/>
            </a:pPr>
            <a:r>
              <a:rPr lang="en-US" sz="1300" dirty="0">
                <a:solidFill>
                  <a:srgbClr val="1A1F36"/>
                </a:solidFill>
                <a:latin typeface="Calibri" pitchFamily="34" charset="0"/>
                <a:ea typeface="Calibri" pitchFamily="34" charset="-122"/>
                <a:cs typeface="Calibri" pitchFamily="34" charset="-120"/>
              </a:rPr>
              <a:t>선언 MIME·매직바이트·확장자 교차검증 부재 → 보안(S-03) 강화.</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§6.3 RETROSPECTIVE</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회고 &amp; Human Check Items</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Text 4"/>
          <p:cNvSpPr/>
          <p:nvPr/>
        </p:nvSpPr>
        <p:spPr>
          <a:xfrm>
            <a:off x="548640" y="1508760"/>
            <a:ext cx="10972800" cy="457200"/>
          </a:xfrm>
          <a:prstGeom prst="rect">
            <a:avLst/>
          </a:prstGeom>
          <a:noFill/>
          <a:ln/>
        </p:spPr>
        <p:txBody>
          <a:bodyPr wrap="square" lIns="0" tIns="0" rIns="0" bIns="0" rtlCol="0" anchor="ctr"/>
          <a:lstStyle/>
          <a:p>
            <a:pPr indent="0" marL="0">
              <a:buNone/>
            </a:pPr>
            <a:r>
              <a:rPr lang="en-US" sz="1450" dirty="0">
                <a:solidFill>
                  <a:srgbClr val="1A1F36"/>
                </a:solidFill>
                <a:latin typeface="Calibri" pitchFamily="34" charset="0"/>
                <a:ea typeface="Calibri" pitchFamily="34" charset="-122"/>
                <a:cs typeface="Calibri" pitchFamily="34" charset="-120"/>
              </a:rPr>
              <a:t>각 Phase 끝에 회고를 남긴다. 핵심은 '에이전트가 자의로 판단하면 안 되는 것'을 인간에게 올리는 일이다.</a:t>
            </a:r>
            <a:endParaRPr lang="en-US" sz="1450" dirty="0"/>
          </a:p>
        </p:txBody>
      </p:sp>
      <p:sp>
        <p:nvSpPr>
          <p:cNvPr id="7" name="Shape 5"/>
          <p:cNvSpPr/>
          <p:nvPr/>
        </p:nvSpPr>
        <p:spPr>
          <a:xfrm>
            <a:off x="548640" y="2148840"/>
            <a:ext cx="5212080" cy="3657600"/>
          </a:xfrm>
          <a:prstGeom prst="roundRect">
            <a:avLst>
              <a:gd name="adj" fmla="val 2500"/>
            </a:avLst>
          </a:prstGeom>
          <a:solidFill>
            <a:srgbClr val="EEF3FC"/>
          </a:solidFill>
          <a:ln/>
          <a:effectLst>
            <a:outerShdw sx="100000" sy="100000" kx="0" ky="0" algn="bl" rotWithShape="0" blurRad="114300" dist="38100" dir="5400000">
              <a:srgbClr val="1A1F36">
                <a:alpha val="16000"/>
              </a:srgbClr>
            </a:outerShdw>
          </a:effectLst>
        </p:spPr>
      </p:sp>
      <p:sp>
        <p:nvSpPr>
          <p:cNvPr id="8" name="Text 6"/>
          <p:cNvSpPr/>
          <p:nvPr/>
        </p:nvSpPr>
        <p:spPr>
          <a:xfrm>
            <a:off x="822960" y="2331720"/>
            <a:ext cx="4572000" cy="4114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회고에 담는 것</a:t>
            </a:r>
            <a:endParaRPr lang="en-US" sz="1700" dirty="0"/>
          </a:p>
        </p:txBody>
      </p:sp>
      <p:sp>
        <p:nvSpPr>
          <p:cNvPr id="9" name="Text 7"/>
          <p:cNvSpPr/>
          <p:nvPr/>
        </p:nvSpPr>
        <p:spPr>
          <a:xfrm>
            <a:off x="841248" y="2834640"/>
            <a:ext cx="4846320" cy="2834640"/>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350" dirty="0">
                <a:solidFill>
                  <a:srgbClr val="1A1F36"/>
                </a:solidFill>
                <a:latin typeface="Calibri" pitchFamily="34" charset="0"/>
                <a:ea typeface="Calibri" pitchFamily="34" charset="-122"/>
                <a:cs typeface="Calibri" pitchFamily="34" charset="-120"/>
              </a:rPr>
              <a:t>한 일과 결과 (완료된 수락 기준)</a:t>
            </a:r>
            <a:endParaRPr lang="en-US" sz="1350" dirty="0"/>
          </a:p>
          <a:p>
            <a:pPr marL="342900" indent="-342900">
              <a:lnSpc>
                <a:spcPct val="110000"/>
              </a:lnSpc>
              <a:spcAft>
                <a:spcPts val="800"/>
              </a:spcAft>
              <a:buSzPct val="100000"/>
              <a:buChar char="•"/>
            </a:pPr>
            <a:r>
              <a:rPr lang="en-US" sz="1350" dirty="0">
                <a:solidFill>
                  <a:srgbClr val="1A1F36"/>
                </a:solidFill>
                <a:latin typeface="Calibri" pitchFamily="34" charset="0"/>
                <a:ea typeface="Calibri" pitchFamily="34" charset="-122"/>
                <a:cs typeface="Calibri" pitchFamily="34" charset="-120"/>
              </a:rPr>
              <a:t>잘된 점 · 어려웠던 점 · 다음 Phase 개선점</a:t>
            </a:r>
            <a:endParaRPr lang="en-US" sz="1350" dirty="0"/>
          </a:p>
          <a:p>
            <a:pPr marL="342900" indent="-342900">
              <a:lnSpc>
                <a:spcPct val="110000"/>
              </a:lnSpc>
              <a:spcAft>
                <a:spcPts val="800"/>
              </a:spcAft>
              <a:buSzPct val="100000"/>
              <a:buChar char="•"/>
            </a:pPr>
            <a:r>
              <a:rPr lang="en-US" sz="1350" dirty="0">
                <a:solidFill>
                  <a:srgbClr val="1A1F36"/>
                </a:solidFill>
                <a:latin typeface="Calibri" pitchFamily="34" charset="0"/>
                <a:ea typeface="Calibri" pitchFamily="34" charset="-122"/>
                <a:cs typeface="Calibri" pitchFamily="34" charset="-120"/>
              </a:rPr>
              <a:t>codex 리뷰 지적과 처리 결과</a:t>
            </a:r>
            <a:endParaRPr lang="en-US" sz="1350" dirty="0"/>
          </a:p>
          <a:p>
            <a:pPr marL="342900" indent="-342900">
              <a:lnSpc>
                <a:spcPct val="110000"/>
              </a:lnSpc>
              <a:spcAft>
                <a:spcPts val="800"/>
              </a:spcAft>
              <a:buSzPct val="100000"/>
              <a:buChar char="•"/>
            </a:pPr>
            <a:r>
              <a:rPr lang="en-US" sz="1350" dirty="0">
                <a:solidFill>
                  <a:srgbClr val="1A1F36"/>
                </a:solidFill>
                <a:latin typeface="Calibri" pitchFamily="34" charset="0"/>
                <a:ea typeface="Calibri" pitchFamily="34" charset="-122"/>
                <a:cs typeface="Calibri" pitchFamily="34" charset="-120"/>
              </a:rPr>
              <a:t>검증 증거 (콘솔 출력 그대로)</a:t>
            </a:r>
            <a:endParaRPr lang="en-US" sz="1350" dirty="0"/>
          </a:p>
          <a:p>
            <a:pPr marL="342900" indent="-342900">
              <a:lnSpc>
                <a:spcPct val="110000"/>
              </a:lnSpc>
              <a:buSzPct val="100000"/>
              <a:buChar char="•"/>
            </a:pPr>
            <a:r>
              <a:rPr lang="en-US" sz="1350" b="1" dirty="0">
                <a:solidFill>
                  <a:srgbClr val="1E2761"/>
                </a:solidFill>
                <a:latin typeface="Calibri" pitchFamily="34" charset="0"/>
                <a:ea typeface="Calibri" pitchFamily="34" charset="-122"/>
                <a:cs typeface="Calibri" pitchFamily="34" charset="-120"/>
              </a:rPr>
              <a:t>Human Check Items (인간 확인 필요 사항)</a:t>
            </a:r>
            <a:endParaRPr lang="en-US" sz="1350" dirty="0"/>
          </a:p>
        </p:txBody>
      </p:sp>
      <p:sp>
        <p:nvSpPr>
          <p:cNvPr id="10" name="Shape 8"/>
          <p:cNvSpPr/>
          <p:nvPr/>
        </p:nvSpPr>
        <p:spPr>
          <a:xfrm>
            <a:off x="5989320" y="2148840"/>
            <a:ext cx="5623560" cy="3657600"/>
          </a:xfrm>
          <a:prstGeom prst="roundRect">
            <a:avLst>
              <a:gd name="adj" fmla="val 2500"/>
            </a:avLst>
          </a:prstGeom>
          <a:solidFill>
            <a:srgbClr val="FFFFFF"/>
          </a:solidFill>
          <a:ln w="15240">
            <a:solidFill>
              <a:srgbClr val="F0DCC0"/>
            </a:solidFill>
            <a:prstDash val="solid"/>
          </a:ln>
          <a:effectLst>
            <a:outerShdw sx="100000" sy="100000" kx="0" ky="0" algn="bl" rotWithShape="0" blurRad="114300" dist="38100" dir="5400000">
              <a:srgbClr val="1A1F36">
                <a:alpha val="16000"/>
              </a:srgbClr>
            </a:outerShdw>
          </a:effectLst>
        </p:spPr>
      </p:sp>
      <p:sp>
        <p:nvSpPr>
          <p:cNvPr id="11" name="Text 9"/>
          <p:cNvSpPr/>
          <p:nvPr/>
        </p:nvSpPr>
        <p:spPr>
          <a:xfrm>
            <a:off x="6263640" y="2331720"/>
            <a:ext cx="5029200" cy="411480"/>
          </a:xfrm>
          <a:prstGeom prst="rect">
            <a:avLst/>
          </a:prstGeom>
          <a:noFill/>
          <a:ln/>
        </p:spPr>
        <p:txBody>
          <a:bodyPr wrap="square" lIns="0" tIns="0" rIns="0" bIns="0" rtlCol="0" anchor="ctr"/>
          <a:lstStyle/>
          <a:p>
            <a:pPr indent="0" marL="0">
              <a:buNone/>
            </a:pPr>
            <a:r>
              <a:rPr lang="en-US" sz="1600" b="1" dirty="0">
                <a:solidFill>
                  <a:srgbClr val="E8A13A"/>
                </a:solidFill>
                <a:latin typeface="Cambria" pitchFamily="34" charset="0"/>
                <a:ea typeface="Cambria" pitchFamily="34" charset="-122"/>
                <a:cs typeface="Cambria" pitchFamily="34" charset="-120"/>
              </a:rPr>
              <a:t>Phase 4 HCI 예시</a:t>
            </a:r>
            <a:endParaRPr lang="en-US" sz="1600" dirty="0"/>
          </a:p>
        </p:txBody>
      </p:sp>
      <p:sp>
        <p:nvSpPr>
          <p:cNvPr id="12" name="Text 10"/>
          <p:cNvSpPr/>
          <p:nvPr/>
        </p:nvSpPr>
        <p:spPr>
          <a:xfrm>
            <a:off x="6263640" y="2834640"/>
            <a:ext cx="5120640" cy="2834640"/>
          </a:xfrm>
          <a:prstGeom prst="rect">
            <a:avLst/>
          </a:prstGeom>
          <a:noFill/>
          <a:ln/>
        </p:spPr>
        <p:txBody>
          <a:bodyPr wrap="square" lIns="0" tIns="0" rIns="0" bIns="0" rtlCol="0" anchor="ctr"/>
          <a:lstStyle/>
          <a:p>
            <a:pPr indent="0" marL="0">
              <a:lnSpc>
                <a:spcPct val="120000"/>
              </a:lnSpc>
              <a:buNone/>
            </a:pPr>
            <a:r>
              <a:rPr lang="en-US" sz="1250" b="1" dirty="0">
                <a:solidFill>
                  <a:srgbClr val="1E2761"/>
                </a:solidFill>
                <a:latin typeface="Calibri" pitchFamily="34" charset="0"/>
                <a:ea typeface="Calibri" pitchFamily="34" charset="-122"/>
                <a:cs typeface="Calibri" pitchFamily="34" charset="-120"/>
              </a:rPr>
              <a:t>HCI-1 · Architecture  </a:t>
            </a:r>
            <a:pPr indent="0" marL="0">
              <a:lnSpc>
                <a:spcPct val="120000"/>
              </a:lnSpc>
              <a:buNone/>
            </a:pPr>
            <a:r>
              <a:rPr lang="en-US" sz="1250" dirty="0">
                <a:solidFill>
                  <a:srgbClr val="1A1F36"/>
                </a:solidFill>
                <a:latin typeface="Calibri" pitchFamily="34" charset="0"/>
                <a:ea typeface="Calibri" pitchFamily="34" charset="-122"/>
                <a:cs typeface="Calibri" pitchFamily="34" charset="-120"/>
              </a:rPr>
              <a:t>orphan 정리 잡은 설계만 존재, 미구현 → 구현 시점·방식은 인간 결정 (비차단)</a:t>
            </a:r>
            <a:endParaRPr lang="en-US" sz="1250" dirty="0"/>
          </a:p>
          <a:p>
            <a:pPr indent="0" marL="0">
              <a:lnSpc>
                <a:spcPct val="120000"/>
              </a:lnSpc>
              <a:buNone/>
            </a:pPr>
            <a:r>
              <a:rPr lang="en-US" sz="1250" b="1" dirty="0">
                <a:solidFill>
                  <a:srgbClr val="1E2761"/>
                </a:solidFill>
                <a:latin typeface="Calibri" pitchFamily="34" charset="0"/>
                <a:ea typeface="Calibri" pitchFamily="34" charset="-122"/>
                <a:cs typeface="Calibri" pitchFamily="34" charset="-120"/>
              </a:rPr>
              <a:t>HCI-3 · Security  </a:t>
            </a:r>
            <a:pPr indent="0" marL="0">
              <a:lnSpc>
                <a:spcPct val="120000"/>
              </a:lnSpc>
              <a:buNone/>
            </a:pPr>
            <a:r>
              <a:rPr lang="en-US" sz="1250" dirty="0">
                <a:solidFill>
                  <a:srgbClr val="1A1F36"/>
                </a:solidFill>
                <a:latin typeface="Calibri" pitchFamily="34" charset="0"/>
                <a:ea typeface="Calibri" pitchFamily="34" charset="-122"/>
                <a:cs typeface="Calibri" pitchFamily="34" charset="-120"/>
              </a:rPr>
              <a:t>업로드 크기·픽셀 상한은 설정값 → prod 적정값 인간 승인 필요</a:t>
            </a:r>
            <a:endParaRPr lang="en-US" sz="1250" dirty="0"/>
          </a:p>
          <a:p>
            <a:pPr indent="0" marL="0">
              <a:lnSpc>
                <a:spcPct val="120000"/>
              </a:lnSpc>
              <a:buNone/>
            </a:pPr>
            <a:r>
              <a:rPr lang="en-US" sz="1250" b="1" dirty="0">
                <a:solidFill>
                  <a:srgbClr val="1E2761"/>
                </a:solidFill>
                <a:latin typeface="Calibri" pitchFamily="34" charset="0"/>
                <a:ea typeface="Calibri" pitchFamily="34" charset="-122"/>
                <a:cs typeface="Calibri" pitchFamily="34" charset="-120"/>
              </a:rPr>
              <a:t>HCI-4 · Risk  </a:t>
            </a:r>
            <a:pPr indent="0" marL="0">
              <a:lnSpc>
                <a:spcPct val="120000"/>
              </a:lnSpc>
              <a:buNone/>
            </a:pPr>
            <a:r>
              <a:rPr lang="en-US" sz="1250" dirty="0">
                <a:solidFill>
                  <a:srgbClr val="1A1F36"/>
                </a:solidFill>
                <a:latin typeface="Calibri" pitchFamily="34" charset="0"/>
                <a:ea typeface="Calibri" pitchFamily="34" charset="-122"/>
                <a:cs typeface="Calibri" pitchFamily="34" charset="-120"/>
              </a:rPr>
              <a:t>S3 실경로는 단위테스트 낮음 → MinIO 통합테스트 도입 시점 확인</a:t>
            </a:r>
            <a:endParaRPr lang="en-US" sz="1250" dirty="0"/>
          </a:p>
        </p:txBody>
      </p:sp>
      <p:sp>
        <p:nvSpPr>
          <p:cNvPr id="13" name="Text 11"/>
          <p:cNvSpPr/>
          <p:nvPr/>
        </p:nvSpPr>
        <p:spPr>
          <a:xfrm>
            <a:off x="548640" y="5943600"/>
            <a:ext cx="10972800" cy="411480"/>
          </a:xfrm>
          <a:prstGeom prst="rect">
            <a:avLst/>
          </a:prstGeom>
          <a:noFill/>
          <a:ln/>
        </p:spPr>
        <p:txBody>
          <a:bodyPr wrap="square" lIns="0" tIns="0" rIns="0" bIns="0" rtlCol="0" anchor="ctr"/>
          <a:lstStyle/>
          <a:p>
            <a:pPr algn="ctr" indent="0" marL="0">
              <a:buNone/>
            </a:pPr>
            <a:r>
              <a:rPr lang="en-US" sz="1250" i="1" dirty="0">
                <a:solidFill>
                  <a:srgbClr val="5A6480"/>
                </a:solidFill>
                <a:latin typeface="Calibri" pitchFamily="34" charset="0"/>
                <a:ea typeface="Calibri" pitchFamily="34" charset="-122"/>
                <a:cs typeface="Calibri" pitchFamily="34" charset="-120"/>
              </a:rPr>
              <a:t>이 섹션은 비어 있을 수 없다 — 확인할 게 없다면 '없음(HCI-0)'과 그 근거(검증 증거)를 적어야 한다.</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2C39A"/>
        </a:solidFill>
      </p:bgPr>
    </p:bg>
    <p:spTree>
      <p:nvGrpSpPr>
        <p:cNvPr id="1" name=""/>
        <p:cNvGrpSpPr/>
        <p:nvPr/>
      </p:nvGrpSpPr>
      <p:grpSpPr>
        <a:xfrm>
          <a:off x="0" y="0"/>
          <a:ext cx="0" cy="0"/>
          <a:chOff x="0" y="0"/>
          <a:chExt cx="0" cy="0"/>
        </a:xfrm>
      </p:grpSpPr>
      <p:sp>
        <p:nvSpPr>
          <p:cNvPr id="2" name="Shape 0"/>
          <p:cNvSpPr/>
          <p:nvPr/>
        </p:nvSpPr>
        <p:spPr>
          <a:xfrm>
            <a:off x="10332720" y="365760"/>
            <a:ext cx="1371600" cy="457200"/>
          </a:xfrm>
          <a:prstGeom prst="roundRect">
            <a:avLst>
              <a:gd name="adj" fmla="val 50000"/>
            </a:avLst>
          </a:prstGeom>
          <a:solidFill>
            <a:srgbClr val="FFFFFF"/>
          </a:solidFill>
          <a:ln/>
        </p:spPr>
      </p:sp>
      <p:sp>
        <p:nvSpPr>
          <p:cNvPr id="3" name="Text 1"/>
          <p:cNvSpPr/>
          <p:nvPr/>
        </p:nvSpPr>
        <p:spPr>
          <a:xfrm>
            <a:off x="10332720" y="365760"/>
            <a:ext cx="1371600" cy="457200"/>
          </a:xfrm>
          <a:prstGeom prst="rect">
            <a:avLst/>
          </a:prstGeom>
          <a:noFill/>
          <a:ln/>
        </p:spPr>
        <p:txBody>
          <a:bodyPr wrap="square" lIns="0" tIns="0" rIns="0" bIns="0" rtlCol="0" anchor="ctr"/>
          <a:lstStyle/>
          <a:p>
            <a:pPr algn="ctr" indent="0" marL="0">
              <a:buNone/>
            </a:pPr>
            <a:r>
              <a:rPr lang="en-US" sz="1300" b="1" dirty="0">
                <a:solidFill>
                  <a:srgbClr val="0B8C70"/>
                </a:solidFill>
                <a:latin typeface="Calibri" pitchFamily="34" charset="0"/>
                <a:ea typeface="Calibri" pitchFamily="34" charset="-122"/>
                <a:cs typeface="Calibri" pitchFamily="34" charset="-120"/>
              </a:rPr>
              <a:t>실습</a:t>
            </a:r>
            <a:endParaRPr lang="en-US" sz="1300" dirty="0"/>
          </a:p>
        </p:txBody>
      </p:sp>
      <p:pic>
        <p:nvPicPr>
          <p:cNvPr id="4" name="Image 0" descr="preencoded.png">    </p:cNvPr>
          <p:cNvPicPr>
            <a:picLocks noChangeAspect="1"/>
          </p:cNvPicPr>
          <p:nvPr/>
        </p:nvPicPr>
        <p:blipFill>
          <a:blip r:embed="rId1"/>
          <a:stretch>
            <a:fillRect/>
          </a:stretch>
        </p:blipFill>
        <p:spPr>
          <a:xfrm>
            <a:off x="640080" y="685800"/>
            <a:ext cx="868680" cy="868680"/>
          </a:xfrm>
          <a:prstGeom prst="rect">
            <a:avLst/>
          </a:prstGeom>
        </p:spPr>
      </p:pic>
      <p:sp>
        <p:nvSpPr>
          <p:cNvPr id="5" name="Text 2"/>
          <p:cNvSpPr/>
          <p:nvPr/>
        </p:nvSpPr>
        <p:spPr>
          <a:xfrm>
            <a:off x="1691640" y="640080"/>
            <a:ext cx="7315200" cy="548640"/>
          </a:xfrm>
          <a:prstGeom prst="rect">
            <a:avLst/>
          </a:prstGeom>
          <a:noFill/>
          <a:ln/>
        </p:spPr>
        <p:txBody>
          <a:bodyPr wrap="square" lIns="0" tIns="0" rIns="0" bIns="0" rtlCol="0" anchor="ctr"/>
          <a:lstStyle/>
          <a:p>
            <a:pPr indent="0" marL="0">
              <a:buNone/>
            </a:pPr>
            <a:r>
              <a:rPr lang="en-US" sz="1600" b="1" spc="200" kern="0" dirty="0">
                <a:solidFill>
                  <a:srgbClr val="0B5B49"/>
                </a:solidFill>
                <a:latin typeface="Calibri" pitchFamily="34" charset="0"/>
                <a:ea typeface="Calibri" pitchFamily="34" charset="-122"/>
                <a:cs typeface="Calibri" pitchFamily="34" charset="-120"/>
              </a:rPr>
              <a:t>미니실습 2</a:t>
            </a:r>
            <a:endParaRPr lang="en-US" sz="1600" dirty="0"/>
          </a:p>
        </p:txBody>
      </p:sp>
      <p:sp>
        <p:nvSpPr>
          <p:cNvPr id="6" name="Text 3"/>
          <p:cNvSpPr/>
          <p:nvPr/>
        </p:nvSpPr>
        <p:spPr>
          <a:xfrm>
            <a:off x="1691640" y="1097280"/>
            <a:ext cx="10241280" cy="6858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우리 팀의 'Phase 종료 게이트' 체크리스트 만들기</a:t>
            </a:r>
            <a:endParaRPr lang="en-US" sz="2800" dirty="0"/>
          </a:p>
        </p:txBody>
      </p:sp>
      <p:sp>
        <p:nvSpPr>
          <p:cNvPr id="7" name="Shape 4"/>
          <p:cNvSpPr/>
          <p:nvPr/>
        </p:nvSpPr>
        <p:spPr>
          <a:xfrm>
            <a:off x="640080" y="2148840"/>
            <a:ext cx="6766560" cy="4114800"/>
          </a:xfrm>
          <a:prstGeom prst="roundRect">
            <a:avLst>
              <a:gd name="adj" fmla="val 2667"/>
            </a:avLst>
          </a:prstGeom>
          <a:solidFill>
            <a:srgbClr val="FFFFFF"/>
          </a:solidFill>
          <a:ln/>
          <a:effectLst>
            <a:outerShdw sx="100000" sy="100000" kx="0" ky="0" algn="bl" rotWithShape="0" blurRad="114300" dist="38100" dir="5400000">
              <a:srgbClr val="1A1F36">
                <a:alpha val="16000"/>
              </a:srgbClr>
            </a:outerShdw>
          </a:effectLst>
        </p:spPr>
      </p:sp>
      <p:sp>
        <p:nvSpPr>
          <p:cNvPr id="8" name="Text 5"/>
          <p:cNvSpPr/>
          <p:nvPr/>
        </p:nvSpPr>
        <p:spPr>
          <a:xfrm>
            <a:off x="914400" y="2377440"/>
            <a:ext cx="621792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진행 방법</a:t>
            </a:r>
            <a:endParaRPr lang="en-US" sz="1700" dirty="0"/>
          </a:p>
        </p:txBody>
      </p:sp>
      <p:sp>
        <p:nvSpPr>
          <p:cNvPr id="9" name="Text 6"/>
          <p:cNvSpPr/>
          <p:nvPr/>
        </p:nvSpPr>
        <p:spPr>
          <a:xfrm>
            <a:off x="914400" y="2926080"/>
            <a:ext cx="6309360" cy="3200400"/>
          </a:xfrm>
          <a:prstGeom prst="rect">
            <a:avLst/>
          </a:prstGeom>
          <a:noFill/>
          <a:ln/>
        </p:spPr>
        <p:txBody>
          <a:bodyPr wrap="square" lIns="0" tIns="0" rIns="0" bIns="0" rtlCol="0" anchor="ctr"/>
          <a:lstStyle/>
          <a:p>
            <a:pPr indent="0" marL="0">
              <a:lnSpc>
                <a:spcPct val="110000"/>
              </a:lnSpc>
              <a:spcAft>
                <a:spcPts val="900"/>
              </a:spcAft>
              <a:buNone/>
            </a:pPr>
            <a:r>
              <a:rPr lang="en-US" sz="1400" dirty="0">
                <a:solidFill>
                  <a:srgbClr val="1A1F36"/>
                </a:solidFill>
                <a:latin typeface="Calibri" pitchFamily="34" charset="0"/>
                <a:ea typeface="Calibri" pitchFamily="34" charset="-122"/>
                <a:cs typeface="Calibri" pitchFamily="34" charset="-120"/>
              </a:rPr>
              <a:t>1.  내 프로젝트의 한 작업 단위를 'Phase'로 정의한다 (목표·산출물·수락기준)</a:t>
            </a:r>
            <a:endParaRPr lang="en-US" sz="1400" dirty="0"/>
          </a:p>
          <a:p>
            <a:pPr indent="0" marL="0">
              <a:lnSpc>
                <a:spcPct val="110000"/>
              </a:lnSpc>
              <a:spcAft>
                <a:spcPts val="900"/>
              </a:spcAft>
              <a:buNone/>
            </a:pPr>
            <a:r>
              <a:rPr lang="en-US" sz="1400" dirty="0">
                <a:solidFill>
                  <a:srgbClr val="1A1F36"/>
                </a:solidFill>
                <a:latin typeface="Calibri" pitchFamily="34" charset="0"/>
                <a:ea typeface="Calibri" pitchFamily="34" charset="-122"/>
                <a:cs typeface="Calibri" pitchFamily="34" charset="-120"/>
              </a:rPr>
              <a:t>2.  6단계(구현→테스트→리뷰→수정→회고→통합) 중 우리에게 빠진 단계를 표시</a:t>
            </a:r>
            <a:endParaRPr lang="en-US" sz="1400" dirty="0"/>
          </a:p>
          <a:p>
            <a:pPr indent="0" marL="0">
              <a:lnSpc>
                <a:spcPct val="110000"/>
              </a:lnSpc>
              <a:spcAft>
                <a:spcPts val="900"/>
              </a:spcAft>
              <a:buNone/>
            </a:pPr>
            <a:r>
              <a:rPr lang="en-US" sz="1400" dirty="0">
                <a:solidFill>
                  <a:srgbClr val="1A1F36"/>
                </a:solidFill>
                <a:latin typeface="Calibri" pitchFamily="34" charset="0"/>
                <a:ea typeface="Calibri" pitchFamily="34" charset="-122"/>
                <a:cs typeface="Calibri" pitchFamily="34" charset="-120"/>
              </a:rPr>
              <a:t>3.  각 단계의 '통과 증거'를 한 줄씩 명령/산출물로 적는다</a:t>
            </a:r>
            <a:endParaRPr lang="en-US" sz="1400" dirty="0"/>
          </a:p>
          <a:p>
            <a:pPr indent="0" marL="0">
              <a:lnSpc>
                <a:spcPct val="110000"/>
              </a:lnSpc>
              <a:buNone/>
            </a:pPr>
            <a:r>
              <a:rPr lang="en-US" sz="1400" dirty="0">
                <a:solidFill>
                  <a:srgbClr val="1A1F36"/>
                </a:solidFill>
                <a:latin typeface="Calibri" pitchFamily="34" charset="0"/>
                <a:ea typeface="Calibri" pitchFamily="34" charset="-122"/>
                <a:cs typeface="Calibri" pitchFamily="34" charset="-120"/>
              </a:rPr>
              <a:t>4.  Human Check Items 표에 올릴 항목 1개를 고른다</a:t>
            </a:r>
            <a:endParaRPr lang="en-US" sz="1400" dirty="0"/>
          </a:p>
        </p:txBody>
      </p:sp>
      <p:sp>
        <p:nvSpPr>
          <p:cNvPr id="10" name="Shape 7"/>
          <p:cNvSpPr/>
          <p:nvPr/>
        </p:nvSpPr>
        <p:spPr>
          <a:xfrm>
            <a:off x="7635240" y="2148840"/>
            <a:ext cx="3886200" cy="4114800"/>
          </a:xfrm>
          <a:prstGeom prst="roundRect">
            <a:avLst>
              <a:gd name="adj" fmla="val 2824"/>
            </a:avLst>
          </a:prstGeom>
          <a:solidFill>
            <a:srgbClr val="1E2761"/>
          </a:solidFill>
          <a:ln/>
          <a:effectLst>
            <a:outerShdw sx="100000" sy="100000" kx="0" ky="0" algn="bl" rotWithShape="0" blurRad="114300" dist="38100" dir="5400000">
              <a:srgbClr val="1A1F36">
                <a:alpha val="16000"/>
              </a:srgbClr>
            </a:outerShdw>
          </a:effectLst>
        </p:spPr>
      </p:sp>
      <p:sp>
        <p:nvSpPr>
          <p:cNvPr id="11" name="Text 8"/>
          <p:cNvSpPr/>
          <p:nvPr/>
        </p:nvSpPr>
        <p:spPr>
          <a:xfrm>
            <a:off x="7863840" y="2377440"/>
            <a:ext cx="3383280" cy="411480"/>
          </a:xfrm>
          <a:prstGeom prst="rect">
            <a:avLst/>
          </a:prstGeom>
          <a:noFill/>
          <a:ln/>
        </p:spPr>
        <p:txBody>
          <a:bodyPr wrap="square" lIns="0" tIns="0" rIns="0" bIns="0" rtlCol="0" anchor="ctr"/>
          <a:lstStyle/>
          <a:p>
            <a:pPr indent="0" marL="0">
              <a:buNone/>
            </a:pPr>
            <a:r>
              <a:rPr lang="en-US" sz="1600" b="1" dirty="0">
                <a:solidFill>
                  <a:srgbClr val="02C39A"/>
                </a:solidFill>
                <a:latin typeface="Cambria" pitchFamily="34" charset="0"/>
                <a:ea typeface="Cambria" pitchFamily="34" charset="-122"/>
                <a:cs typeface="Cambria" pitchFamily="34" charset="-120"/>
              </a:rPr>
              <a:t>산출물</a:t>
            </a:r>
            <a:endParaRPr lang="en-US" sz="1600" dirty="0"/>
          </a:p>
        </p:txBody>
      </p:sp>
      <p:sp>
        <p:nvSpPr>
          <p:cNvPr id="12" name="Text 9"/>
          <p:cNvSpPr/>
          <p:nvPr/>
        </p:nvSpPr>
        <p:spPr>
          <a:xfrm>
            <a:off x="7863840" y="2880360"/>
            <a:ext cx="3429000" cy="320040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한 장짜리 Phase 게이트 체크리스트</a:t>
            </a:r>
            <a:endParaRPr lang="en-US" sz="1300" dirty="0"/>
          </a:p>
          <a:p>
            <a:pPr marL="342900" indent="-342900">
              <a:lnSpc>
                <a:spcPct val="1100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각 게이트별 '통과 = 무엇' 정의</a:t>
            </a:r>
            <a:endParaRPr lang="en-US" sz="1300" dirty="0"/>
          </a:p>
          <a:p>
            <a:pPr marL="342900" indent="-342900">
              <a:lnSpc>
                <a:spcPct val="110000"/>
              </a:lnSpc>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인간 승인이 필요한 지점 1곳 명시</a:t>
            </a:r>
            <a:endParaRPr lang="en-US" sz="1300" dirty="0"/>
          </a:p>
          <a:p>
            <a:pPr indent="0" marL="0">
              <a:lnSpc>
                <a:spcPct val="110000"/>
              </a:lnSpc>
              <a:buNone/>
            </a:pPr>
            <a:r>
              <a:rPr lang="en-US" sz="1300" i="1" dirty="0">
                <a:solidFill>
                  <a:srgbClr val="CADCFC"/>
                </a:solidFill>
                <a:latin typeface="Calibri" pitchFamily="34" charset="0"/>
                <a:ea typeface="Calibri" pitchFamily="34" charset="-122"/>
                <a:cs typeface="Calibri" pitchFamily="34" charset="-120"/>
              </a:rPr>
              <a:t>→ 다음 스프린트에 바로 적용 가능한 초안</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TAKEAWAYS</a:t>
            </a:r>
            <a:endParaRPr lang="en-US" sz="1300" dirty="0"/>
          </a:p>
        </p:txBody>
      </p:sp>
      <p:sp>
        <p:nvSpPr>
          <p:cNvPr id="3" name="Text 1"/>
          <p:cNvSpPr/>
          <p:nvPr/>
        </p:nvSpPr>
        <p:spPr>
          <a:xfrm>
            <a:off x="548640" y="676656"/>
            <a:ext cx="9418320" cy="777240"/>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우리 팀에 적용하려면 — 5가지 체크</a:t>
            </a:r>
            <a:endParaRPr lang="en-US" sz="2900" dirty="0"/>
          </a:p>
        </p:txBody>
      </p:sp>
      <p:sp>
        <p:nvSpPr>
          <p:cNvPr id="4" name="Shape 2"/>
          <p:cNvSpPr/>
          <p:nvPr/>
        </p:nvSpPr>
        <p:spPr>
          <a:xfrm>
            <a:off x="10332720" y="292608"/>
            <a:ext cx="1371600" cy="384048"/>
          </a:xfrm>
          <a:prstGeom prst="roundRect">
            <a:avLst>
              <a:gd name="adj" fmla="val 50000"/>
            </a:avLst>
          </a:prstGeom>
          <a:solidFill>
            <a:srgbClr val="2A3A7C"/>
          </a:solidFill>
          <a:ln/>
        </p:spPr>
      </p:sp>
      <p:sp>
        <p:nvSpPr>
          <p:cNvPr id="5" name="Text 3"/>
          <p:cNvSpPr/>
          <p:nvPr/>
        </p:nvSpPr>
        <p:spPr>
          <a:xfrm>
            <a:off x="10332720" y="292608"/>
            <a:ext cx="1371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강의</a:t>
            </a:r>
            <a:endParaRPr lang="en-US" sz="1200" dirty="0"/>
          </a:p>
        </p:txBody>
      </p:sp>
      <p:sp>
        <p:nvSpPr>
          <p:cNvPr id="6" name="Shape 4"/>
          <p:cNvSpPr/>
          <p:nvPr/>
        </p:nvSpPr>
        <p:spPr>
          <a:xfrm>
            <a:off x="548640" y="1783080"/>
            <a:ext cx="5440680" cy="1234440"/>
          </a:xfrm>
          <a:prstGeom prst="roundRect">
            <a:avLst>
              <a:gd name="adj" fmla="val 7407"/>
            </a:avLst>
          </a:prstGeom>
          <a:solidFill>
            <a:srgbClr val="EEF3FC"/>
          </a:solidFill>
          <a:ln/>
          <a:effectLst>
            <a:outerShdw sx="100000" sy="100000" kx="0" ky="0" algn="bl" rotWithShape="0" blurRad="114300" dist="38100" dir="5400000">
              <a:srgbClr val="1A1F36">
                <a:alpha val="16000"/>
              </a:srgbClr>
            </a:outerShdw>
          </a:effectLst>
        </p:spPr>
      </p:sp>
      <p:sp>
        <p:nvSpPr>
          <p:cNvPr id="7" name="Shape 5"/>
          <p:cNvSpPr/>
          <p:nvPr/>
        </p:nvSpPr>
        <p:spPr>
          <a:xfrm>
            <a:off x="777240" y="2075688"/>
            <a:ext cx="640080" cy="640080"/>
          </a:xfrm>
          <a:prstGeom prst="ellipse">
            <a:avLst/>
          </a:prstGeom>
          <a:solidFill>
            <a:srgbClr val="2A3A7C"/>
          </a:solidFill>
          <a:ln/>
        </p:spPr>
      </p:sp>
      <p:pic>
        <p:nvPicPr>
          <p:cNvPr id="8" name="Image 0" descr="preencoded.png">    </p:cNvPr>
          <p:cNvPicPr>
            <a:picLocks noChangeAspect="1"/>
          </p:cNvPicPr>
          <p:nvPr/>
        </p:nvPicPr>
        <p:blipFill>
          <a:blip r:embed="rId1"/>
          <a:stretch>
            <a:fillRect/>
          </a:stretch>
        </p:blipFill>
        <p:spPr>
          <a:xfrm>
            <a:off x="932688" y="2231136"/>
            <a:ext cx="329184" cy="329184"/>
          </a:xfrm>
          <a:prstGeom prst="rect">
            <a:avLst/>
          </a:prstGeom>
        </p:spPr>
      </p:pic>
      <p:sp>
        <p:nvSpPr>
          <p:cNvPr id="9" name="Text 6"/>
          <p:cNvSpPr/>
          <p:nvPr/>
        </p:nvSpPr>
        <p:spPr>
          <a:xfrm>
            <a:off x="1554480" y="1965960"/>
            <a:ext cx="425196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거버넌스 문서부터</a:t>
            </a:r>
            <a:endParaRPr lang="en-US" sz="1600" dirty="0"/>
          </a:p>
        </p:txBody>
      </p:sp>
      <p:sp>
        <p:nvSpPr>
          <p:cNvPr id="10" name="Text 7"/>
          <p:cNvSpPr/>
          <p:nvPr/>
        </p:nvSpPr>
        <p:spPr>
          <a:xfrm>
            <a:off x="1554480" y="2404872"/>
            <a:ext cx="4251960" cy="548640"/>
          </a:xfrm>
          <a:prstGeom prst="rect">
            <a:avLst/>
          </a:prstGeom>
          <a:noFill/>
          <a:ln/>
        </p:spPr>
        <p:txBody>
          <a:bodyPr wrap="square" lIns="0" tIns="0" rIns="0" bIns="0" rtlCol="0" anchor="ctr"/>
          <a:lstStyle/>
          <a:p>
            <a:pPr indent="0" marL="0">
              <a:lnSpc>
                <a:spcPct val="100000"/>
              </a:lnSpc>
              <a:buNone/>
            </a:pPr>
            <a:r>
              <a:rPr lang="en-US" sz="1200" dirty="0">
                <a:solidFill>
                  <a:srgbClr val="5A6480"/>
                </a:solidFill>
                <a:latin typeface="Calibri" pitchFamily="34" charset="0"/>
                <a:ea typeface="Calibri" pitchFamily="34" charset="-122"/>
                <a:cs typeface="Calibri" pitchFamily="34" charset="-120"/>
              </a:rPr>
              <a:t>AGENTS.md처럼 역할·완료의 정의·이스케이프를 한 문서로 선언한다.</a:t>
            </a:r>
            <a:endParaRPr lang="en-US" sz="1200" dirty="0"/>
          </a:p>
        </p:txBody>
      </p:sp>
      <p:sp>
        <p:nvSpPr>
          <p:cNvPr id="11" name="Shape 8"/>
          <p:cNvSpPr/>
          <p:nvPr/>
        </p:nvSpPr>
        <p:spPr>
          <a:xfrm>
            <a:off x="6080760" y="1783080"/>
            <a:ext cx="5440680" cy="1234440"/>
          </a:xfrm>
          <a:prstGeom prst="roundRect">
            <a:avLst>
              <a:gd name="adj" fmla="val 7407"/>
            </a:avLst>
          </a:prstGeom>
          <a:solidFill>
            <a:srgbClr val="EEF3FC"/>
          </a:solidFill>
          <a:ln/>
          <a:effectLst>
            <a:outerShdw sx="100000" sy="100000" kx="0" ky="0" algn="bl" rotWithShape="0" blurRad="114300" dist="38100" dir="5400000">
              <a:srgbClr val="1A1F36">
                <a:alpha val="16000"/>
              </a:srgbClr>
            </a:outerShdw>
          </a:effectLst>
        </p:spPr>
      </p:sp>
      <p:sp>
        <p:nvSpPr>
          <p:cNvPr id="12" name="Shape 9"/>
          <p:cNvSpPr/>
          <p:nvPr/>
        </p:nvSpPr>
        <p:spPr>
          <a:xfrm>
            <a:off x="6309360" y="2075688"/>
            <a:ext cx="640080" cy="640080"/>
          </a:xfrm>
          <a:prstGeom prst="ellipse">
            <a:avLst/>
          </a:prstGeom>
          <a:solidFill>
            <a:srgbClr val="02C39A"/>
          </a:solidFill>
          <a:ln/>
        </p:spPr>
      </p:sp>
      <p:pic>
        <p:nvPicPr>
          <p:cNvPr id="13" name="Image 1" descr="preencoded.png">    </p:cNvPr>
          <p:cNvPicPr>
            <a:picLocks noChangeAspect="1"/>
          </p:cNvPicPr>
          <p:nvPr/>
        </p:nvPicPr>
        <p:blipFill>
          <a:blip r:embed="rId2"/>
          <a:stretch>
            <a:fillRect/>
          </a:stretch>
        </p:blipFill>
        <p:spPr>
          <a:xfrm>
            <a:off x="6464808" y="2231136"/>
            <a:ext cx="329184" cy="329184"/>
          </a:xfrm>
          <a:prstGeom prst="rect">
            <a:avLst/>
          </a:prstGeom>
        </p:spPr>
      </p:pic>
      <p:sp>
        <p:nvSpPr>
          <p:cNvPr id="14" name="Text 10"/>
          <p:cNvSpPr/>
          <p:nvPr/>
        </p:nvSpPr>
        <p:spPr>
          <a:xfrm>
            <a:off x="7086600" y="1965960"/>
            <a:ext cx="425196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명령으로 환원</a:t>
            </a:r>
            <a:endParaRPr lang="en-US" sz="1600" dirty="0"/>
          </a:p>
        </p:txBody>
      </p:sp>
      <p:sp>
        <p:nvSpPr>
          <p:cNvPr id="15" name="Text 11"/>
          <p:cNvSpPr/>
          <p:nvPr/>
        </p:nvSpPr>
        <p:spPr>
          <a:xfrm>
            <a:off x="7086600" y="2404872"/>
            <a:ext cx="4251960" cy="548640"/>
          </a:xfrm>
          <a:prstGeom prst="rect">
            <a:avLst/>
          </a:prstGeom>
          <a:noFill/>
          <a:ln/>
        </p:spPr>
        <p:txBody>
          <a:bodyPr wrap="square" lIns="0" tIns="0" rIns="0" bIns="0" rtlCol="0" anchor="ctr"/>
          <a:lstStyle/>
          <a:p>
            <a:pPr indent="0" marL="0">
              <a:lnSpc>
                <a:spcPct val="100000"/>
              </a:lnSpc>
              <a:buNone/>
            </a:pPr>
            <a:r>
              <a:rPr lang="en-US" sz="1200" dirty="0">
                <a:solidFill>
                  <a:srgbClr val="5A6480"/>
                </a:solidFill>
                <a:latin typeface="Calibri" pitchFamily="34" charset="0"/>
                <a:ea typeface="Calibri" pitchFamily="34" charset="-122"/>
                <a:cs typeface="Calibri" pitchFamily="34" charset="-120"/>
              </a:rPr>
              <a:t>주관적 완료 기준을 복붙 가능한 명령 + 종료 코드로 바꾼다.</a:t>
            </a:r>
            <a:endParaRPr lang="en-US" sz="1200" dirty="0"/>
          </a:p>
        </p:txBody>
      </p:sp>
      <p:sp>
        <p:nvSpPr>
          <p:cNvPr id="16" name="Shape 12"/>
          <p:cNvSpPr/>
          <p:nvPr/>
        </p:nvSpPr>
        <p:spPr>
          <a:xfrm>
            <a:off x="548640" y="3154680"/>
            <a:ext cx="5440680" cy="1234440"/>
          </a:xfrm>
          <a:prstGeom prst="roundRect">
            <a:avLst>
              <a:gd name="adj" fmla="val 7407"/>
            </a:avLst>
          </a:prstGeom>
          <a:solidFill>
            <a:srgbClr val="EEF3FC"/>
          </a:solidFill>
          <a:ln/>
          <a:effectLst>
            <a:outerShdw sx="100000" sy="100000" kx="0" ky="0" algn="bl" rotWithShape="0" blurRad="114300" dist="38100" dir="5400000">
              <a:srgbClr val="1A1F36">
                <a:alpha val="16000"/>
              </a:srgbClr>
            </a:outerShdw>
          </a:effectLst>
        </p:spPr>
      </p:sp>
      <p:sp>
        <p:nvSpPr>
          <p:cNvPr id="17" name="Shape 13"/>
          <p:cNvSpPr/>
          <p:nvPr/>
        </p:nvSpPr>
        <p:spPr>
          <a:xfrm>
            <a:off x="777240" y="3447288"/>
            <a:ext cx="640080" cy="640080"/>
          </a:xfrm>
          <a:prstGeom prst="ellipse">
            <a:avLst/>
          </a:prstGeom>
          <a:solidFill>
            <a:srgbClr val="2A3A7C"/>
          </a:solidFill>
          <a:ln/>
        </p:spPr>
      </p:sp>
      <p:pic>
        <p:nvPicPr>
          <p:cNvPr id="18" name="Image 2" descr="preencoded.png">    </p:cNvPr>
          <p:cNvPicPr>
            <a:picLocks noChangeAspect="1"/>
          </p:cNvPicPr>
          <p:nvPr/>
        </p:nvPicPr>
        <p:blipFill>
          <a:blip r:embed="rId3"/>
          <a:stretch>
            <a:fillRect/>
          </a:stretch>
        </p:blipFill>
        <p:spPr>
          <a:xfrm>
            <a:off x="932688" y="3602736"/>
            <a:ext cx="329184" cy="329184"/>
          </a:xfrm>
          <a:prstGeom prst="rect">
            <a:avLst/>
          </a:prstGeom>
        </p:spPr>
      </p:pic>
      <p:sp>
        <p:nvSpPr>
          <p:cNvPr id="19" name="Text 14"/>
          <p:cNvSpPr/>
          <p:nvPr/>
        </p:nvSpPr>
        <p:spPr>
          <a:xfrm>
            <a:off x="1554480" y="3337560"/>
            <a:ext cx="425196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독립 검증자</a:t>
            </a:r>
            <a:endParaRPr lang="en-US" sz="1600" dirty="0"/>
          </a:p>
        </p:txBody>
      </p:sp>
      <p:sp>
        <p:nvSpPr>
          <p:cNvPr id="20" name="Text 15"/>
          <p:cNvSpPr/>
          <p:nvPr/>
        </p:nvSpPr>
        <p:spPr>
          <a:xfrm>
            <a:off x="1554480" y="3776472"/>
            <a:ext cx="4251960" cy="548640"/>
          </a:xfrm>
          <a:prstGeom prst="rect">
            <a:avLst/>
          </a:prstGeom>
          <a:noFill/>
          <a:ln/>
        </p:spPr>
        <p:txBody>
          <a:bodyPr wrap="square" lIns="0" tIns="0" rIns="0" bIns="0" rtlCol="0" anchor="ctr"/>
          <a:lstStyle/>
          <a:p>
            <a:pPr indent="0" marL="0">
              <a:lnSpc>
                <a:spcPct val="100000"/>
              </a:lnSpc>
              <a:buNone/>
            </a:pPr>
            <a:r>
              <a:rPr lang="en-US" sz="1200" dirty="0">
                <a:solidFill>
                  <a:srgbClr val="5A6480"/>
                </a:solidFill>
                <a:latin typeface="Calibri" pitchFamily="34" charset="0"/>
                <a:ea typeface="Calibri" pitchFamily="34" charset="-122"/>
                <a:cs typeface="Calibri" pitchFamily="34" charset="-120"/>
              </a:rPr>
              <a:t>만든 주체와 다른 모델/사람이 검토하게 구조를 짠다.</a:t>
            </a:r>
            <a:endParaRPr lang="en-US" sz="1200" dirty="0"/>
          </a:p>
        </p:txBody>
      </p:sp>
      <p:sp>
        <p:nvSpPr>
          <p:cNvPr id="21" name="Shape 16"/>
          <p:cNvSpPr/>
          <p:nvPr/>
        </p:nvSpPr>
        <p:spPr>
          <a:xfrm>
            <a:off x="6080760" y="3154680"/>
            <a:ext cx="5440680" cy="1234440"/>
          </a:xfrm>
          <a:prstGeom prst="roundRect">
            <a:avLst>
              <a:gd name="adj" fmla="val 7407"/>
            </a:avLst>
          </a:prstGeom>
          <a:solidFill>
            <a:srgbClr val="EEF3FC"/>
          </a:solidFill>
          <a:ln/>
          <a:effectLst>
            <a:outerShdw sx="100000" sy="100000" kx="0" ky="0" algn="bl" rotWithShape="0" blurRad="114300" dist="38100" dir="5400000">
              <a:srgbClr val="1A1F36">
                <a:alpha val="16000"/>
              </a:srgbClr>
            </a:outerShdw>
          </a:effectLst>
        </p:spPr>
      </p:sp>
      <p:sp>
        <p:nvSpPr>
          <p:cNvPr id="22" name="Shape 17"/>
          <p:cNvSpPr/>
          <p:nvPr/>
        </p:nvSpPr>
        <p:spPr>
          <a:xfrm>
            <a:off x="6309360" y="3447288"/>
            <a:ext cx="640080" cy="640080"/>
          </a:xfrm>
          <a:prstGeom prst="ellipse">
            <a:avLst/>
          </a:prstGeom>
          <a:solidFill>
            <a:srgbClr val="02C39A"/>
          </a:solidFill>
          <a:ln/>
        </p:spPr>
      </p:sp>
      <p:pic>
        <p:nvPicPr>
          <p:cNvPr id="23" name="Image 3" descr="preencoded.png">    </p:cNvPr>
          <p:cNvPicPr>
            <a:picLocks noChangeAspect="1"/>
          </p:cNvPicPr>
          <p:nvPr/>
        </p:nvPicPr>
        <p:blipFill>
          <a:blip r:embed="rId4"/>
          <a:stretch>
            <a:fillRect/>
          </a:stretch>
        </p:blipFill>
        <p:spPr>
          <a:xfrm>
            <a:off x="6464808" y="3602736"/>
            <a:ext cx="329184" cy="329184"/>
          </a:xfrm>
          <a:prstGeom prst="rect">
            <a:avLst/>
          </a:prstGeom>
        </p:spPr>
      </p:pic>
      <p:sp>
        <p:nvSpPr>
          <p:cNvPr id="24" name="Text 18"/>
          <p:cNvSpPr/>
          <p:nvPr/>
        </p:nvSpPr>
        <p:spPr>
          <a:xfrm>
            <a:off x="7086600" y="3337560"/>
            <a:ext cx="425196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작게 쪼개 게이트</a:t>
            </a:r>
            <a:endParaRPr lang="en-US" sz="1600" dirty="0"/>
          </a:p>
        </p:txBody>
      </p:sp>
      <p:sp>
        <p:nvSpPr>
          <p:cNvPr id="25" name="Text 19"/>
          <p:cNvSpPr/>
          <p:nvPr/>
        </p:nvSpPr>
        <p:spPr>
          <a:xfrm>
            <a:off x="7086600" y="3776472"/>
            <a:ext cx="4251960" cy="548640"/>
          </a:xfrm>
          <a:prstGeom prst="rect">
            <a:avLst/>
          </a:prstGeom>
          <a:noFill/>
          <a:ln/>
        </p:spPr>
        <p:txBody>
          <a:bodyPr wrap="square" lIns="0" tIns="0" rIns="0" bIns="0" rtlCol="0" anchor="ctr"/>
          <a:lstStyle/>
          <a:p>
            <a:pPr indent="0" marL="0">
              <a:lnSpc>
                <a:spcPct val="100000"/>
              </a:lnSpc>
              <a:buNone/>
            </a:pPr>
            <a:r>
              <a:rPr lang="en-US" sz="1200" dirty="0">
                <a:solidFill>
                  <a:srgbClr val="5A6480"/>
                </a:solidFill>
                <a:latin typeface="Calibri" pitchFamily="34" charset="0"/>
                <a:ea typeface="Calibri" pitchFamily="34" charset="-122"/>
                <a:cs typeface="Calibri" pitchFamily="34" charset="-120"/>
              </a:rPr>
              <a:t>Phase 단위로 닫힌 게이트를 통과해야 다음으로 간다.</a:t>
            </a:r>
            <a:endParaRPr lang="en-US" sz="1200" dirty="0"/>
          </a:p>
        </p:txBody>
      </p:sp>
      <p:sp>
        <p:nvSpPr>
          <p:cNvPr id="26" name="Shape 20"/>
          <p:cNvSpPr/>
          <p:nvPr/>
        </p:nvSpPr>
        <p:spPr>
          <a:xfrm>
            <a:off x="6080760" y="4526280"/>
            <a:ext cx="5532120" cy="1234440"/>
          </a:xfrm>
          <a:prstGeom prst="roundRect">
            <a:avLst>
              <a:gd name="adj" fmla="val 7407"/>
            </a:avLst>
          </a:prstGeom>
          <a:solidFill>
            <a:srgbClr val="EEF3FC"/>
          </a:solidFill>
          <a:ln/>
          <a:effectLst>
            <a:outerShdw sx="100000" sy="100000" kx="0" ky="0" algn="bl" rotWithShape="0" blurRad="114300" dist="38100" dir="5400000">
              <a:srgbClr val="1A1F36">
                <a:alpha val="16000"/>
              </a:srgbClr>
            </a:outerShdw>
          </a:effectLst>
        </p:spPr>
      </p:sp>
      <p:sp>
        <p:nvSpPr>
          <p:cNvPr id="27" name="Shape 21"/>
          <p:cNvSpPr/>
          <p:nvPr/>
        </p:nvSpPr>
        <p:spPr>
          <a:xfrm>
            <a:off x="6309360" y="4818888"/>
            <a:ext cx="640080" cy="640080"/>
          </a:xfrm>
          <a:prstGeom prst="ellipse">
            <a:avLst/>
          </a:prstGeom>
          <a:solidFill>
            <a:srgbClr val="2A3A7C"/>
          </a:solidFill>
          <a:ln/>
        </p:spPr>
      </p:sp>
      <p:pic>
        <p:nvPicPr>
          <p:cNvPr id="28" name="Image 4" descr="preencoded.png">    </p:cNvPr>
          <p:cNvPicPr>
            <a:picLocks noChangeAspect="1"/>
          </p:cNvPicPr>
          <p:nvPr/>
        </p:nvPicPr>
        <p:blipFill>
          <a:blip r:embed="rId5"/>
          <a:stretch>
            <a:fillRect/>
          </a:stretch>
        </p:blipFill>
        <p:spPr>
          <a:xfrm>
            <a:off x="6464808" y="4974336"/>
            <a:ext cx="329184" cy="329184"/>
          </a:xfrm>
          <a:prstGeom prst="rect">
            <a:avLst/>
          </a:prstGeom>
        </p:spPr>
      </p:pic>
      <p:sp>
        <p:nvSpPr>
          <p:cNvPr id="29" name="Text 22"/>
          <p:cNvSpPr/>
          <p:nvPr/>
        </p:nvSpPr>
        <p:spPr>
          <a:xfrm>
            <a:off x="7086600" y="4709160"/>
            <a:ext cx="434340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인간 게이트 명시</a:t>
            </a:r>
            <a:endParaRPr lang="en-US" sz="1600" dirty="0"/>
          </a:p>
        </p:txBody>
      </p:sp>
      <p:sp>
        <p:nvSpPr>
          <p:cNvPr id="30" name="Text 23"/>
          <p:cNvSpPr/>
          <p:nvPr/>
        </p:nvSpPr>
        <p:spPr>
          <a:xfrm>
            <a:off x="7086600" y="5148072"/>
            <a:ext cx="4343400" cy="548640"/>
          </a:xfrm>
          <a:prstGeom prst="rect">
            <a:avLst/>
          </a:prstGeom>
          <a:noFill/>
          <a:ln/>
        </p:spPr>
        <p:txBody>
          <a:bodyPr wrap="square" lIns="0" tIns="0" rIns="0" bIns="0" rtlCol="0" anchor="ctr"/>
          <a:lstStyle/>
          <a:p>
            <a:pPr indent="0" marL="0">
              <a:lnSpc>
                <a:spcPct val="100000"/>
              </a:lnSpc>
              <a:buNone/>
            </a:pPr>
            <a:r>
              <a:rPr lang="en-US" sz="1200" dirty="0">
                <a:solidFill>
                  <a:srgbClr val="5A6480"/>
                </a:solidFill>
                <a:latin typeface="Calibri" pitchFamily="34" charset="0"/>
                <a:ea typeface="Calibri" pitchFamily="34" charset="-122"/>
                <a:cs typeface="Calibri" pitchFamily="34" charset="-120"/>
              </a:rPr>
              <a:t>보안·범위·트레이드오프는 인간 승인 지점을 분명히 둔다.</a:t>
            </a:r>
            <a:endParaRPr lang="en-US" sz="1200" dirty="0"/>
          </a:p>
        </p:txBody>
      </p:sp>
      <p:sp>
        <p:nvSpPr>
          <p:cNvPr id="31" name="Shape 24"/>
          <p:cNvSpPr/>
          <p:nvPr/>
        </p:nvSpPr>
        <p:spPr>
          <a:xfrm>
            <a:off x="548640" y="4526280"/>
            <a:ext cx="5440680" cy="1234440"/>
          </a:xfrm>
          <a:prstGeom prst="roundRect">
            <a:avLst>
              <a:gd name="adj" fmla="val 7407"/>
            </a:avLst>
          </a:prstGeom>
          <a:solidFill>
            <a:srgbClr val="1E2761"/>
          </a:solidFill>
          <a:ln/>
          <a:effectLst>
            <a:outerShdw sx="100000" sy="100000" kx="0" ky="0" algn="bl" rotWithShape="0" blurRad="114300" dist="38100" dir="5400000">
              <a:srgbClr val="1A1F36">
                <a:alpha val="16000"/>
              </a:srgbClr>
            </a:outerShdw>
          </a:effectLst>
        </p:spPr>
      </p:sp>
      <p:sp>
        <p:nvSpPr>
          <p:cNvPr id="32" name="Text 25"/>
          <p:cNvSpPr/>
          <p:nvPr/>
        </p:nvSpPr>
        <p:spPr>
          <a:xfrm>
            <a:off x="548640" y="4526280"/>
            <a:ext cx="5440680" cy="1234440"/>
          </a:xfrm>
          <a:prstGeom prst="rect">
            <a:avLst/>
          </a:prstGeom>
          <a:noFill/>
          <a:ln/>
        </p:spPr>
        <p:txBody>
          <a:bodyPr wrap="square" lIns="0" tIns="0" rIns="0" bIns="0" rtlCol="0" anchor="ctr"/>
          <a:lstStyle/>
          <a:p>
            <a:pPr algn="ctr" indent="0" marL="0">
              <a:lnSpc>
                <a:spcPct val="110000"/>
              </a:lnSpc>
              <a:buNone/>
            </a:pPr>
            <a:r>
              <a:rPr lang="en-US" sz="1500" b="1" i="1" dirty="0">
                <a:solidFill>
                  <a:srgbClr val="FFFFFF"/>
                </a:solidFill>
                <a:latin typeface="Cambria" pitchFamily="34" charset="0"/>
                <a:ea typeface="Cambria" pitchFamily="34" charset="-122"/>
                <a:cs typeface="Cambria" pitchFamily="34" charset="-120"/>
              </a:rPr>
              <a:t>작게 시작하라 — 한 가지 주관적 기준을</a:t>
            </a:r>
            <a:endParaRPr lang="en-US" sz="1500" dirty="0"/>
          </a:p>
          <a:p>
            <a:pPr algn="ctr" indent="0" marL="0">
              <a:lnSpc>
                <a:spcPct val="110000"/>
              </a:lnSpc>
              <a:buNone/>
            </a:pPr>
            <a:r>
              <a:rPr lang="en-US" sz="1500" b="1" i="1" dirty="0">
                <a:solidFill>
                  <a:srgbClr val="FFFFFF"/>
                </a:solidFill>
                <a:latin typeface="Cambria" pitchFamily="34" charset="0"/>
                <a:ea typeface="Cambria" pitchFamily="34" charset="-122"/>
                <a:cs typeface="Cambria" pitchFamily="34" charset="-120"/>
              </a:rPr>
              <a:t>명령으로 바꾸는 것부터.</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394960" y="1234440"/>
            <a:ext cx="1371600" cy="1371600"/>
          </a:xfrm>
          <a:prstGeom prst="ellipse">
            <a:avLst/>
          </a:prstGeom>
          <a:solidFill>
            <a:srgbClr val="2A3A7C"/>
          </a:solidFill>
          <a:ln/>
        </p:spPr>
      </p:sp>
      <p:pic>
        <p:nvPicPr>
          <p:cNvPr id="3" name="Image 0" descr="preencoded.png">    </p:cNvPr>
          <p:cNvPicPr>
            <a:picLocks noChangeAspect="1"/>
          </p:cNvPicPr>
          <p:nvPr/>
        </p:nvPicPr>
        <p:blipFill>
          <a:blip r:embed="rId1"/>
          <a:stretch>
            <a:fillRect/>
          </a:stretch>
        </p:blipFill>
        <p:spPr>
          <a:xfrm>
            <a:off x="5715000" y="1554480"/>
            <a:ext cx="731520" cy="731520"/>
          </a:xfrm>
          <a:prstGeom prst="rect">
            <a:avLst/>
          </a:prstGeom>
        </p:spPr>
      </p:pic>
      <p:sp>
        <p:nvSpPr>
          <p:cNvPr id="4" name="Text 1"/>
          <p:cNvSpPr/>
          <p:nvPr/>
        </p:nvSpPr>
        <p:spPr>
          <a:xfrm>
            <a:off x="914400" y="2788920"/>
            <a:ext cx="10332720" cy="82296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종합 질의응답 &amp; 마무리</a:t>
            </a:r>
            <a:endParaRPr lang="en-US" sz="3600" dirty="0"/>
          </a:p>
        </p:txBody>
      </p:sp>
      <p:sp>
        <p:nvSpPr>
          <p:cNvPr id="5" name="Text 2"/>
          <p:cNvSpPr/>
          <p:nvPr/>
        </p:nvSpPr>
        <p:spPr>
          <a:xfrm>
            <a:off x="914400" y="3657600"/>
            <a:ext cx="10332720" cy="548640"/>
          </a:xfrm>
          <a:prstGeom prst="rect">
            <a:avLst/>
          </a:prstGeom>
          <a:noFill/>
          <a:ln/>
        </p:spPr>
        <p:txBody>
          <a:bodyPr wrap="square" lIns="0" tIns="0" rIns="0" bIns="0"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기계검증 거버넌스 · 다중모델 교차검증 · Phase 닫힌 게이트 — 신뢰를 설계하는 법</a:t>
            </a:r>
            <a:endParaRPr lang="en-US" sz="1600" dirty="0"/>
          </a:p>
        </p:txBody>
      </p:sp>
      <p:sp>
        <p:nvSpPr>
          <p:cNvPr id="6" name="Shape 3"/>
          <p:cNvSpPr/>
          <p:nvPr/>
        </p:nvSpPr>
        <p:spPr>
          <a:xfrm>
            <a:off x="4937760" y="4434840"/>
            <a:ext cx="2286000" cy="0"/>
          </a:xfrm>
          <a:prstGeom prst="line">
            <a:avLst/>
          </a:prstGeom>
          <a:noFill/>
          <a:ln w="25400">
            <a:solidFill>
              <a:srgbClr val="02C39A"/>
            </a:solidFill>
            <a:prstDash val="solid"/>
          </a:ln>
        </p:spPr>
      </p:sp>
      <p:sp>
        <p:nvSpPr>
          <p:cNvPr id="7" name="Text 4"/>
          <p:cNvSpPr/>
          <p:nvPr/>
        </p:nvSpPr>
        <p:spPr>
          <a:xfrm>
            <a:off x="914400" y="4663440"/>
            <a:ext cx="10332720" cy="548640"/>
          </a:xfrm>
          <a:prstGeom prst="rect">
            <a:avLst/>
          </a:prstGeom>
          <a:noFill/>
          <a:ln/>
        </p:spPr>
        <p:txBody>
          <a:bodyPr wrap="square" lIns="0" tIns="0" rIns="0" bIns="0" rtlCol="0" anchor="ctr"/>
          <a:lstStyle/>
          <a:p>
            <a:pPr algn="ctr" indent="0" marL="0">
              <a:buNone/>
            </a:pPr>
            <a:r>
              <a:rPr lang="en-US" sz="2200" b="1" dirty="0">
                <a:solidFill>
                  <a:srgbClr val="02C39A"/>
                </a:solidFill>
                <a:latin typeface="Cambria" pitchFamily="34" charset="0"/>
                <a:ea typeface="Cambria" pitchFamily="34" charset="-122"/>
                <a:cs typeface="Cambria" pitchFamily="34" charset="-120"/>
              </a:rPr>
              <a:t>감사합니다</a:t>
            </a:r>
            <a:endParaRPr lang="en-US" sz="2200" dirty="0"/>
          </a:p>
        </p:txBody>
      </p:sp>
      <p:sp>
        <p:nvSpPr>
          <p:cNvPr id="8" name="Text 5"/>
          <p:cNvSpPr/>
          <p:nvPr/>
        </p:nvSpPr>
        <p:spPr>
          <a:xfrm>
            <a:off x="914400" y="5349240"/>
            <a:ext cx="10332720" cy="365760"/>
          </a:xfrm>
          <a:prstGeom prst="rect">
            <a:avLst/>
          </a:prstGeom>
          <a:noFill/>
          <a:ln/>
        </p:spPr>
        <p:txBody>
          <a:bodyPr wrap="square" lIns="0" tIns="0" rIns="0" bIns="0" rtlCol="0" anchor="ctr"/>
          <a:lstStyle/>
          <a:p>
            <a:pPr algn="ctr" indent="0" marL="0">
              <a:buNone/>
            </a:pPr>
            <a:r>
              <a:rPr lang="en-US" sz="1300" dirty="0">
                <a:solidFill>
                  <a:srgbClr val="9FB0D6"/>
                </a:solidFill>
                <a:latin typeface="Calibri" pitchFamily="34" charset="0"/>
                <a:ea typeface="Calibri" pitchFamily="34" charset="-122"/>
                <a:cs typeface="Calibri" pitchFamily="34" charset="-120"/>
              </a:rPr>
              <a:t>차상국  ·  skcha67@dataspeak.co.kr</a:t>
            </a:r>
            <a:endParaRPr lang="en-US" sz="1300" dirty="0"/>
          </a:p>
        </p:txBody>
      </p:sp>
      <p:sp>
        <p:nvSpPr>
          <p:cNvPr id="9" name="Shape 6"/>
          <p:cNvSpPr/>
          <p:nvPr/>
        </p:nvSpPr>
        <p:spPr>
          <a:xfrm>
            <a:off x="10332720" y="365760"/>
            <a:ext cx="1371600" cy="457200"/>
          </a:xfrm>
          <a:prstGeom prst="roundRect">
            <a:avLst>
              <a:gd name="adj" fmla="val 50000"/>
            </a:avLst>
          </a:prstGeom>
          <a:solidFill>
            <a:srgbClr val="E8A13A"/>
          </a:solidFill>
          <a:ln/>
        </p:spPr>
      </p:sp>
      <p:sp>
        <p:nvSpPr>
          <p:cNvPr id="10" name="Text 7"/>
          <p:cNvSpPr/>
          <p:nvPr/>
        </p:nvSpPr>
        <p:spPr>
          <a:xfrm>
            <a:off x="10332720" y="365760"/>
            <a:ext cx="1371600" cy="45720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Q&amp;A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에이전트 주도 개발 방법론 강의</dc:title>
  <dc:subject>PptxGenJS Presentation</dc:subject>
  <dc:creator>Cha Sangkug</dc:creator>
  <cp:lastModifiedBy>Cha Sangkug</cp:lastModifiedBy>
  <cp:revision>1</cp:revision>
  <dcterms:created xsi:type="dcterms:W3CDTF">2026-06-24T05:10:05Z</dcterms:created>
  <dcterms:modified xsi:type="dcterms:W3CDTF">2026-06-24T05:10:05Z</dcterms:modified>
</cp:coreProperties>
</file>